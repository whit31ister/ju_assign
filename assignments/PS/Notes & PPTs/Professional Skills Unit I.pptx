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9" r:id="rId1"/>
  </p:sldMasterIdLst>
  <p:notesMasterIdLst>
    <p:notesMasterId r:id="rId38"/>
  </p:notesMasterIdLst>
  <p:sldIdLst>
    <p:sldId id="294" r:id="rId2"/>
    <p:sldId id="258" r:id="rId3"/>
    <p:sldId id="259" r:id="rId4"/>
    <p:sldId id="260" r:id="rId5"/>
    <p:sldId id="261" r:id="rId6"/>
    <p:sldId id="263" r:id="rId7"/>
    <p:sldId id="262" r:id="rId8"/>
    <p:sldId id="264" r:id="rId9"/>
    <p:sldId id="265" r:id="rId10"/>
    <p:sldId id="267" r:id="rId11"/>
    <p:sldId id="266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3" r:id="rId35"/>
    <p:sldId id="290" r:id="rId36"/>
    <p:sldId id="291" r:id="rId3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3" d="100"/>
          <a:sy n="93" d="100"/>
        </p:scale>
        <p:origin x="116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D4E15A7-45A0-4634-AE84-68D253E476DB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FC464C-DD09-45BF-8FC3-CF5ABA13F3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05658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371600" y="1143000"/>
            <a:ext cx="4114800" cy="30861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3555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25604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9C308B30-E594-431C-8FCD-89CB4F3BE307}" type="slidenum">
              <a:rPr lang="en-US" smtClean="0">
                <a:cs typeface="Arial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</a:t>
            </a:fld>
            <a:endParaRPr lang="en-US"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65036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E6EBCA-2EE9-4174-A657-F6E5093BD95C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EF7C33-62E7-45BB-AEA6-D239FFD6F2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14325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E6EBCA-2EE9-4174-A657-F6E5093BD95C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EF7C33-62E7-45BB-AEA6-D239FFD6F2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33897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E6EBCA-2EE9-4174-A657-F6E5093BD95C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EF7C33-62E7-45BB-AEA6-D239FFD6F2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99444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E6EBCA-2EE9-4174-A657-F6E5093BD95C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EF7C33-62E7-45BB-AEA6-D239FFD6F2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34771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E6EBCA-2EE9-4174-A657-F6E5093BD95C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EF7C33-62E7-45BB-AEA6-D239FFD6F2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83343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E6EBCA-2EE9-4174-A657-F6E5093BD95C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EF7C33-62E7-45BB-AEA6-D239FFD6F2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59958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E6EBCA-2EE9-4174-A657-F6E5093BD95C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EF7C33-62E7-45BB-AEA6-D239FFD6F2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4286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E6EBCA-2EE9-4174-A657-F6E5093BD95C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EF7C33-62E7-45BB-AEA6-D239FFD6F2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3011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E6EBCA-2EE9-4174-A657-F6E5093BD95C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EF7C33-62E7-45BB-AEA6-D239FFD6F2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3080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E6EBCA-2EE9-4174-A657-F6E5093BD95C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EF7C33-62E7-45BB-AEA6-D239FFD6F2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22029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E6EBCA-2EE9-4174-A657-F6E5093BD95C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EF7C33-62E7-45BB-AEA6-D239FFD6F2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404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E6EBCA-2EE9-4174-A657-F6E5093BD95C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EF7C33-62E7-45BB-AEA6-D239FFD6F2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7074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  <p:sldLayoutId id="2147483711" r:id="rId2"/>
    <p:sldLayoutId id="2147483712" r:id="rId3"/>
    <p:sldLayoutId id="2147483713" r:id="rId4"/>
    <p:sldLayoutId id="2147483714" r:id="rId5"/>
    <p:sldLayoutId id="2147483715" r:id="rId6"/>
    <p:sldLayoutId id="2147483716" r:id="rId7"/>
    <p:sldLayoutId id="2147483717" r:id="rId8"/>
    <p:sldLayoutId id="2147483718" r:id="rId9"/>
    <p:sldLayoutId id="2147483719" r:id="rId10"/>
    <p:sldLayoutId id="2147483720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12" descr="JU_PPT-template_option1a.jp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1" name="Picture 2" descr="D:\job\jecrc\images for ppt\slide1_1.pn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914650" y="-1427545"/>
            <a:ext cx="3143250" cy="28550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054" name="TextBox 5"/>
          <p:cNvSpPr txBox="1">
            <a:spLocks noChangeArrowheads="1"/>
          </p:cNvSpPr>
          <p:nvPr/>
        </p:nvSpPr>
        <p:spPr bwMode="auto">
          <a:xfrm>
            <a:off x="1011709" y="2886365"/>
            <a:ext cx="7526810" cy="13388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>
              <a:tabLst>
                <a:tab pos="1619250" algn="l"/>
              </a:tabLst>
              <a:defRPr/>
            </a:pPr>
            <a:r>
              <a:rPr lang="en-US" sz="2700" b="1" dirty="0">
                <a:ln w="10541" cmpd="sng">
                  <a:solidFill>
                    <a:srgbClr val="7D7D7D">
                      <a:tint val="100000"/>
                      <a:shade val="100000"/>
                      <a:satMod val="110000"/>
                    </a:srgbClr>
                  </a:solidFill>
                  <a:prstDash val="solid"/>
                </a:ln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Professional Skills</a:t>
            </a:r>
          </a:p>
          <a:p>
            <a:pPr marL="342900" indent="-342900" algn="ctr">
              <a:tabLst>
                <a:tab pos="1619250" algn="l"/>
              </a:tabLst>
              <a:defRPr/>
            </a:pPr>
            <a:r>
              <a:rPr lang="en-US" sz="2700" b="1" dirty="0">
                <a:ln w="10541" cmpd="sng">
                  <a:solidFill>
                    <a:srgbClr val="7D7D7D">
                      <a:tint val="100000"/>
                      <a:shade val="100000"/>
                      <a:satMod val="110000"/>
                    </a:srgbClr>
                  </a:solidFill>
                  <a:prstDash val="solid"/>
                </a:ln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Unit-1</a:t>
            </a:r>
          </a:p>
          <a:p>
            <a:pPr marL="342900" indent="-342900" algn="ctr">
              <a:tabLst>
                <a:tab pos="1619250" algn="l"/>
              </a:tabLst>
              <a:defRPr/>
            </a:pPr>
            <a:r>
              <a:rPr lang="en-US" sz="2700" b="1" dirty="0">
                <a:ln w="10541" cmpd="sng">
                  <a:solidFill>
                    <a:srgbClr val="7D7D7D">
                      <a:tint val="100000"/>
                      <a:shade val="100000"/>
                      <a:satMod val="110000"/>
                    </a:srgbClr>
                  </a:solidFill>
                  <a:prstDash val="solid"/>
                </a:ln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Resume Skills and Interview Skills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4457700"/>
            <a:ext cx="2171700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135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3" name="Picture 3" descr="D:\job\jecrc\images for ppt\slide1.png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6629401" y="4914899"/>
            <a:ext cx="2654656" cy="18648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B809024-E6BA-4FA3-FAC4-7745D0080A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525" y="285750"/>
            <a:ext cx="9134475" cy="823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3AB62CC-3F97-0E82-1F6E-DBE6D32E0F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820179" y="533574"/>
            <a:ext cx="7797662" cy="863974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/>
              <a:t>What is a Resumé?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946438-144E-E0A8-B7F2-33A903E6BD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7084" y="2187304"/>
            <a:ext cx="7797662" cy="2483392"/>
          </a:xfrm>
        </p:spPr>
        <p:txBody>
          <a:bodyPr>
            <a:normAutofit fontScale="92500"/>
          </a:bodyPr>
          <a:lstStyle/>
          <a:p>
            <a:pPr marL="257175" indent="-257175">
              <a:lnSpc>
                <a:spcPts val="1823"/>
              </a:lnSpc>
              <a:buSzPct val="100000"/>
            </a:pPr>
            <a:r>
              <a:rPr lang="en-US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Definition:</a:t>
            </a:r>
            <a:r>
              <a:rPr lang="en-US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dirty="0">
                <a:latin typeface="Arial" pitchFamily="34" charset="0"/>
                <a:ea typeface="Arial" pitchFamily="34" charset="-122"/>
                <a:cs typeface="Arial" pitchFamily="34" charset="-120"/>
              </a:rPr>
              <a:t>A French word meaning "summary“</a:t>
            </a:r>
          </a:p>
          <a:p>
            <a:pPr marL="0" indent="0">
              <a:lnSpc>
                <a:spcPts val="1823"/>
              </a:lnSpc>
              <a:buSzPct val="100000"/>
              <a:buNone/>
            </a:pPr>
            <a:endParaRPr lang="en-US" dirty="0"/>
          </a:p>
          <a:p>
            <a:pPr marL="257175" indent="-257175">
              <a:lnSpc>
                <a:spcPts val="1823"/>
              </a:lnSpc>
              <a:buSzPct val="100000"/>
            </a:pPr>
            <a:r>
              <a:rPr lang="en-US" dirty="0">
                <a:latin typeface="Arial" pitchFamily="34" charset="0"/>
                <a:ea typeface="Arial" pitchFamily="34" charset="-122"/>
                <a:cs typeface="Arial" pitchFamily="34" charset="-120"/>
              </a:rPr>
              <a:t>Summary of a person's education, skills, and employment</a:t>
            </a:r>
            <a:endParaRPr lang="en-US" dirty="0"/>
          </a:p>
          <a:p>
            <a:pPr marL="257175" indent="-257175">
              <a:lnSpc>
                <a:spcPts val="1823"/>
              </a:lnSpc>
              <a:buSzPct val="100000"/>
            </a:pPr>
            <a:r>
              <a:rPr lang="en-US" dirty="0">
                <a:latin typeface="Arial" pitchFamily="34" charset="0"/>
                <a:ea typeface="Arial" pitchFamily="34" charset="-122"/>
                <a:cs typeface="Arial" pitchFamily="34" charset="-120"/>
              </a:rPr>
              <a:t>Usually one or two pages long</a:t>
            </a:r>
            <a:endParaRPr lang="en-US" dirty="0"/>
          </a:p>
          <a:p>
            <a:pPr marL="257175" indent="-257175">
              <a:lnSpc>
                <a:spcPts val="1823"/>
              </a:lnSpc>
              <a:buSzPct val="100000"/>
            </a:pPr>
            <a:r>
              <a:rPr lang="en-US" dirty="0">
                <a:latin typeface="Arial" pitchFamily="34" charset="0"/>
                <a:ea typeface="Arial" pitchFamily="34" charset="-122"/>
                <a:cs typeface="Arial" pitchFamily="34" charset="-120"/>
              </a:rPr>
              <a:t>Customized to the target job profile</a:t>
            </a:r>
            <a:endParaRPr lang="en-US" dirty="0"/>
          </a:p>
          <a:p>
            <a:pPr marL="257175" indent="-257175">
              <a:lnSpc>
                <a:spcPts val="1823"/>
              </a:lnSpc>
              <a:buSzPct val="100000"/>
            </a:pPr>
            <a:r>
              <a:rPr lang="en-US" dirty="0">
                <a:latin typeface="Arial" pitchFamily="34" charset="0"/>
                <a:ea typeface="Arial" pitchFamily="34" charset="-122"/>
                <a:cs typeface="Arial" pitchFamily="34" charset="-120"/>
              </a:rPr>
              <a:t>Written in third person for objective, formal tone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077577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A4E75F-BD75-C223-CA67-92816ACB79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EB68730-0683-78F7-5AEF-B1A39A3F1E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525" y="329600"/>
            <a:ext cx="9134475" cy="823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B97FEFE-BD85-95AD-E054-84244453C8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47058"/>
            <a:ext cx="6837405" cy="1035753"/>
          </a:xfrm>
        </p:spPr>
        <p:txBody>
          <a:bodyPr>
            <a:normAutofit fontScale="90000"/>
          </a:bodyPr>
          <a:lstStyle/>
          <a:p>
            <a:r>
              <a:rPr lang="en-US" b="1" dirty="0">
                <a:effectLst/>
              </a:rPr>
              <a:t>What Is a Curriculum Vitae (CV)?</a:t>
            </a:r>
            <a:br>
              <a:rPr lang="en-US" dirty="0">
                <a:effectLst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961E60-9EDD-4FD3-C8E4-2670FE6F54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797248"/>
            <a:ext cx="7886700" cy="3263504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b="1" dirty="0">
                <a:effectLst/>
              </a:rPr>
              <a:t>Curriculum Vitae (CV):</a:t>
            </a:r>
            <a:r>
              <a:rPr lang="en-US" dirty="0">
                <a:effectLst/>
              </a:rPr>
              <a:t>​</a:t>
            </a:r>
          </a:p>
          <a:p>
            <a:r>
              <a:rPr lang="en-US" dirty="0">
                <a:effectLst/>
              </a:rPr>
              <a:t>“Curriculum vitae” is a Latin term.</a:t>
            </a:r>
          </a:p>
          <a:p>
            <a:r>
              <a:rPr lang="en-US" dirty="0">
                <a:effectLst/>
              </a:rPr>
              <a:t>More detailed than a Resumé, generally two to three pages or longer, as required.</a:t>
            </a:r>
          </a:p>
          <a:p>
            <a:r>
              <a:rPr lang="en-US" dirty="0">
                <a:effectLst/>
              </a:rPr>
              <a:t>Lists every skill, all jobs and positions held, degrees, and professional affiliations in chronological order.</a:t>
            </a:r>
          </a:p>
          <a:p>
            <a:r>
              <a:rPr lang="en-US" dirty="0">
                <a:effectLst/>
              </a:rPr>
              <a:t>Highlights professional and academic history: work experience, achievements, awards, scholarships, grants, coursework, research projects, and publications.</a:t>
            </a:r>
          </a:p>
          <a:p>
            <a:r>
              <a:rPr lang="en-US" dirty="0">
                <a:effectLst/>
              </a:rPr>
              <a:t>Used to highlight overall talent, not just specific skills for a specific position.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358259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052EAA-F06B-11C0-5120-626A178C43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6F63AD1-CA44-67B1-A713-AFE087D917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525" y="285750"/>
            <a:ext cx="9134475" cy="823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4D2AEEB-DB9C-B0DF-B51C-20F91F4410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effectLst/>
              </a:rPr>
              <a:t>What Is Biodata?</a:t>
            </a:r>
            <a:br>
              <a:rPr lang="en-IN" dirty="0">
                <a:effectLst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7A5204-DC72-5F84-A607-EDBE2B81FE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959587"/>
            <a:ext cx="7886700" cy="3263504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>
                <a:effectLst/>
              </a:rPr>
              <a:t>Biodata (Biographical Data):</a:t>
            </a:r>
            <a:r>
              <a:rPr lang="en-US" dirty="0">
                <a:effectLst/>
              </a:rPr>
              <a:t>​</a:t>
            </a:r>
          </a:p>
          <a:p>
            <a:r>
              <a:rPr lang="en-US" dirty="0">
                <a:effectLst/>
              </a:rPr>
              <a:t>Short form for “Biographical Data”; an older term for Resumé or CV.</a:t>
            </a:r>
          </a:p>
          <a:p>
            <a:r>
              <a:rPr lang="en-US" dirty="0">
                <a:effectLst/>
              </a:rPr>
              <a:t>Focus on personal particulars: date of birth, gender, religion, race, nationality, residence, marital status, etc.</a:t>
            </a:r>
          </a:p>
          <a:p>
            <a:r>
              <a:rPr lang="en-US" dirty="0">
                <a:effectLst/>
              </a:rPr>
              <a:t>Chronological listing of education and experience comes after personal details.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519117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871A87-E1E1-3B1B-1BCC-558173FF16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94B9653-439A-A6AE-6E6F-8118A3E5E6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525" y="285750"/>
            <a:ext cx="9134475" cy="823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CAE1519-FDC7-1BF4-A5B7-1CB8246BE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569" y="355286"/>
            <a:ext cx="7886700" cy="1325563"/>
          </a:xfrm>
        </p:spPr>
        <p:txBody>
          <a:bodyPr/>
          <a:lstStyle/>
          <a:p>
            <a:r>
              <a:rPr lang="en-IN" b="1" dirty="0">
                <a:effectLst/>
              </a:rPr>
              <a:t>CV, Resumé, Biodata: Usage</a:t>
            </a:r>
            <a:br>
              <a:rPr lang="en-IN" dirty="0">
                <a:effectLst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9352E1-C2E3-DC0E-A186-502E572DDF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913647"/>
            <a:ext cx="7886700" cy="3263504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>
                <a:effectLst/>
              </a:rPr>
              <a:t>Differences in Usage:</a:t>
            </a:r>
            <a:r>
              <a:rPr lang="en-US" dirty="0">
                <a:effectLst/>
              </a:rPr>
              <a:t>​</a:t>
            </a:r>
          </a:p>
          <a:p>
            <a:r>
              <a:rPr lang="en-US" dirty="0">
                <a:effectLst/>
              </a:rPr>
              <a:t>CV and Resumé both summarize professional history, education, skills, and achievements.</a:t>
            </a:r>
          </a:p>
          <a:p>
            <a:r>
              <a:rPr lang="en-US" dirty="0">
                <a:effectLst/>
              </a:rPr>
              <a:t>In the United States and most of Europe, CV and Resumé are not interchangeable.</a:t>
            </a:r>
          </a:p>
          <a:p>
            <a:r>
              <a:rPr lang="en-US" dirty="0">
                <a:effectLst/>
              </a:rPr>
              <a:t>In India, South Africa, and Australia, the terms CV and Resumé are often interchangeable.</a:t>
            </a:r>
          </a:p>
          <a:p>
            <a:r>
              <a:rPr lang="en-US" dirty="0">
                <a:effectLst/>
              </a:rPr>
              <a:t>The term biodata is mostly used in India, usually for government jobs.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31186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B9EF60-7A2E-F894-6B19-B5C1FFE11F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0A2BDFF3-7E84-321E-A8BC-9C99D53187F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6885" y="1283754"/>
            <a:ext cx="8638673" cy="3916897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89CA32E9-C48C-C9C3-B08A-CA77BF412D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9525" y="285750"/>
            <a:ext cx="9134475" cy="823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D76E4835-B208-AC7F-5DC0-0CAEFEF079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569" y="355286"/>
            <a:ext cx="7886700" cy="1325563"/>
          </a:xfrm>
        </p:spPr>
        <p:txBody>
          <a:bodyPr/>
          <a:lstStyle/>
          <a:p>
            <a:r>
              <a:rPr lang="en-IN" sz="4000" b="1" dirty="0">
                <a:effectLst/>
              </a:rPr>
              <a:t>CV, Resumé, Biodata: Difference</a:t>
            </a:r>
            <a:br>
              <a:rPr lang="en-IN" dirty="0">
                <a:effectLst/>
              </a:rPr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79869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A7A38D-B7B0-2C76-0DCD-9A0B0C2973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B890E77-8B5D-3D82-18DD-F5C18AFE30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525" y="285750"/>
            <a:ext cx="9134475" cy="823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DE03EEB-761A-A379-B2FE-B2A748345B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45961"/>
            <a:ext cx="7886700" cy="1325563"/>
          </a:xfrm>
        </p:spPr>
        <p:txBody>
          <a:bodyPr/>
          <a:lstStyle/>
          <a:p>
            <a:r>
              <a:rPr lang="en-US" sz="4000" b="1" dirty="0">
                <a:effectLst/>
              </a:rPr>
              <a:t>Importance of a Good Resumé</a:t>
            </a:r>
            <a:br>
              <a:rPr lang="en-US" dirty="0">
                <a:effectLst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4E5132-ED22-F857-80D9-3B73B9A178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723525"/>
            <a:ext cx="7886700" cy="3766448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>
                <a:effectLst/>
              </a:rPr>
              <a:t>Why Prepare a Good Resumé/CV?</a:t>
            </a:r>
            <a:r>
              <a:rPr lang="en-US" dirty="0">
                <a:effectLst/>
              </a:rPr>
              <a:t>​</a:t>
            </a:r>
          </a:p>
          <a:p>
            <a:r>
              <a:rPr lang="en-US" dirty="0">
                <a:effectLst/>
              </a:rPr>
              <a:t>A Resumé is a mirror reflection of a candidate’s pursuits.</a:t>
            </a:r>
          </a:p>
          <a:p>
            <a:r>
              <a:rPr lang="en-US" dirty="0">
                <a:effectLst/>
              </a:rPr>
              <a:t>Employers require Resumés to consider candidates for positions.</a:t>
            </a:r>
          </a:p>
          <a:p>
            <a:r>
              <a:rPr lang="en-US" dirty="0">
                <a:effectLst/>
              </a:rPr>
              <a:t>Used first to weed out unlikely candidates.</a:t>
            </a:r>
          </a:p>
          <a:p>
            <a:r>
              <a:rPr lang="en-US" dirty="0">
                <a:effectLst/>
              </a:rPr>
              <a:t>Rejected due to: errors in presentation and spelling, inappropriate appearance, incomplete details.</a:t>
            </a:r>
          </a:p>
          <a:p>
            <a:r>
              <a:rPr lang="en-US" dirty="0">
                <a:effectLst/>
              </a:rPr>
              <a:t>Shortlisted resumés are reviewed for education, training, community involvement, life experiences, and other suitability indicators.</a:t>
            </a:r>
          </a:p>
          <a:p>
            <a:r>
              <a:rPr lang="en-US" dirty="0">
                <a:effectLst/>
              </a:rPr>
              <a:t>Therefore, preparing an impressive r</a:t>
            </a:r>
            <a:r>
              <a:rPr lang="en-US" dirty="0"/>
              <a:t>e</a:t>
            </a:r>
            <a:r>
              <a:rPr lang="en-US" dirty="0">
                <a:effectLst/>
              </a:rPr>
              <a:t>sumé is vital.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972549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206E2B-9751-DBA3-F33F-06388DA389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8FBB008-D569-2D5D-54E3-99970E2D9B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525" y="285750"/>
            <a:ext cx="9134475" cy="823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0C10D8F-C8F0-4700-A60F-5A688C03E3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5" y="356888"/>
            <a:ext cx="7886700" cy="1325563"/>
          </a:xfrm>
        </p:spPr>
        <p:txBody>
          <a:bodyPr>
            <a:normAutofit/>
          </a:bodyPr>
          <a:lstStyle/>
          <a:p>
            <a:r>
              <a:rPr lang="en-US" sz="3600" b="1" dirty="0">
                <a:effectLst/>
              </a:rPr>
              <a:t>Essential Structure of a Good Resumé</a:t>
            </a:r>
            <a:br>
              <a:rPr lang="en-US" dirty="0">
                <a:effectLst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2DD071-89D4-8EB1-3CCD-64336B0457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747588"/>
            <a:ext cx="7886700" cy="3742385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>
                <a:effectLst/>
              </a:rPr>
              <a:t>Overall Structure:</a:t>
            </a:r>
            <a:r>
              <a:rPr lang="en-US" dirty="0">
                <a:effectLst/>
              </a:rPr>
              <a:t>​</a:t>
            </a:r>
          </a:p>
          <a:p>
            <a:r>
              <a:rPr lang="en-US" dirty="0">
                <a:effectLst/>
              </a:rPr>
              <a:t>Starts with a brief profile of the candidate.</a:t>
            </a:r>
          </a:p>
          <a:p>
            <a:r>
              <a:rPr lang="en-US" dirty="0">
                <a:effectLst/>
              </a:rPr>
              <a:t>Followed by summary of qualifications.</a:t>
            </a:r>
          </a:p>
          <a:p>
            <a:r>
              <a:rPr lang="en-US" dirty="0">
                <a:effectLst/>
              </a:rPr>
              <a:t>Then industry expertise.</a:t>
            </a:r>
          </a:p>
          <a:p>
            <a:r>
              <a:rPr lang="en-US" dirty="0">
                <a:effectLst/>
              </a:rPr>
              <a:t>Professional experience in reverse chronological order (focus on most recent, with responsibilities and accomplishments).</a:t>
            </a:r>
          </a:p>
          <a:p>
            <a:r>
              <a:rPr lang="en-US" dirty="0">
                <a:effectLst/>
              </a:rPr>
              <a:t>Previous experiences as summary/additional information.</a:t>
            </a:r>
          </a:p>
          <a:p>
            <a:r>
              <a:rPr lang="en-US" dirty="0">
                <a:effectLst/>
              </a:rPr>
              <a:t>Education details and/or professional affiliations and/or voluntary initiatives follow.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54540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4EC7A0-D826-63DD-3B78-9BA2BBB381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5E44E26-89BD-7DE5-6A8F-DAC715ABAB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525" y="285750"/>
            <a:ext cx="9134475" cy="823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3A63F1E-00F0-CAB4-1A8A-CAA7FA8ECA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73364"/>
            <a:ext cx="7886700" cy="1325563"/>
          </a:xfrm>
        </p:spPr>
        <p:txBody>
          <a:bodyPr>
            <a:normAutofit/>
          </a:bodyPr>
          <a:lstStyle/>
          <a:p>
            <a:r>
              <a:rPr lang="en-IN" sz="3600" b="1" dirty="0">
                <a:effectLst/>
              </a:rPr>
              <a:t>Principal Areas: Contact Information</a:t>
            </a:r>
            <a:br>
              <a:rPr lang="en-IN" dirty="0">
                <a:effectLst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6B68A9-1573-12AE-F094-DE39C3E4B5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759619"/>
            <a:ext cx="7886700" cy="3730354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effectLst/>
              </a:rPr>
              <a:t>Contact Information (Mandatory):</a:t>
            </a:r>
            <a:r>
              <a:rPr lang="en-US" dirty="0">
                <a:effectLst/>
              </a:rPr>
              <a:t>​</a:t>
            </a:r>
          </a:p>
          <a:p>
            <a:r>
              <a:rPr lang="en-US" dirty="0">
                <a:effectLst/>
              </a:rPr>
              <a:t>Name.</a:t>
            </a:r>
          </a:p>
          <a:p>
            <a:r>
              <a:rPr lang="en-US" dirty="0">
                <a:effectLst/>
              </a:rPr>
              <a:t>Postal address.</a:t>
            </a:r>
          </a:p>
          <a:p>
            <a:r>
              <a:rPr lang="en-US" dirty="0">
                <a:effectLst/>
              </a:rPr>
              <a:t>Telephone number(s): work, home, mobile (as applicable).</a:t>
            </a:r>
          </a:p>
          <a:p>
            <a:r>
              <a:rPr lang="en-US" dirty="0">
                <a:effectLst/>
              </a:rPr>
              <a:t>E-mail address.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706779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D68ED7-DB50-81CE-FE8D-E906549AED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5E8FB78-4EB3-63E6-93C7-DF028BFA68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525" y="285750"/>
            <a:ext cx="9134475" cy="823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E9F37FE-0FDC-B583-29B1-1813DA25F7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5" y="34924"/>
            <a:ext cx="7886700" cy="1325563"/>
          </a:xfrm>
        </p:spPr>
        <p:txBody>
          <a:bodyPr>
            <a:normAutofit/>
          </a:bodyPr>
          <a:lstStyle/>
          <a:p>
            <a:r>
              <a:rPr lang="en-IN" sz="4000" b="1" dirty="0"/>
              <a:t>Principle Areas: Career 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732CE9-F175-4B09-E4B1-37ADD9BB27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2–3 line statement</a:t>
            </a:r>
          </a:p>
          <a:p>
            <a:r>
              <a:rPr lang="en-US" dirty="0"/>
              <a:t>Mentions goal, skills, and aspiration</a:t>
            </a:r>
          </a:p>
          <a:p>
            <a:r>
              <a:rPr lang="en-US" dirty="0"/>
              <a:t>Example:</a:t>
            </a:r>
          </a:p>
          <a:p>
            <a:r>
              <a:rPr lang="en-US" dirty="0"/>
              <a:t>Motivated </a:t>
            </a:r>
            <a:r>
              <a:rPr lang="en-US" dirty="0" err="1"/>
              <a:t>B.Tech</a:t>
            </a:r>
            <a:r>
              <a:rPr lang="en-US" dirty="0"/>
              <a:t> CSE student seeking opportunities to apply technical skills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896569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C4881A-1473-AABF-62E4-5A449ED252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38EAD40-98F7-545D-9848-9AA270EDE6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525" y="285750"/>
            <a:ext cx="9134475" cy="823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B2470D4-D20F-B124-5A1C-E8B9FD1147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56888"/>
            <a:ext cx="7886700" cy="1325563"/>
          </a:xfrm>
        </p:spPr>
        <p:txBody>
          <a:bodyPr>
            <a:normAutofit/>
          </a:bodyPr>
          <a:lstStyle/>
          <a:p>
            <a:r>
              <a:rPr lang="en-IN" sz="3600" b="1" dirty="0">
                <a:effectLst/>
              </a:rPr>
              <a:t>Principal Areas: Education &amp; Training</a:t>
            </a:r>
            <a:br>
              <a:rPr lang="en-IN" sz="3600" dirty="0">
                <a:effectLst/>
              </a:rPr>
            </a:br>
            <a:endParaRPr lang="en-IN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B96504-4DCD-7EA6-6400-C5BE1EB5E9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31808"/>
            <a:ext cx="7886700" cy="3658164"/>
          </a:xfrm>
        </p:spPr>
        <p:txBody>
          <a:bodyPr>
            <a:normAutofit fontScale="85000" lnSpcReduction="20000"/>
          </a:bodyPr>
          <a:lstStyle/>
          <a:p>
            <a:r>
              <a:rPr lang="en-US" dirty="0">
                <a:effectLst/>
              </a:rPr>
              <a:t>Provides information on formal education and professional training.</a:t>
            </a:r>
          </a:p>
          <a:p>
            <a:r>
              <a:rPr lang="en-US" dirty="0">
                <a:effectLst/>
              </a:rPr>
              <a:t>As a learner entering the workforce, educational credentials should be at the top of the Resumé.</a:t>
            </a:r>
          </a:p>
          <a:p>
            <a:r>
              <a:rPr lang="en-US" dirty="0">
                <a:effectLst/>
              </a:rPr>
              <a:t>List highest level of education first, then work backwards.</a:t>
            </a:r>
          </a:p>
          <a:p>
            <a:r>
              <a:rPr lang="en-US" dirty="0">
                <a:effectLst/>
              </a:rPr>
              <a:t>List specialization or professional training related to job objective first.</a:t>
            </a:r>
          </a:p>
          <a:p>
            <a:r>
              <a:rPr lang="en-US" dirty="0">
                <a:effectLst/>
              </a:rPr>
              <a:t>Include any special </a:t>
            </a:r>
            <a:r>
              <a:rPr lang="en-US" dirty="0" err="1">
                <a:effectLst/>
              </a:rPr>
              <a:t>honours</a:t>
            </a:r>
            <a:r>
              <a:rPr lang="en-US" dirty="0">
                <a:effectLst/>
              </a:rPr>
              <a:t> or rewards.</a:t>
            </a:r>
          </a:p>
          <a:p>
            <a:r>
              <a:rPr lang="en-US" dirty="0">
                <a:effectLst/>
              </a:rPr>
              <a:t>List courses, seminars, workshops, training as part of professional development and recent positions related to career focus.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446608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BCE0A8-7B3D-3D23-DF39-ED50CBE2B1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B1ECB0C6-19AE-B2C1-CE06-AE00FAECEE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525" y="285750"/>
            <a:ext cx="9134475" cy="823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B93E09B-7591-BDC9-8046-F6D7EF034A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4924"/>
            <a:ext cx="7886700" cy="1325563"/>
          </a:xfrm>
        </p:spPr>
        <p:txBody>
          <a:bodyPr>
            <a:normAutofit/>
          </a:bodyPr>
          <a:lstStyle/>
          <a:p>
            <a:r>
              <a:rPr lang="en-IN" sz="3000" b="1" dirty="0"/>
              <a:t>Principle Areas: Technical Skills and Soft Skills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51A3CA-D1DB-3CF4-8C6F-5AC6F2D0716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Technical Skills such as:</a:t>
            </a:r>
          </a:p>
          <a:p>
            <a:r>
              <a:rPr lang="en-US" dirty="0"/>
              <a:t>Programming Languages</a:t>
            </a:r>
          </a:p>
          <a:p>
            <a:r>
              <a:rPr lang="en-US" dirty="0"/>
              <a:t>Tools and Software</a:t>
            </a:r>
          </a:p>
          <a:p>
            <a:r>
              <a:rPr lang="en-US" dirty="0"/>
              <a:t>Technologies</a:t>
            </a:r>
          </a:p>
          <a:p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8A15F0-A69E-10A9-54CD-AB26C118DDB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b="1" dirty="0"/>
              <a:t>Soft Skills such as:</a:t>
            </a:r>
          </a:p>
          <a:p>
            <a:r>
              <a:rPr lang="en-US" dirty="0"/>
              <a:t>Communication skills</a:t>
            </a:r>
          </a:p>
          <a:p>
            <a:r>
              <a:rPr lang="en-US" dirty="0"/>
              <a:t>Teamwork</a:t>
            </a:r>
          </a:p>
          <a:p>
            <a:r>
              <a:rPr lang="en-US" dirty="0"/>
              <a:t>Problem-solving</a:t>
            </a:r>
          </a:p>
          <a:p>
            <a:r>
              <a:rPr lang="en-US" dirty="0"/>
              <a:t>Time management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686617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04E179-0DEF-5FF7-246F-6166AF0109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CBB6E8C-1E77-B570-46D0-4A24078CC6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525" y="285750"/>
            <a:ext cx="9134475" cy="823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60E2DAA-4A4B-53B1-A5F9-C0958D8FD6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63328" y="142081"/>
            <a:ext cx="7886700" cy="1325563"/>
          </a:xfrm>
        </p:spPr>
        <p:txBody>
          <a:bodyPr>
            <a:normAutofit/>
          </a:bodyPr>
          <a:lstStyle/>
          <a:p>
            <a:r>
              <a:rPr lang="en-IN" sz="3600" b="1" dirty="0"/>
              <a:t>Principle Areas: Projects/Internships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36F6BF-12B7-85C9-922D-413171A8A7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Project Title</a:t>
            </a:r>
          </a:p>
          <a:p>
            <a:r>
              <a:rPr lang="en-US" dirty="0"/>
              <a:t>Tools or technologies used</a:t>
            </a:r>
          </a:p>
          <a:p>
            <a:r>
              <a:rPr lang="en-US" dirty="0"/>
              <a:t>One-line description</a:t>
            </a:r>
          </a:p>
          <a:p>
            <a:r>
              <a:rPr lang="en-US" dirty="0"/>
              <a:t>Mini projects are acceptable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342927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AC571A-BACF-DF3D-B865-FC509BF68B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ECF9BC7-FDF6-67C4-6712-3B8DC8ED43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525" y="285750"/>
            <a:ext cx="9134475" cy="823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2127A28-8769-C26A-7E35-9E632F33A5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715" y="109753"/>
            <a:ext cx="7886700" cy="1325563"/>
          </a:xfrm>
        </p:spPr>
        <p:txBody>
          <a:bodyPr>
            <a:normAutofit/>
          </a:bodyPr>
          <a:lstStyle/>
          <a:p>
            <a:r>
              <a:rPr lang="en-IN" sz="3600" b="1" dirty="0"/>
              <a:t>Additional Components (Optional)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82FA9F-08E0-2E52-41AE-59EFB008BB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2031923"/>
            <a:ext cx="7886700" cy="3263504"/>
          </a:xfrm>
        </p:spPr>
        <p:txBody>
          <a:bodyPr>
            <a:normAutofit fontScale="77500" lnSpcReduction="20000"/>
          </a:bodyPr>
          <a:lstStyle/>
          <a:p>
            <a:r>
              <a:rPr lang="en-US" dirty="0">
                <a:effectLst/>
              </a:rPr>
              <a:t>Publications/presentations (divide by topic if long; can include work “in preparation”).</a:t>
            </a:r>
          </a:p>
          <a:p>
            <a:r>
              <a:rPr lang="en-US" dirty="0">
                <a:effectLst/>
              </a:rPr>
              <a:t>Special skills (e.g., computer hardware/software, language skills) when job requires expertise.</a:t>
            </a:r>
          </a:p>
          <a:p>
            <a:r>
              <a:rPr lang="en-US" dirty="0">
                <a:effectLst/>
              </a:rPr>
              <a:t>Certificates and training relevant to the job.</a:t>
            </a:r>
          </a:p>
          <a:p>
            <a:r>
              <a:rPr lang="en-US" dirty="0">
                <a:effectLst/>
              </a:rPr>
              <a:t>Associations/affiliations: current memberships or active involvement in professional/civic bodies linked to job objective.</a:t>
            </a:r>
          </a:p>
          <a:p>
            <a:r>
              <a:rPr lang="en-US" dirty="0">
                <a:effectLst/>
              </a:rPr>
              <a:t>Awards/</a:t>
            </a:r>
            <a:r>
              <a:rPr lang="en-US" dirty="0" err="1">
                <a:effectLst/>
              </a:rPr>
              <a:t>honours</a:t>
            </a:r>
            <a:r>
              <a:rPr lang="en-US" dirty="0">
                <a:effectLst/>
              </a:rPr>
              <a:t> and recognitions: career-related, precise and specific, without self-praise.</a:t>
            </a:r>
          </a:p>
          <a:p>
            <a:r>
              <a:rPr lang="en-US" dirty="0">
                <a:effectLst/>
              </a:rPr>
              <a:t>Work history: main body of Resumé when applying for a new job.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449797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333E2F-959F-6261-2920-230CC69BD9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0EECBC8-4730-E961-8579-D798622384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525" y="285750"/>
            <a:ext cx="9134475" cy="823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0AD8849-4755-619C-59B0-F8142F6D7C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5" y="381602"/>
            <a:ext cx="7886700" cy="1325563"/>
          </a:xfrm>
        </p:spPr>
        <p:txBody>
          <a:bodyPr/>
          <a:lstStyle/>
          <a:p>
            <a:r>
              <a:rPr lang="en-IN" b="1" dirty="0">
                <a:effectLst/>
              </a:rPr>
              <a:t>Common Resumé Errors</a:t>
            </a:r>
            <a:br>
              <a:rPr lang="en-IN" dirty="0">
                <a:effectLst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1F1CDA-E7CF-E19C-8D66-DE5EBFDE12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43840"/>
            <a:ext cx="7886700" cy="3646133"/>
          </a:xfrm>
        </p:spPr>
        <p:txBody>
          <a:bodyPr>
            <a:normAutofit fontScale="85000" lnSpcReduction="10000"/>
          </a:bodyPr>
          <a:lstStyle/>
          <a:p>
            <a:r>
              <a:rPr lang="en-US" dirty="0">
                <a:effectLst/>
              </a:rPr>
              <a:t>Spelling and grammatical errors, especially among freshers.</a:t>
            </a:r>
          </a:p>
          <a:p>
            <a:r>
              <a:rPr lang="en-US" dirty="0">
                <a:effectLst/>
              </a:rPr>
              <a:t>Not including keywords that match the job position.</a:t>
            </a:r>
          </a:p>
          <a:p>
            <a:r>
              <a:rPr lang="en-US" dirty="0">
                <a:effectLst/>
              </a:rPr>
              <a:t>An outdated resumé: not updating skills, contact details, current location, etc.</a:t>
            </a:r>
          </a:p>
          <a:p>
            <a:r>
              <a:rPr lang="en-US" dirty="0">
                <a:effectLst/>
              </a:rPr>
              <a:t>Including too much information instead of relevant content.</a:t>
            </a:r>
          </a:p>
          <a:p>
            <a:r>
              <a:rPr lang="en-US" dirty="0">
                <a:effectLst/>
              </a:rPr>
              <a:t>Career summary that does not match job requirements.</a:t>
            </a:r>
          </a:p>
          <a:p>
            <a:r>
              <a:rPr lang="en-US" dirty="0">
                <a:effectLst/>
              </a:rPr>
              <a:t>Leading paragraphs with irrelevant duties.</a:t>
            </a:r>
          </a:p>
          <a:p>
            <a:r>
              <a:rPr lang="en-US" dirty="0">
                <a:effectLst/>
              </a:rPr>
              <a:t>Being too modest about accomplishments and rewards.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674805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95FDF7-1205-1E93-6A3E-DFDA7DEAE8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8865201-AF01-339D-DC72-5FC3448CED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525" y="285750"/>
            <a:ext cx="9134475" cy="823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F503423-80E5-2F7B-4887-BE91E23BBA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428" y="365126"/>
            <a:ext cx="7886700" cy="1325563"/>
          </a:xfrm>
        </p:spPr>
        <p:txBody>
          <a:bodyPr/>
          <a:lstStyle/>
          <a:p>
            <a:r>
              <a:rPr lang="en-IN" sz="4000" b="1" dirty="0">
                <a:effectLst/>
              </a:rPr>
              <a:t>Resumé Preparation Guidelines</a:t>
            </a:r>
            <a:br>
              <a:rPr lang="en-IN" dirty="0">
                <a:effectLst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D9FB8C-928B-EDA6-2A0A-1B3A1757CD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55871"/>
            <a:ext cx="7886700" cy="3634101"/>
          </a:xfrm>
        </p:spPr>
        <p:txBody>
          <a:bodyPr>
            <a:normAutofit fontScale="85000" lnSpcReduction="20000"/>
          </a:bodyPr>
          <a:lstStyle/>
          <a:p>
            <a:r>
              <a:rPr lang="en-US" dirty="0">
                <a:effectLst/>
              </a:rPr>
              <a:t>Use good quality paper.</a:t>
            </a:r>
          </a:p>
          <a:p>
            <a:r>
              <a:rPr lang="en-US" dirty="0">
                <a:effectLst/>
              </a:rPr>
              <a:t>Send a good quality photocopy.</a:t>
            </a:r>
          </a:p>
          <a:p>
            <a:r>
              <a:rPr lang="en-US" dirty="0">
                <a:effectLst/>
              </a:rPr>
              <a:t>Ideally, Resumé should not exceed one or two pages.</a:t>
            </a:r>
          </a:p>
          <a:p>
            <a:r>
              <a:rPr lang="en-US" dirty="0">
                <a:effectLst/>
              </a:rPr>
              <a:t>As a fresher: highlight academic achievements, workshops, internships, seminars where skills were acquired/updated.</a:t>
            </a:r>
          </a:p>
          <a:p>
            <a:r>
              <a:rPr lang="en-US" dirty="0">
                <a:effectLst/>
              </a:rPr>
              <a:t>Include: languages known, hobbies and interests, extra‑curricular activities, positive points in brief.</a:t>
            </a:r>
          </a:p>
          <a:p>
            <a:r>
              <a:rPr lang="en-US" dirty="0">
                <a:effectLst/>
              </a:rPr>
              <a:t>Select a simple font and appropriate size for clarity and legibility.</a:t>
            </a:r>
          </a:p>
          <a:p>
            <a:r>
              <a:rPr lang="en-US" dirty="0">
                <a:effectLst/>
              </a:rPr>
              <a:t>Check spelling and grammar before finalizing.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74227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37F413-ACB9-CCEF-F10F-10E27BDC7A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F34D143-8994-6B87-4CD7-F2FF7F1314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525" y="285750"/>
            <a:ext cx="9134475" cy="823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B80587D-F979-C4D2-14B4-49EDFE49E2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355" y="285750"/>
            <a:ext cx="6199328" cy="1175951"/>
          </a:xfrm>
        </p:spPr>
        <p:txBody>
          <a:bodyPr/>
          <a:lstStyle/>
          <a:p>
            <a:r>
              <a:rPr lang="en-IN" sz="3600" b="1" dirty="0">
                <a:effectLst/>
              </a:rPr>
              <a:t>Sample Resumé (Template</a:t>
            </a:r>
            <a:r>
              <a:rPr lang="en-IN" b="1" dirty="0">
                <a:effectLst/>
              </a:rPr>
              <a:t>)</a:t>
            </a:r>
            <a:br>
              <a:rPr lang="en-IN" dirty="0">
                <a:effectLst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287EF0-4ADE-436B-FDC9-F624028B4739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r>
              <a:rPr lang="en-US" sz="1800" dirty="0"/>
              <a:t>Contact Information: Name, Address, Phone, Email.</a:t>
            </a:r>
          </a:p>
          <a:p>
            <a:r>
              <a:rPr lang="en-US" sz="1800" dirty="0"/>
              <a:t>Personal details: Marital Status, Date of Birth, Nationality, Languages Known.</a:t>
            </a:r>
          </a:p>
          <a:p>
            <a:r>
              <a:rPr lang="en-US" sz="1800" dirty="0"/>
              <a:t>Sections: Career Objective, Educational Qualifications, Project, Experience (if any), Technical Skills, Soft Skills, Extra‑Curricular Activities, Achievements, Declaration, Signature.​</a:t>
            </a:r>
          </a:p>
          <a:p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EE08C5C-54C6-AAE7-E9CE-04B851A8FD3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731"/>
          <a:stretch>
            <a:fillRect/>
          </a:stretch>
        </p:blipFill>
        <p:spPr>
          <a:xfrm>
            <a:off x="4368467" y="1109663"/>
            <a:ext cx="4145692" cy="5586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736730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63E568-225F-8F34-C3C9-3F16DF5BF4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A6154BC-1987-11B0-F2A1-181BABC6E8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525" y="285750"/>
            <a:ext cx="9134475" cy="823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51F9273-1204-4AAA-45A2-4F554C0469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185" y="365126"/>
            <a:ext cx="7886700" cy="1325563"/>
          </a:xfrm>
        </p:spPr>
        <p:txBody>
          <a:bodyPr/>
          <a:lstStyle/>
          <a:p>
            <a:r>
              <a:rPr lang="en-IN" b="1" dirty="0">
                <a:effectLst/>
              </a:rPr>
              <a:t>Introducing Interview Skills</a:t>
            </a:r>
            <a:br>
              <a:rPr lang="en-IN" dirty="0">
                <a:effectLst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D07E64-313C-6D30-36B1-46F94CEB60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>
                <a:effectLst/>
              </a:rPr>
              <a:t>Link Between Resumé and Interview:</a:t>
            </a:r>
            <a:r>
              <a:rPr lang="en-US" dirty="0">
                <a:effectLst/>
              </a:rPr>
              <a:t>​</a:t>
            </a:r>
          </a:p>
          <a:p>
            <a:r>
              <a:rPr lang="en-US" dirty="0">
                <a:effectLst/>
              </a:rPr>
              <a:t>Usually, candidate submits detailed Resumé before the interview.</a:t>
            </a:r>
          </a:p>
          <a:p>
            <a:r>
              <a:rPr lang="en-US" dirty="0">
                <a:effectLst/>
              </a:rPr>
              <a:t>During the interview, candidate must present self in limited time.</a:t>
            </a:r>
          </a:p>
          <a:p>
            <a:r>
              <a:rPr lang="en-US" dirty="0">
                <a:effectLst/>
              </a:rPr>
              <a:t>Employer should get to know the candidate, understand capabilities, and be convinced of suitability for the job.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055666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22BD97-4210-74B0-B9E2-775A6107ED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83929DD-E3CD-B6B9-7455-BB15D36A24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525" y="285750"/>
            <a:ext cx="9134475" cy="823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D01E290-5967-ADAC-59A1-3756DF7E0A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effectLst/>
              </a:rPr>
              <a:t>Meaning of Interview</a:t>
            </a:r>
            <a:br>
              <a:rPr lang="en-IN" dirty="0">
                <a:effectLst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5DAC65-05A8-28FE-5FC6-36333C6517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988219"/>
            <a:ext cx="7886700" cy="3501754"/>
          </a:xfrm>
        </p:spPr>
        <p:txBody>
          <a:bodyPr>
            <a:normAutofit fontScale="85000" lnSpcReduction="10000"/>
          </a:bodyPr>
          <a:lstStyle/>
          <a:p>
            <a:r>
              <a:rPr lang="en-US" dirty="0">
                <a:effectLst/>
              </a:rPr>
              <a:t>An interview is a conversation where interviewer(s) ask questions and the interviewee answers.</a:t>
            </a:r>
          </a:p>
          <a:p>
            <a:r>
              <a:rPr lang="en-US" dirty="0">
                <a:effectLst/>
              </a:rPr>
              <a:t>In a job interview, employer assesses the candidate; job seeker tries to convince the employer.</a:t>
            </a:r>
          </a:p>
          <a:p>
            <a:r>
              <a:rPr lang="en-US" dirty="0">
                <a:effectLst/>
              </a:rPr>
              <a:t>Sometimes information is transferred in both directions.</a:t>
            </a:r>
          </a:p>
          <a:p>
            <a:r>
              <a:rPr lang="en-US" dirty="0">
                <a:effectLst/>
              </a:rPr>
              <a:t>Usually face‑to‑face and in person, but can use smartphones or video conferencing when separated geographically.</a:t>
            </a:r>
          </a:p>
          <a:p>
            <a:r>
              <a:rPr lang="en-US" dirty="0">
                <a:effectLst/>
              </a:rPr>
              <a:t>Generally an oral conversation; in some cases, questions and answers may be typed back and forth.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9524227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B98B67-2365-026C-B007-CFCCFEDA71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4DCD606-317D-0EA7-6A1E-2F6574A319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525" y="285750"/>
            <a:ext cx="9134475" cy="823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9B7E882-635E-7440-2D30-BCB1E5FDBE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effectLst/>
              </a:rPr>
              <a:t>Types of Interviews</a:t>
            </a:r>
            <a:br>
              <a:rPr lang="en-IN" dirty="0">
                <a:effectLst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7B3A16-EF0F-E6F7-4AFC-0BC5132430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663366"/>
            <a:ext cx="8178466" cy="3826607"/>
          </a:xfrm>
        </p:spPr>
        <p:txBody>
          <a:bodyPr>
            <a:normAutofit fontScale="70000" lnSpcReduction="20000"/>
          </a:bodyPr>
          <a:lstStyle/>
          <a:p>
            <a:r>
              <a:rPr lang="en-US" dirty="0">
                <a:effectLst/>
              </a:rPr>
              <a:t>Telephonic Interview: </a:t>
            </a:r>
            <a:r>
              <a:rPr lang="en-US" dirty="0"/>
              <a:t>Initial screening via phone call to assess basic qualifications and communication skills remotely.</a:t>
            </a:r>
            <a:endParaRPr lang="en-US" dirty="0">
              <a:effectLst/>
            </a:endParaRPr>
          </a:p>
          <a:p>
            <a:r>
              <a:rPr lang="en-US" dirty="0">
                <a:effectLst/>
              </a:rPr>
              <a:t>Face‑to‑face Interview: </a:t>
            </a:r>
            <a:r>
              <a:rPr lang="en-US" dirty="0"/>
              <a:t>Traditional in-person meeting where interviewer and candidate discuss fit, skills, and experience directly.</a:t>
            </a:r>
            <a:endParaRPr lang="en-US" dirty="0">
              <a:effectLst/>
            </a:endParaRPr>
          </a:p>
          <a:p>
            <a:r>
              <a:rPr lang="en-US" dirty="0">
                <a:effectLst/>
              </a:rPr>
              <a:t>Video Conference Interview: </a:t>
            </a:r>
            <a:r>
              <a:rPr lang="en-US" dirty="0"/>
              <a:t>Remote interview using video tools like Zoom, allowing geographic separation while enabling visual interaction.</a:t>
            </a:r>
            <a:endParaRPr lang="en-US" dirty="0">
              <a:effectLst/>
            </a:endParaRPr>
          </a:p>
          <a:p>
            <a:r>
              <a:rPr lang="en-US" dirty="0">
                <a:effectLst/>
              </a:rPr>
              <a:t>Selection Interview: </a:t>
            </a:r>
            <a:r>
              <a:rPr lang="en-US" dirty="0"/>
              <a:t>Standard process to evaluate and select candidates based on job requirements, often after resume review.</a:t>
            </a:r>
            <a:endParaRPr lang="en-US" dirty="0">
              <a:effectLst/>
            </a:endParaRPr>
          </a:p>
          <a:p>
            <a:r>
              <a:rPr lang="en-US" dirty="0" err="1">
                <a:effectLst/>
              </a:rPr>
              <a:t>Behavioural</a:t>
            </a:r>
            <a:r>
              <a:rPr lang="en-US" dirty="0">
                <a:effectLst/>
              </a:rPr>
              <a:t> Interview: </a:t>
            </a:r>
            <a:r>
              <a:rPr lang="en-US" dirty="0"/>
              <a:t>Focuses on past experiences using STAR method (Situation, Task, Action, Result) to predict future performance.</a:t>
            </a:r>
            <a:endParaRPr lang="en-US" dirty="0">
              <a:effectLst/>
            </a:endParaRPr>
          </a:p>
          <a:p>
            <a:r>
              <a:rPr lang="en-US" dirty="0">
                <a:effectLst/>
              </a:rPr>
              <a:t>Group or Panel Interview: </a:t>
            </a:r>
            <a:r>
              <a:rPr lang="en-US" dirty="0"/>
              <a:t>Multiple interviewers (panel) question one candidate simultaneously, assessing teamwork and responses under group scrutiny.</a:t>
            </a:r>
            <a:endParaRPr lang="en-US" dirty="0">
              <a:effectLst/>
            </a:endParaRP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7951105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A84D73-E9BC-5A2A-6B85-013F3C9E22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3B5202B-37E6-A5A5-6BBF-C4A19B46AD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525" y="285750"/>
            <a:ext cx="9134475" cy="823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BAA48A9-EFDF-99D4-421B-E0AAA25ACA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758" y="365126"/>
            <a:ext cx="7886700" cy="1325563"/>
          </a:xfrm>
        </p:spPr>
        <p:txBody>
          <a:bodyPr/>
          <a:lstStyle/>
          <a:p>
            <a:r>
              <a:rPr lang="en-IN" b="1" dirty="0">
                <a:effectLst/>
              </a:rPr>
              <a:t>STAR Approach: Overview</a:t>
            </a:r>
            <a:br>
              <a:rPr lang="en-IN" dirty="0">
                <a:effectLst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9B6CCB-1409-8DA2-F4EA-9DD2339241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effectLst/>
              </a:rPr>
              <a:t>S – Situation: Set the scene and give necessary details of your example.</a:t>
            </a:r>
          </a:p>
          <a:p>
            <a:pPr marL="0" indent="0">
              <a:buNone/>
            </a:pPr>
            <a:r>
              <a:rPr lang="en-US" dirty="0">
                <a:effectLst/>
              </a:rPr>
              <a:t>T – Task: Describe your responsibility in that situation.</a:t>
            </a:r>
          </a:p>
          <a:p>
            <a:pPr marL="0" indent="0">
              <a:buNone/>
            </a:pPr>
            <a:r>
              <a:rPr lang="en-US" dirty="0">
                <a:effectLst/>
              </a:rPr>
              <a:t>A – Action: Explain the steps you took to address it.</a:t>
            </a:r>
          </a:p>
          <a:p>
            <a:pPr marL="0" indent="0">
              <a:buNone/>
            </a:pPr>
            <a:r>
              <a:rPr lang="en-US" dirty="0">
                <a:effectLst/>
              </a:rPr>
              <a:t>R – Result: Share the outcomes of your actions.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1667015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7E759A-20DB-C399-1E8E-3CCC59C556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98543C3-1277-F4A2-DFC2-A6ABBD9E5B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525" y="285750"/>
            <a:ext cx="9134475" cy="823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2886BB6-7E32-8D88-D38A-9AE76BB55B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73364"/>
            <a:ext cx="7886700" cy="1325563"/>
          </a:xfrm>
        </p:spPr>
        <p:txBody>
          <a:bodyPr/>
          <a:lstStyle/>
          <a:p>
            <a:r>
              <a:rPr lang="en-IN" b="1" dirty="0">
                <a:effectLst/>
              </a:rPr>
              <a:t>STAR in Behavioural Interviews</a:t>
            </a:r>
            <a:br>
              <a:rPr lang="en-IN" dirty="0">
                <a:effectLst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4C0FBA-4986-CA92-E5F7-B1361FB8CB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79935"/>
            <a:ext cx="7886700" cy="3368842"/>
          </a:xfrm>
        </p:spPr>
        <p:txBody>
          <a:bodyPr>
            <a:normAutofit fontScale="77500" lnSpcReduction="20000"/>
          </a:bodyPr>
          <a:lstStyle/>
          <a:p>
            <a:r>
              <a:rPr lang="en-US" b="1" dirty="0">
                <a:effectLst/>
              </a:rPr>
              <a:t>STAR Response Technique:</a:t>
            </a:r>
            <a:r>
              <a:rPr lang="en-US" dirty="0">
                <a:effectLst/>
              </a:rPr>
              <a:t>​</a:t>
            </a:r>
          </a:p>
          <a:p>
            <a:r>
              <a:rPr lang="en-US" dirty="0">
                <a:effectLst/>
              </a:rPr>
              <a:t>Used in </a:t>
            </a:r>
            <a:r>
              <a:rPr lang="en-US" dirty="0" err="1">
                <a:effectLst/>
              </a:rPr>
              <a:t>behavioural</a:t>
            </a:r>
            <a:r>
              <a:rPr lang="en-US" dirty="0">
                <a:effectLst/>
              </a:rPr>
              <a:t> interviews to answer questions in a structured way.</a:t>
            </a:r>
          </a:p>
          <a:p>
            <a:r>
              <a:rPr lang="en-US" dirty="0">
                <a:effectLst/>
              </a:rPr>
              <a:t>Questions often start with:</a:t>
            </a:r>
          </a:p>
          <a:p>
            <a:pPr lvl="1"/>
            <a:r>
              <a:rPr lang="en-US" dirty="0">
                <a:effectLst/>
              </a:rPr>
              <a:t>“Tell me about a situation…”</a:t>
            </a:r>
          </a:p>
          <a:p>
            <a:pPr lvl="1"/>
            <a:r>
              <a:rPr lang="en-US" dirty="0">
                <a:effectLst/>
              </a:rPr>
              <a:t>“What do you do when…”</a:t>
            </a:r>
          </a:p>
          <a:p>
            <a:pPr lvl="1"/>
            <a:r>
              <a:rPr lang="en-US" dirty="0">
                <a:effectLst/>
              </a:rPr>
              <a:t>“Have you ever…”</a:t>
            </a:r>
          </a:p>
          <a:p>
            <a:pPr lvl="1"/>
            <a:r>
              <a:rPr lang="en-US" dirty="0">
                <a:effectLst/>
              </a:rPr>
              <a:t>“Share an example of…”</a:t>
            </a:r>
          </a:p>
          <a:p>
            <a:pPr lvl="1"/>
            <a:r>
              <a:rPr lang="en-US" dirty="0">
                <a:effectLst/>
              </a:rPr>
              <a:t>“Describe what you think…”</a:t>
            </a:r>
          </a:p>
          <a:p>
            <a:r>
              <a:rPr lang="en-US" dirty="0">
                <a:effectLst/>
              </a:rPr>
              <a:t>Answers should give real‑life examples of how the candidate handled past work situations.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3097690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2FCF37-1233-55BF-B45F-BF78A28EC8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D19E675-EAD3-B085-4E65-9E30FF260A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525" y="285750"/>
            <a:ext cx="9134475" cy="823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203DFFF-197C-F263-852F-6D85235928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904" y="381601"/>
            <a:ext cx="7886700" cy="1325563"/>
          </a:xfrm>
        </p:spPr>
        <p:txBody>
          <a:bodyPr/>
          <a:lstStyle/>
          <a:p>
            <a:r>
              <a:rPr lang="en-IN" sz="4000" b="1" dirty="0">
                <a:effectLst/>
              </a:rPr>
              <a:t>Interview Procedure: Overview</a:t>
            </a:r>
            <a:br>
              <a:rPr lang="en-IN" dirty="0">
                <a:effectLst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BCDE3F-3D42-9E31-0D1D-F3533A71F4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43840"/>
            <a:ext cx="7886700" cy="3646133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b="1" dirty="0">
                <a:effectLst/>
              </a:rPr>
              <a:t>The Interview Procedure:</a:t>
            </a:r>
            <a:r>
              <a:rPr lang="en-US" dirty="0">
                <a:effectLst/>
              </a:rPr>
              <a:t>​</a:t>
            </a:r>
          </a:p>
          <a:p>
            <a:r>
              <a:rPr lang="en-US" dirty="0">
                <a:effectLst/>
              </a:rPr>
              <a:t>Candidate submits Resumé with education, experience, and achievements.</a:t>
            </a:r>
          </a:p>
          <a:p>
            <a:r>
              <a:rPr lang="en-US" dirty="0">
                <a:effectLst/>
              </a:rPr>
              <a:t>During the interview, candidate must present self so employer knows what he/she can do and why he/she is most suitable.</a:t>
            </a:r>
          </a:p>
          <a:p>
            <a:r>
              <a:rPr lang="en-US" dirty="0">
                <a:effectLst/>
              </a:rPr>
              <a:t>Employers have two primary goals:</a:t>
            </a:r>
          </a:p>
          <a:p>
            <a:pPr lvl="1"/>
            <a:r>
              <a:rPr lang="en-US" dirty="0">
                <a:effectLst/>
              </a:rPr>
              <a:t>Check if candidate is qualified.</a:t>
            </a:r>
          </a:p>
          <a:p>
            <a:pPr lvl="1"/>
            <a:r>
              <a:rPr lang="en-US" dirty="0">
                <a:effectLst/>
              </a:rPr>
              <a:t>Check if candidate will fit into the organization.</a:t>
            </a:r>
          </a:p>
          <a:p>
            <a:r>
              <a:rPr lang="en-US" dirty="0">
                <a:effectLst/>
              </a:rPr>
              <a:t>Employers view all candidate actions during hiring as examples of ability and work.</a:t>
            </a:r>
            <a:br>
              <a:rPr lang="en-US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1508224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5FA8AE-5F1C-17A2-FD2F-D601807C3A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80D673F-2493-8DEC-F53F-3166FDD19E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525" y="285750"/>
            <a:ext cx="9134475" cy="823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A3BE9B5-A51D-CD87-D28D-9BDD93D811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43818"/>
            <a:ext cx="7886700" cy="1325563"/>
          </a:xfrm>
        </p:spPr>
        <p:txBody>
          <a:bodyPr/>
          <a:lstStyle/>
          <a:p>
            <a:r>
              <a:rPr lang="en-IN" b="1" dirty="0">
                <a:effectLst/>
              </a:rPr>
              <a:t>Before the Interview (Do’s)</a:t>
            </a:r>
            <a:br>
              <a:rPr lang="en-IN" dirty="0">
                <a:effectLst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71DD5B-7E09-6127-5974-50C71480F9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783682"/>
            <a:ext cx="8070182" cy="3404937"/>
          </a:xfrm>
        </p:spPr>
        <p:txBody>
          <a:bodyPr>
            <a:normAutofit fontScale="77500" lnSpcReduction="20000"/>
          </a:bodyPr>
          <a:lstStyle/>
          <a:p>
            <a:r>
              <a:rPr lang="en-US" dirty="0">
                <a:effectLst/>
              </a:rPr>
              <a:t>Do the homework: research company and employer; visit website; note functions, staff, important points.</a:t>
            </a:r>
          </a:p>
          <a:p>
            <a:r>
              <a:rPr lang="en-US" dirty="0">
                <a:effectLst/>
              </a:rPr>
              <a:t>Make a good first impression:</a:t>
            </a:r>
          </a:p>
          <a:p>
            <a:pPr lvl="1"/>
            <a:r>
              <a:rPr lang="en-US" dirty="0">
                <a:effectLst/>
              </a:rPr>
              <a:t>For face‑to‑face: trial run to location, arrive early, carry Resumé/CV, know dates and specifics to discuss.</a:t>
            </a:r>
          </a:p>
          <a:p>
            <a:pPr lvl="1"/>
            <a:r>
              <a:rPr lang="en-US" dirty="0">
                <a:effectLst/>
              </a:rPr>
              <a:t>For video interview: test tool beforehand, set up 15 minutes early, ensure connectivity, quiet, well‑lit, comfortable place; smile confidently and stay engaged.</a:t>
            </a:r>
          </a:p>
          <a:p>
            <a:r>
              <a:rPr lang="en-US" dirty="0">
                <a:effectLst/>
              </a:rPr>
              <a:t>Treat each interview as a new opportunity; learn from past mistakes; keep gaps between multiple interviews to stay fresh.</a:t>
            </a:r>
          </a:p>
          <a:p>
            <a:r>
              <a:rPr lang="en-US" dirty="0">
                <a:effectLst/>
              </a:rPr>
              <a:t>Treat everyone in the company with respect (parking staff, receptionist, recruiting staff, other candidates).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0991091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B012A0-D5F4-9190-4F45-41FC7D4433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C8F18C4-34C4-09AC-B971-48929592D9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525" y="285750"/>
            <a:ext cx="9134475" cy="823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4CD014D-348E-ABC7-7AB4-7829FCD08A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365126"/>
            <a:ext cx="7886700" cy="1325563"/>
          </a:xfrm>
        </p:spPr>
        <p:txBody>
          <a:bodyPr/>
          <a:lstStyle/>
          <a:p>
            <a:r>
              <a:rPr lang="en-IN" b="1" dirty="0">
                <a:effectLst/>
              </a:rPr>
              <a:t>During the Interview (Do’s)</a:t>
            </a:r>
            <a:br>
              <a:rPr lang="en-IN" dirty="0">
                <a:effectLst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40AB36-EDFC-E18A-177C-A7A77CFD19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67903"/>
            <a:ext cx="7886700" cy="3622070"/>
          </a:xfrm>
        </p:spPr>
        <p:txBody>
          <a:bodyPr>
            <a:normAutofit fontScale="92500" lnSpcReduction="20000"/>
          </a:bodyPr>
          <a:lstStyle/>
          <a:p>
            <a:r>
              <a:rPr lang="en-US" dirty="0">
                <a:effectLst/>
              </a:rPr>
              <a:t>Stay relaxed and comfortable.</a:t>
            </a:r>
          </a:p>
          <a:p>
            <a:r>
              <a:rPr lang="en-US" dirty="0">
                <a:effectLst/>
              </a:rPr>
              <a:t>Greet everyone on the interview board.</a:t>
            </a:r>
          </a:p>
          <a:p>
            <a:r>
              <a:rPr lang="en-US" dirty="0">
                <a:effectLst/>
              </a:rPr>
              <a:t>Keep job search records organized and handy.</a:t>
            </a:r>
          </a:p>
          <a:p>
            <a:r>
              <a:rPr lang="en-US" dirty="0">
                <a:effectLst/>
              </a:rPr>
              <a:t>Refer to your Resumé as needed.</a:t>
            </a:r>
          </a:p>
          <a:p>
            <a:r>
              <a:rPr lang="en-US" dirty="0">
                <a:effectLst/>
              </a:rPr>
              <a:t>Listen carefully; answer clearly and directly, using past examples; respond to the person asking but maintain eye contact with all panel members.</a:t>
            </a:r>
          </a:p>
          <a:p>
            <a:r>
              <a:rPr lang="en-US" dirty="0">
                <a:effectLst/>
              </a:rPr>
              <a:t>Prepare smart, open‑ended questions to ask interviewer to show interest and motivation and to assess if the role suits you.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1226791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981FD0-CAAB-097A-DB76-2A3DB2E627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F7BBEFF-AB16-E551-BA3B-5E7A556019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525" y="285750"/>
            <a:ext cx="9134475" cy="823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EBAABE4-894D-683D-937D-30405C76C5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5" y="365126"/>
            <a:ext cx="7886700" cy="1325563"/>
          </a:xfrm>
        </p:spPr>
        <p:txBody>
          <a:bodyPr>
            <a:normAutofit/>
          </a:bodyPr>
          <a:lstStyle/>
          <a:p>
            <a:r>
              <a:rPr lang="en-US" sz="3200" b="1" dirty="0">
                <a:effectLst/>
              </a:rPr>
              <a:t>During the Interview (More Do’s &amp; Don’ts)</a:t>
            </a:r>
            <a:br>
              <a:rPr lang="en-US" dirty="0">
                <a:effectLst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F63098-9198-2BBA-3627-4A1235A3DA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67903"/>
            <a:ext cx="7886700" cy="3622070"/>
          </a:xfrm>
        </p:spPr>
        <p:txBody>
          <a:bodyPr>
            <a:normAutofit fontScale="77500" lnSpcReduction="20000"/>
          </a:bodyPr>
          <a:lstStyle/>
          <a:p>
            <a:r>
              <a:rPr lang="en-US" dirty="0">
                <a:effectLst/>
              </a:rPr>
              <a:t>Highlight strengths and expertise by communicating relevant experience and successes.</a:t>
            </a:r>
          </a:p>
          <a:p>
            <a:r>
              <a:rPr lang="en-US" dirty="0">
                <a:effectLst/>
              </a:rPr>
              <a:t>Never speak negatively about former employers; it reflects on ethics and loyalty.</a:t>
            </a:r>
          </a:p>
          <a:p>
            <a:r>
              <a:rPr lang="en-US" dirty="0">
                <a:effectLst/>
              </a:rPr>
              <a:t>Be truthful; explain things related to the position and past experiences honestly.</a:t>
            </a:r>
          </a:p>
          <a:p>
            <a:r>
              <a:rPr lang="en-US" dirty="0">
                <a:effectLst/>
              </a:rPr>
              <a:t>If a question covers your weak area, admit it and show willingness to learn or up‑skill.</a:t>
            </a:r>
          </a:p>
          <a:p>
            <a:r>
              <a:rPr lang="en-US" dirty="0">
                <a:effectLst/>
              </a:rPr>
              <a:t>Never interrupt the interviewer; be a patient listener and a good speaker.</a:t>
            </a:r>
          </a:p>
          <a:p>
            <a:r>
              <a:rPr lang="en-US" dirty="0">
                <a:effectLst/>
              </a:rPr>
              <a:t>Thank everyone and take all belongings before leaving quietly.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7369142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6D0F2D-4D8E-E57C-10DD-F0BCB38577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10EDF71-C899-9748-A228-B45B887E5F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525" y="285750"/>
            <a:ext cx="9134475" cy="823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9B5D2A6-2CDD-01F2-9652-65822CD0BE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3234" y="473472"/>
            <a:ext cx="7886700" cy="994172"/>
          </a:xfrm>
        </p:spPr>
        <p:txBody>
          <a:bodyPr>
            <a:normAutofit fontScale="90000"/>
          </a:bodyPr>
          <a:lstStyle/>
          <a:p>
            <a:r>
              <a:rPr lang="en-IN" b="1" dirty="0">
                <a:effectLst/>
              </a:rPr>
              <a:t>After the Interview</a:t>
            </a:r>
            <a:br>
              <a:rPr lang="en-IN" dirty="0">
                <a:effectLst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2321B7-F6BB-8947-35D0-06723FAEF5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effectLst/>
              </a:rPr>
              <a:t>Reflect on your performance.</a:t>
            </a:r>
          </a:p>
          <a:p>
            <a:r>
              <a:rPr lang="en-US" dirty="0">
                <a:effectLst/>
              </a:rPr>
              <a:t>Send a “thank you” note or email immediately after the interview.</a:t>
            </a:r>
          </a:p>
          <a:p>
            <a:r>
              <a:rPr lang="en-US" dirty="0">
                <a:effectLst/>
              </a:rPr>
              <a:t>Show understanding of process, courtesy, commitment to complete the process, and ability to communicate.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4776108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229D8B-E302-F8AB-BFF5-6442AF856C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060D2D0-3C8A-E25F-14DE-6FE8F1DE05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525" y="285750"/>
            <a:ext cx="9134475" cy="823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1C82802-5574-7CEC-ADB6-AAB13E2385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5" y="348650"/>
            <a:ext cx="7886700" cy="1325563"/>
          </a:xfrm>
        </p:spPr>
        <p:txBody>
          <a:bodyPr>
            <a:normAutofit/>
          </a:bodyPr>
          <a:lstStyle/>
          <a:p>
            <a:r>
              <a:rPr lang="en-US" sz="3600" b="1" dirty="0">
                <a:effectLst/>
              </a:rPr>
              <a:t>Open‑Ended Questions in Interviews</a:t>
            </a:r>
            <a:br>
              <a:rPr lang="en-US" dirty="0">
                <a:effectLst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CB66C6-CBCC-BFE9-E1E4-BB931C28C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771651"/>
            <a:ext cx="7886700" cy="3718322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>
                <a:effectLst/>
              </a:rPr>
              <a:t>Require more than one‑word answers; may be sentences, a list, or a longer response.</a:t>
            </a:r>
          </a:p>
          <a:p>
            <a:r>
              <a:rPr lang="en-US" dirty="0">
                <a:effectLst/>
              </a:rPr>
              <a:t>Examples:</a:t>
            </a:r>
          </a:p>
          <a:p>
            <a:pPr lvl="1"/>
            <a:r>
              <a:rPr lang="en-US" dirty="0">
                <a:effectLst/>
              </a:rPr>
              <a:t>How would you describe yourself?</a:t>
            </a:r>
          </a:p>
          <a:p>
            <a:pPr lvl="1"/>
            <a:r>
              <a:rPr lang="en-US" dirty="0">
                <a:effectLst/>
              </a:rPr>
              <a:t>What accomplishments are you particularly proud of?</a:t>
            </a:r>
          </a:p>
          <a:p>
            <a:pPr lvl="1"/>
            <a:r>
              <a:rPr lang="en-US" dirty="0">
                <a:effectLst/>
              </a:rPr>
              <a:t>What do you know about our company, industry and/or position?</a:t>
            </a:r>
          </a:p>
          <a:p>
            <a:pPr lvl="1"/>
            <a:r>
              <a:rPr lang="en-US" dirty="0">
                <a:effectLst/>
              </a:rPr>
              <a:t>Why should we hire you?</a:t>
            </a:r>
          </a:p>
          <a:p>
            <a:pPr lvl="1"/>
            <a:r>
              <a:rPr lang="en-US" dirty="0">
                <a:effectLst/>
              </a:rPr>
              <a:t>Where do you see yourself in two years?</a:t>
            </a:r>
          </a:p>
          <a:p>
            <a:pPr lvl="1"/>
            <a:r>
              <a:rPr lang="en-US" dirty="0">
                <a:effectLst/>
              </a:rPr>
              <a:t>How do you deal with conflict?</a:t>
            </a:r>
          </a:p>
          <a:p>
            <a:pPr lvl="1"/>
            <a:r>
              <a:rPr lang="en-US" dirty="0">
                <a:effectLst/>
              </a:rPr>
              <a:t>Give an example of a time your work was criticized in front of others. How did you respond? What did you learn?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6075880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C73C61-BB41-014C-B72C-69A9D56C92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DD011B1-AE20-3694-4A83-146E7B29EC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525" y="285750"/>
            <a:ext cx="9134475" cy="823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E4A2BCF-933C-0C5C-3ADF-B873576501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5" y="285750"/>
            <a:ext cx="7886700" cy="1325563"/>
          </a:xfrm>
        </p:spPr>
        <p:txBody>
          <a:bodyPr>
            <a:normAutofit/>
          </a:bodyPr>
          <a:lstStyle/>
          <a:p>
            <a:r>
              <a:rPr lang="en-US" sz="3600" b="1" dirty="0">
                <a:effectLst/>
              </a:rPr>
              <a:t>Close‑Ended Questions in Interviews</a:t>
            </a:r>
            <a:br>
              <a:rPr lang="en-US" sz="3600" dirty="0">
                <a:effectLst/>
              </a:rPr>
            </a:br>
            <a:endParaRPr lang="en-IN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90B90D-E693-209E-7C9E-1C47B398DB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2024314"/>
            <a:ext cx="7886700" cy="3465659"/>
          </a:xfrm>
        </p:spPr>
        <p:txBody>
          <a:bodyPr/>
          <a:lstStyle/>
          <a:p>
            <a:r>
              <a:rPr lang="en-US" dirty="0">
                <a:effectLst/>
              </a:rPr>
              <a:t>Can be answered by a simple “yes” or “no” or in one or two words.</a:t>
            </a:r>
          </a:p>
          <a:p>
            <a:r>
              <a:rPr lang="en-US" dirty="0">
                <a:effectLst/>
              </a:rPr>
              <a:t>Examples:</a:t>
            </a:r>
          </a:p>
          <a:p>
            <a:pPr lvl="1"/>
            <a:r>
              <a:rPr lang="en-US" dirty="0">
                <a:effectLst/>
              </a:rPr>
              <a:t>What is your best quality?</a:t>
            </a:r>
          </a:p>
          <a:p>
            <a:pPr lvl="1"/>
            <a:r>
              <a:rPr lang="en-US" dirty="0">
                <a:effectLst/>
              </a:rPr>
              <a:t>Do you have many friends?</a:t>
            </a:r>
          </a:p>
          <a:p>
            <a:pPr lvl="1"/>
            <a:r>
              <a:rPr lang="en-US" dirty="0">
                <a:effectLst/>
              </a:rPr>
              <a:t>Do you like reading?</a:t>
            </a:r>
          </a:p>
          <a:p>
            <a:pPr lvl="1"/>
            <a:r>
              <a:rPr lang="en-US" dirty="0">
                <a:effectLst/>
              </a:rPr>
              <a:t>When is your birthday?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4510504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328232-1593-B96E-C48F-83A794142E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BCA7C16-80B2-A663-BC2B-0AA1DF3DCD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525" y="285750"/>
            <a:ext cx="9134475" cy="823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E8AFA12-611C-50AF-5EE7-937208B4CC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effectLst/>
              </a:rPr>
              <a:t>Common Interview Errors</a:t>
            </a:r>
            <a:br>
              <a:rPr lang="en-IN" dirty="0">
                <a:effectLst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F47580-09AD-49ED-E041-FA071AEBA8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795714"/>
            <a:ext cx="7886700" cy="3694259"/>
          </a:xfrm>
        </p:spPr>
        <p:txBody>
          <a:bodyPr>
            <a:normAutofit fontScale="77500" lnSpcReduction="20000"/>
          </a:bodyPr>
          <a:lstStyle/>
          <a:p>
            <a:r>
              <a:rPr lang="en-US" dirty="0">
                <a:effectLst/>
              </a:rPr>
              <a:t>Reaching late: suggests poor time management and disrespect.</a:t>
            </a:r>
          </a:p>
          <a:p>
            <a:r>
              <a:rPr lang="en-US" dirty="0">
                <a:effectLst/>
              </a:rPr>
              <a:t>Poor dressing sense: not professional or appropriate to position.</a:t>
            </a:r>
          </a:p>
          <a:p>
            <a:r>
              <a:rPr lang="en-US" dirty="0">
                <a:effectLst/>
              </a:rPr>
              <a:t>Appearing disinterested: not showing interest through </a:t>
            </a:r>
            <a:r>
              <a:rPr lang="en-US" dirty="0" err="1">
                <a:effectLst/>
              </a:rPr>
              <a:t>behaviour</a:t>
            </a:r>
            <a:r>
              <a:rPr lang="en-US" dirty="0">
                <a:effectLst/>
              </a:rPr>
              <a:t> or intelligent questions.</a:t>
            </a:r>
          </a:p>
          <a:p>
            <a:r>
              <a:rPr lang="en-US" dirty="0">
                <a:effectLst/>
              </a:rPr>
              <a:t>Not bringing the Resumé: always carry copies even if interviewers have one.</a:t>
            </a:r>
          </a:p>
          <a:p>
            <a:r>
              <a:rPr lang="en-US" dirty="0">
                <a:effectLst/>
              </a:rPr>
              <a:t>Phone interfering: phone visible or checked during interview; should be switched off and kept aside.</a:t>
            </a:r>
          </a:p>
          <a:p>
            <a:r>
              <a:rPr lang="en-US" dirty="0">
                <a:effectLst/>
              </a:rPr>
              <a:t>False Resumé: adding false information; makes honest discussion difficult.</a:t>
            </a:r>
          </a:p>
          <a:p>
            <a:r>
              <a:rPr lang="en-US" dirty="0">
                <a:effectLst/>
              </a:rPr>
              <a:t>Lack of attention: not maintaining eye contact, not leaning forward, not listening with concentration.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7053297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7D3C27-740E-6185-6E62-1C8F5202B4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6CC9112-5BB5-5EE2-1015-5CB979A083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525" y="285750"/>
            <a:ext cx="9134475" cy="823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DFDD195-ED7E-4A8C-1A98-719D41AB0F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995" y="343818"/>
            <a:ext cx="7886700" cy="1325563"/>
          </a:xfrm>
        </p:spPr>
        <p:txBody>
          <a:bodyPr>
            <a:normAutofit/>
          </a:bodyPr>
          <a:lstStyle/>
          <a:p>
            <a:r>
              <a:rPr lang="en-IN" sz="3600" b="1" dirty="0">
                <a:effectLst/>
              </a:rPr>
              <a:t>Assessing Strengths for Interviews</a:t>
            </a:r>
            <a:br>
              <a:rPr lang="en-IN" sz="3600" dirty="0">
                <a:effectLst/>
              </a:rPr>
            </a:br>
            <a:endParaRPr lang="en-IN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9EEBCD-7E87-BC1B-F913-E4910E0D9F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699461"/>
            <a:ext cx="7886700" cy="3489158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b="1" dirty="0">
                <a:effectLst/>
              </a:rPr>
              <a:t>Strengths – Self‑Assessment:</a:t>
            </a:r>
            <a:r>
              <a:rPr lang="en-US" dirty="0">
                <a:effectLst/>
              </a:rPr>
              <a:t>​</a:t>
            </a:r>
            <a:br>
              <a:rPr lang="en-US" dirty="0">
                <a:effectLst/>
              </a:rPr>
            </a:br>
            <a:r>
              <a:rPr lang="en-US" dirty="0">
                <a:effectLst/>
              </a:rPr>
              <a:t>Make a list of personal skills/strengths and categorize:</a:t>
            </a:r>
          </a:p>
          <a:p>
            <a:r>
              <a:rPr lang="en-US" dirty="0">
                <a:effectLst/>
              </a:rPr>
              <a:t>Knowledge‑based skills: education and experience (computer skills, languages, degrees, training, technical ability).</a:t>
            </a:r>
          </a:p>
          <a:p>
            <a:r>
              <a:rPr lang="en-US" dirty="0">
                <a:effectLst/>
              </a:rPr>
              <a:t>Transferable skills: skills carried from job to job (communication, interpersonal, analytical problem‑solving, planning).</a:t>
            </a:r>
          </a:p>
          <a:p>
            <a:r>
              <a:rPr lang="en-US" dirty="0">
                <a:effectLst/>
              </a:rPr>
              <a:t>Personal traits: unique qualities (dependable, flexible, friendly, hard working, expressive, punctual, trustworthy, creative, honest, respectful).</a:t>
            </a:r>
          </a:p>
          <a:p>
            <a:r>
              <a:rPr lang="en-US" dirty="0">
                <a:effectLst/>
              </a:rPr>
              <a:t>Choose 3–5 strengths that match employer’s needs and prepare specific examples.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2468673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D02DC7-17CD-5E2B-5C16-B9E5D63D3D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85B4CCA-B98B-871B-9F8E-6C8240887B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525" y="285750"/>
            <a:ext cx="9134475" cy="823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A9071B9-4806-467E-90FD-6C885EA7EC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855" y="285750"/>
            <a:ext cx="7886700" cy="1325563"/>
          </a:xfrm>
        </p:spPr>
        <p:txBody>
          <a:bodyPr>
            <a:normAutofit/>
          </a:bodyPr>
          <a:lstStyle/>
          <a:p>
            <a:r>
              <a:rPr lang="en-IN" sz="3600" b="1" dirty="0">
                <a:effectLst/>
              </a:rPr>
              <a:t>Answering Strengths &amp; Weaknesses</a:t>
            </a:r>
            <a:br>
              <a:rPr lang="en-IN" sz="3600" dirty="0">
                <a:effectLst/>
              </a:rPr>
            </a:br>
            <a:endParaRPr lang="en-IN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230AF7-AF33-B9EB-5EC4-B75080CC44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976188"/>
            <a:ext cx="7886700" cy="3513785"/>
          </a:xfrm>
        </p:spPr>
        <p:txBody>
          <a:bodyPr>
            <a:normAutofit fontScale="77500" lnSpcReduction="20000"/>
          </a:bodyPr>
          <a:lstStyle/>
          <a:p>
            <a:r>
              <a:rPr lang="en-US" dirty="0">
                <a:effectLst/>
              </a:rPr>
              <a:t>Example: “As a manager at my previous job, I was able to turn around a negative working environment and develop a very supportive team. As far as weaknesses, I feel that my management skills could be stronger, and I am constantly working to improve.”</a:t>
            </a:r>
          </a:p>
          <a:p>
            <a:r>
              <a:rPr lang="en-US" dirty="0">
                <a:effectLst/>
              </a:rPr>
              <a:t>Interviewer is looking for a proper fit and forms a picture based on answers.</a:t>
            </a:r>
          </a:p>
          <a:p>
            <a:r>
              <a:rPr lang="en-US" dirty="0">
                <a:effectLst/>
              </a:rPr>
              <a:t>Focus energy on strengths and what you offer.</a:t>
            </a:r>
          </a:p>
          <a:p>
            <a:r>
              <a:rPr lang="en-US" dirty="0">
                <a:effectLst/>
              </a:rPr>
              <a:t>Acknowledge shortcomings and show you are working on them.</a:t>
            </a:r>
          </a:p>
          <a:p>
            <a:r>
              <a:rPr lang="en-US" dirty="0">
                <a:effectLst/>
              </a:rPr>
              <a:t>Job interviews are challenging; being prepared makes a difference.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5480569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B51754-BEBA-61F1-BC83-E760A9983A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E4234CA-5201-6DD2-6D5A-FFCCD54BB2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525" y="285750"/>
            <a:ext cx="9134475" cy="823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916862F-31DC-EBAA-82F7-C3BE082233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617" y="365126"/>
            <a:ext cx="7886700" cy="1325563"/>
          </a:xfrm>
        </p:spPr>
        <p:txBody>
          <a:bodyPr>
            <a:normAutofit/>
          </a:bodyPr>
          <a:lstStyle/>
          <a:p>
            <a:r>
              <a:rPr lang="en-IN" sz="4000" b="1" dirty="0">
                <a:effectLst/>
              </a:rPr>
              <a:t>Common Weaknesses Reported</a:t>
            </a:r>
            <a:br>
              <a:rPr lang="en-IN" sz="4000" dirty="0">
                <a:effectLst/>
              </a:rPr>
            </a:br>
            <a:endParaRPr lang="en-IN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7733C8-8961-6586-BC21-1AC0643500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916029"/>
            <a:ext cx="7886700" cy="3573944"/>
          </a:xfrm>
        </p:spPr>
        <p:txBody>
          <a:bodyPr>
            <a:normAutofit fontScale="62500" lnSpcReduction="20000"/>
          </a:bodyPr>
          <a:lstStyle/>
          <a:p>
            <a:r>
              <a:rPr lang="en-US" b="1" dirty="0">
                <a:effectLst/>
              </a:rPr>
              <a:t>Assessing Weaknesses (Examples):</a:t>
            </a:r>
            <a:r>
              <a:rPr lang="en-US" dirty="0">
                <a:effectLst/>
              </a:rPr>
              <a:t>​</a:t>
            </a:r>
          </a:p>
          <a:p>
            <a:r>
              <a:rPr lang="en-US" dirty="0">
                <a:effectLst/>
              </a:rPr>
              <a:t>Focus too much on details.</a:t>
            </a:r>
          </a:p>
          <a:p>
            <a:r>
              <a:rPr lang="en-US" dirty="0">
                <a:effectLst/>
              </a:rPr>
              <a:t>Hard time letting go of a project.</a:t>
            </a:r>
          </a:p>
          <a:p>
            <a:r>
              <a:rPr lang="en-US" dirty="0">
                <a:effectLst/>
              </a:rPr>
              <a:t>Difficulty in saying “no”.</a:t>
            </a:r>
          </a:p>
          <a:p>
            <a:r>
              <a:rPr lang="en-US" dirty="0">
                <a:effectLst/>
              </a:rPr>
              <a:t>Get impatient when projects go beyond deadlines.</a:t>
            </a:r>
          </a:p>
          <a:p>
            <a:r>
              <a:rPr lang="en-US" dirty="0">
                <a:effectLst/>
              </a:rPr>
              <a:t>Need more experience in a particular area.</a:t>
            </a:r>
          </a:p>
          <a:p>
            <a:r>
              <a:rPr lang="en-US" dirty="0">
                <a:effectLst/>
              </a:rPr>
              <a:t>Lack of confidence sometimes.</a:t>
            </a:r>
          </a:p>
          <a:p>
            <a:r>
              <a:rPr lang="en-US" dirty="0">
                <a:effectLst/>
              </a:rPr>
              <a:t>Trouble asking for help.</a:t>
            </a:r>
          </a:p>
          <a:p>
            <a:r>
              <a:rPr lang="en-US" dirty="0">
                <a:effectLst/>
              </a:rPr>
              <a:t>Difficulties working with certain personalities.</a:t>
            </a:r>
          </a:p>
          <a:p>
            <a:r>
              <a:rPr lang="en-US" dirty="0">
                <a:effectLst/>
              </a:rPr>
              <a:t>Difficulty maintaining healthy work/life balance.</a:t>
            </a:r>
          </a:p>
          <a:p>
            <a:r>
              <a:rPr lang="en-US" dirty="0">
                <a:effectLst/>
              </a:rPr>
              <a:t>Uncomfortable with ambiguity in the past.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2964714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73DB2A-159D-BB89-D0B2-0BEA26CE73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2F63885-6BE6-B775-0671-3F84D0992E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525" y="285750"/>
            <a:ext cx="9134475" cy="823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D2773B1-01E7-4161-9D8A-B91991566F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5" y="348650"/>
            <a:ext cx="7886700" cy="1325563"/>
          </a:xfrm>
        </p:spPr>
        <p:txBody>
          <a:bodyPr>
            <a:normAutofit/>
          </a:bodyPr>
          <a:lstStyle/>
          <a:p>
            <a:r>
              <a:rPr lang="en-US" sz="3200" b="1" dirty="0">
                <a:effectLst/>
              </a:rPr>
              <a:t>Job Simulation (Mock Interview): Meaning</a:t>
            </a:r>
            <a:br>
              <a:rPr lang="en-US" b="1" dirty="0">
                <a:effectLst/>
              </a:rPr>
            </a:b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977D5D-D892-6671-A4F2-3786F43D7A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2043955"/>
            <a:ext cx="7886700" cy="3263504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effectLst/>
              </a:rPr>
              <a:t>Simulation – Overview:</a:t>
            </a:r>
            <a:r>
              <a:rPr lang="en-US" dirty="0">
                <a:effectLst/>
              </a:rPr>
              <a:t>​</a:t>
            </a:r>
          </a:p>
          <a:p>
            <a:r>
              <a:rPr lang="en-US" dirty="0">
                <a:effectLst/>
              </a:rPr>
              <a:t>Job simulation is any task designed to give candidates an accurate preview of the role.</a:t>
            </a:r>
          </a:p>
          <a:p>
            <a:r>
              <a:rPr lang="en-US" dirty="0">
                <a:effectLst/>
              </a:rPr>
              <a:t>Shows what the job entails on a day‑to‑day basis.</a:t>
            </a:r>
          </a:p>
          <a:p>
            <a:r>
              <a:rPr lang="en-US" dirty="0">
                <a:effectLst/>
              </a:rPr>
              <a:t>Helps companies predict more accurately if a candidate will be successful if selected.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3025974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DCB35D-776F-C92E-94FD-7317A7D97C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C9CB6DE-8DA4-7E39-4F4D-338A0E2C70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525" y="285750"/>
            <a:ext cx="9134475" cy="823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72BAF1F-E20A-E944-A606-3E0D38DEBC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5" y="348650"/>
            <a:ext cx="7886700" cy="1325563"/>
          </a:xfrm>
        </p:spPr>
        <p:txBody>
          <a:bodyPr>
            <a:normAutofit/>
          </a:bodyPr>
          <a:lstStyle/>
          <a:p>
            <a:r>
              <a:rPr lang="en-IN" sz="4000" b="1" dirty="0">
                <a:effectLst/>
              </a:rPr>
              <a:t>Demonstrating an Ideal Interview</a:t>
            </a:r>
            <a:br>
              <a:rPr lang="en-IN" sz="4000" dirty="0">
                <a:effectLst/>
              </a:rPr>
            </a:br>
            <a:endParaRPr lang="en-IN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CCFC28-879A-45B4-36A7-CFA009AEED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916029"/>
            <a:ext cx="7886700" cy="3573944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>
                <a:effectLst/>
              </a:rPr>
              <a:t>Classroom Focus:</a:t>
            </a:r>
            <a:r>
              <a:rPr lang="en-US" dirty="0">
                <a:effectLst/>
              </a:rPr>
              <a:t>​</a:t>
            </a:r>
          </a:p>
          <a:p>
            <a:r>
              <a:rPr lang="en-US" dirty="0">
                <a:effectLst/>
              </a:rPr>
              <a:t>Simulation: practice interviews, role‑plays, mock interviews, skits.</a:t>
            </a:r>
          </a:p>
          <a:p>
            <a:r>
              <a:rPr lang="en-US" dirty="0">
                <a:effectLst/>
              </a:rPr>
              <a:t>Comment critically on simulated interviews.</a:t>
            </a:r>
          </a:p>
          <a:p>
            <a:r>
              <a:rPr lang="en-US" dirty="0">
                <a:effectLst/>
              </a:rPr>
              <a:t>Demonstrate an ideal interview using all skills learned: Resumé preparation, interview preparation, STAR answers, avoiding common errors.</a:t>
            </a:r>
          </a:p>
          <a:p>
            <a:pPr marL="0" indent="0">
              <a:buNone/>
            </a:pPr>
            <a:br>
              <a:rPr lang="en-US" dirty="0">
                <a:effectLst/>
              </a:rPr>
            </a:br>
            <a:endParaRPr lang="en-US" dirty="0">
              <a:effectLst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1031444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688A0A-B992-83E8-B7E2-E78925D76E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188434-54B0-2E3C-D7E9-7154277FE1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9807" y="2496516"/>
            <a:ext cx="4581024" cy="994172"/>
          </a:xfrm>
        </p:spPr>
        <p:txBody>
          <a:bodyPr>
            <a:normAutofit/>
          </a:bodyPr>
          <a:lstStyle/>
          <a:p>
            <a:r>
              <a:rPr lang="en-IN" sz="6000" dirty="0"/>
              <a:t>THANK YOU!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674F837-DDF6-F491-9EF9-841D49F69B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525" y="285750"/>
            <a:ext cx="9134475" cy="823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4091679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179</TotalTime>
  <Words>2452</Words>
  <Application>Microsoft Office PowerPoint</Application>
  <PresentationFormat>On-screen Show (4:3)</PresentationFormat>
  <Paragraphs>233</Paragraphs>
  <Slides>36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1" baseType="lpstr">
      <vt:lpstr>Arial</vt:lpstr>
      <vt:lpstr>Calibri</vt:lpstr>
      <vt:lpstr>Calibri Light</vt:lpstr>
      <vt:lpstr>Times New Roman</vt:lpstr>
      <vt:lpstr>Office Theme</vt:lpstr>
      <vt:lpstr>PowerPoint Presentation</vt:lpstr>
      <vt:lpstr>What is a Resumé? </vt:lpstr>
      <vt:lpstr>What Is a Curriculum Vitae (CV)? </vt:lpstr>
      <vt:lpstr>What Is Biodata? </vt:lpstr>
      <vt:lpstr>CV, Resumé, Biodata: Usage </vt:lpstr>
      <vt:lpstr>CV, Resumé, Biodata: Difference </vt:lpstr>
      <vt:lpstr>Importance of a Good Resumé </vt:lpstr>
      <vt:lpstr>Essential Structure of a Good Resumé </vt:lpstr>
      <vt:lpstr>Principal Areas: Contact Information </vt:lpstr>
      <vt:lpstr>Principle Areas: Career Objective</vt:lpstr>
      <vt:lpstr>Principal Areas: Education &amp; Training </vt:lpstr>
      <vt:lpstr>Principle Areas: Technical Skills and Soft Skills</vt:lpstr>
      <vt:lpstr>Principle Areas: Projects/Internships</vt:lpstr>
      <vt:lpstr>Additional Components (Optional)</vt:lpstr>
      <vt:lpstr>Common Resumé Errors </vt:lpstr>
      <vt:lpstr>Resumé Preparation Guidelines </vt:lpstr>
      <vt:lpstr>Sample Resumé (Template) </vt:lpstr>
      <vt:lpstr>Introducing Interview Skills </vt:lpstr>
      <vt:lpstr>Meaning of Interview </vt:lpstr>
      <vt:lpstr>Types of Interviews </vt:lpstr>
      <vt:lpstr>STAR Approach: Overview </vt:lpstr>
      <vt:lpstr>STAR in Behavioural Interviews </vt:lpstr>
      <vt:lpstr>Interview Procedure: Overview </vt:lpstr>
      <vt:lpstr>Before the Interview (Do’s) </vt:lpstr>
      <vt:lpstr>During the Interview (Do’s) </vt:lpstr>
      <vt:lpstr>During the Interview (More Do’s &amp; Don’ts) </vt:lpstr>
      <vt:lpstr>After the Interview </vt:lpstr>
      <vt:lpstr>Open‑Ended Questions in Interviews </vt:lpstr>
      <vt:lpstr>Close‑Ended Questions in Interviews </vt:lpstr>
      <vt:lpstr>Common Interview Errors </vt:lpstr>
      <vt:lpstr>Assessing Strengths for Interviews </vt:lpstr>
      <vt:lpstr>Answering Strengths &amp; Weaknesses </vt:lpstr>
      <vt:lpstr>Common Weaknesses Reported </vt:lpstr>
      <vt:lpstr>Job Simulation (Mock Interview): Meaning </vt:lpstr>
      <vt:lpstr>Demonstrating an Ideal Interview 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Geetika Khatri</dc:creator>
  <cp:lastModifiedBy>Geetika Khatri</cp:lastModifiedBy>
  <cp:revision>9</cp:revision>
  <dcterms:created xsi:type="dcterms:W3CDTF">2026-02-02T08:33:43Z</dcterms:created>
  <dcterms:modified xsi:type="dcterms:W3CDTF">2026-02-03T05:17:14Z</dcterms:modified>
</cp:coreProperties>
</file>