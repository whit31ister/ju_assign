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81" r:id="rId2"/>
    <p:sldId id="259" r:id="rId3"/>
    <p:sldId id="28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6" r:id="rId15"/>
    <p:sldId id="317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0000"/>
    <a:srgbClr val="260000"/>
    <a:srgbClr val="000066"/>
    <a:srgbClr val="006600"/>
    <a:srgbClr val="FF3399"/>
    <a:srgbClr val="33CCFF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86092" autoAdjust="0"/>
  </p:normalViewPr>
  <p:slideViewPr>
    <p:cSldViewPr>
      <p:cViewPr varScale="1">
        <p:scale>
          <a:sx n="85" d="100"/>
          <a:sy n="85" d="100"/>
        </p:scale>
        <p:origin x="15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1F97CC94-77CE-46D8-BBD2-3A9CB870576E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AA33767F-25E3-46D9-93B5-7A0FA54E6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9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8FFC1C1-C5D8-4A0F-A5B5-28FE1899DDE3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D2B828A-C779-4795-8183-D9758A5B6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89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308B30-E594-431C-8FCD-89CB4F3BE307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03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z="90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28C9E8-8983-40F2-9C10-92D7F634181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70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3400" y="1371600"/>
            <a:ext cx="7924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" descr="JU_PPT-template_option1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41" y="0"/>
            <a:ext cx="93924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2" descr="D:\job\jecrc\images for ppt\slide1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-1195388"/>
            <a:ext cx="2632075" cy="239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TextBox 5"/>
          <p:cNvSpPr txBox="1">
            <a:spLocks noChangeArrowheads="1"/>
          </p:cNvSpPr>
          <p:nvPr/>
        </p:nvSpPr>
        <p:spPr bwMode="auto">
          <a:xfrm>
            <a:off x="228600" y="1447800"/>
            <a:ext cx="8915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tabLst>
                <a:tab pos="2159000" algn="l"/>
              </a:tabLst>
              <a:defRPr/>
            </a:pPr>
            <a:r>
              <a:rPr 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Professional Skills</a:t>
            </a:r>
          </a:p>
          <a:p>
            <a:pPr marL="457200" indent="-457200" algn="ctr">
              <a:tabLst>
                <a:tab pos="2159000" algn="l"/>
              </a:tabLst>
              <a:defRPr/>
            </a:pPr>
            <a:r>
              <a:rPr 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Semester - II</a:t>
            </a:r>
          </a:p>
          <a:p>
            <a:pPr marL="457200" indent="-457200" algn="ctr">
              <a:tabLst>
                <a:tab pos="2159000" algn="l"/>
              </a:tabLst>
              <a:defRPr/>
            </a:pPr>
            <a:r>
              <a:rPr 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Unit- IV</a:t>
            </a:r>
          </a:p>
          <a:p>
            <a:pPr marL="457200" indent="-457200" algn="ctr">
              <a:tabLst>
                <a:tab pos="2159000" algn="l"/>
              </a:tabLst>
              <a:defRPr/>
            </a:pPr>
            <a:r>
              <a:rPr 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Arial" pitchFamily="34" charset="0"/>
              </a:rPr>
              <a:t>Presentation Skills &amp;</a:t>
            </a:r>
          </a:p>
          <a:p>
            <a:pPr marL="457200" indent="-457200" algn="ctr">
              <a:tabLst>
                <a:tab pos="2159000" algn="l"/>
              </a:tabLst>
              <a:defRPr/>
            </a:pPr>
            <a:r>
              <a:rPr 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Arial" pitchFamily="34" charset="0"/>
              </a:rPr>
              <a:t>Internal Communication</a:t>
            </a:r>
            <a:endParaRPr lang="en-US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3467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3" descr="D:\job\jecrc\images for ppt\slide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5200" y="5410200"/>
            <a:ext cx="2305051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Contents</a:t>
            </a:r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539552" y="2743200"/>
            <a:ext cx="7772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TextBox 5"/>
          <p:cNvSpPr txBox="1">
            <a:spLocks noChangeArrowheads="1"/>
          </p:cNvSpPr>
          <p:nvPr/>
        </p:nvSpPr>
        <p:spPr bwMode="auto">
          <a:xfrm>
            <a:off x="2057400" y="228600"/>
            <a:ext cx="35718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61859"/>
            <a:ext cx="67818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Meaning of Presentation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Types of Presentations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Presentation for Internal and External Communication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Presentation Strategies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Meaning of Internal Communication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Need for Internal Communication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Use of Various Channels of Transmitting Information to Team   Members including Digital and Physical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7AF7-3CC4-581C-27A5-1C99C0B2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E0CB-0ED9-6E02-8FBF-C05B0D885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848600" cy="571500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A presentation is a means of communication adapted to various speaking situations such as presenting in a seminar or conference, talking to a group (small or large), addressing a meeting or briefing a team, speaking at a formal or informal gathering, and many more</a:t>
            </a:r>
            <a:r>
              <a:rPr lang="en-IN" sz="2000" dirty="0"/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Every organization or institution needs to disseminate information among its members</a:t>
            </a:r>
            <a:r>
              <a:rPr lang="en-IN" sz="2000" dirty="0"/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Careful thought and preparation are required for an effective presentation.</a:t>
            </a:r>
            <a:r>
              <a:rPr lang="en-IN" sz="2000" dirty="0"/>
              <a:t> </a:t>
            </a:r>
            <a:br>
              <a:rPr lang="en-IN" sz="2000" dirty="0"/>
            </a:br>
            <a:br>
              <a:rPr lang="en-IN" sz="2000" dirty="0"/>
            </a:br>
            <a:endParaRPr lang="en-US" sz="2000" u="sng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36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Presentations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basic types of presentations- 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i</a:t>
            </a:r>
            <a:r>
              <a:rPr lang="en-IN" dirty="0"/>
              <a:t>). </a:t>
            </a:r>
            <a:r>
              <a:rPr lang="en-IN" b="1" dirty="0"/>
              <a:t>Informative presentations:</a:t>
            </a:r>
            <a:r>
              <a:rPr lang="en-IN" dirty="0"/>
              <a:t> The purpose of informative presentations is to promote understanding of an idea or to convey information. They are often used to provide information about a concept or idea that is new to them. </a:t>
            </a:r>
            <a:br>
              <a:rPr lang="en-IN" dirty="0"/>
            </a:br>
            <a:r>
              <a:rPr lang="en-IN" dirty="0"/>
              <a:t>    ii). </a:t>
            </a:r>
            <a:r>
              <a:rPr lang="en-IN" b="1" dirty="0"/>
              <a:t>Persuasive presentations</a:t>
            </a:r>
            <a:r>
              <a:rPr lang="en-IN" dirty="0"/>
              <a:t>: A persuasive presentation is used to influence a change in the belief, attitude, or behaviour of another person when that person has some degree of free choice.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80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for Internal and External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Presentation for internal communication: </a:t>
            </a:r>
            <a:r>
              <a:rPr lang="en-IN" sz="1800" dirty="0"/>
              <a:t>It is the sharing of information, knowledge, ideas, and beliefs among the members of any organization/institution.</a:t>
            </a:r>
          </a:p>
          <a:p>
            <a:r>
              <a:rPr lang="en-IN" sz="1800" b="1" dirty="0"/>
              <a:t>Presentation for external communication: </a:t>
            </a:r>
            <a:r>
              <a:rPr lang="en-IN" sz="1800" dirty="0"/>
              <a:t>Used to inform the public about new products, services, personnel changes, company events, and brand building. External communication is the transmission of information between two organizations. It also occurs between a businessman and another person outside the company such as clients, dealers, customers, government officials or other authorities. Even a customer’s feedback is an external communication.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982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Strategies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Preparation of a presentation requires certain skills such as:</a:t>
            </a:r>
          </a:p>
          <a:p>
            <a:r>
              <a:rPr lang="en-IN" b="1" dirty="0"/>
              <a:t>Knowing the Purpose: </a:t>
            </a:r>
            <a:r>
              <a:rPr lang="en-IN" dirty="0"/>
              <a:t>Write the purpose or objective of the presentation in a single concise statement</a:t>
            </a:r>
            <a:r>
              <a:rPr lang="en-IN" sz="2000" dirty="0"/>
              <a:t>. </a:t>
            </a:r>
            <a:r>
              <a:rPr lang="en-IN" dirty="0"/>
              <a:t>The basis of the objective and the level of the content depend on the duration of the presentation and the background knowledge of the audience.</a:t>
            </a:r>
            <a:endParaRPr lang="en-IN" sz="2000" dirty="0"/>
          </a:p>
          <a:p>
            <a:r>
              <a:rPr lang="en-IN" b="1" dirty="0"/>
              <a:t>Knowing the Audience: </a:t>
            </a:r>
            <a:r>
              <a:rPr lang="en-IN" dirty="0"/>
              <a:t>The nature of the audience may be summarized as:</a:t>
            </a:r>
          </a:p>
          <a:p>
            <a:pPr marL="0" indent="0">
              <a:buNone/>
            </a:pPr>
            <a:r>
              <a:rPr lang="en-IN" sz="2000" dirty="0" err="1"/>
              <a:t>i</a:t>
            </a:r>
            <a:r>
              <a:rPr lang="en-IN" sz="2000" dirty="0"/>
              <a:t>). </a:t>
            </a:r>
            <a:r>
              <a:rPr lang="en-IN" sz="2000" b="1" dirty="0"/>
              <a:t>Auditory Learners</a:t>
            </a:r>
            <a:r>
              <a:rPr lang="en-IN" sz="2000" dirty="0"/>
              <a:t>: Learn through words and sounds.</a:t>
            </a:r>
          </a:p>
          <a:p>
            <a:pPr marL="0" indent="0">
              <a:buNone/>
            </a:pPr>
            <a:br>
              <a:rPr lang="en-IN" sz="2000" dirty="0"/>
            </a:br>
            <a:br>
              <a:rPr lang="en-IN" sz="2000" dirty="0"/>
            </a:b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5941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ii). </a:t>
            </a:r>
            <a:r>
              <a:rPr lang="en-IN" sz="2000" b="1" dirty="0"/>
              <a:t>Visual learners: </a:t>
            </a:r>
            <a:r>
              <a:rPr lang="en-IN" sz="2000" dirty="0"/>
              <a:t>Learn through images and illustrations.</a:t>
            </a:r>
          </a:p>
          <a:p>
            <a:pPr marL="0" indent="0">
              <a:buNone/>
            </a:pPr>
            <a:r>
              <a:rPr lang="en-IN" sz="2000" dirty="0"/>
              <a:t>iii). </a:t>
            </a:r>
            <a:r>
              <a:rPr lang="en-IN" sz="2000" b="1" dirty="0" err="1"/>
              <a:t>Kinesthetic</a:t>
            </a:r>
            <a:r>
              <a:rPr lang="en-IN" sz="2000" b="1" dirty="0"/>
              <a:t> learners: </a:t>
            </a:r>
            <a:r>
              <a:rPr lang="en-IN" sz="2000" dirty="0"/>
              <a:t>Learn through feeling and doing.</a:t>
            </a:r>
          </a:p>
          <a:p>
            <a:r>
              <a:rPr lang="en-IN" sz="2000" b="1" dirty="0"/>
              <a:t>Using Presentation Tools:</a:t>
            </a:r>
            <a:r>
              <a:rPr lang="en-IN" sz="2000" dirty="0"/>
              <a:t> Tools may be audio and/or a video clip, animation, flip charts, posters, photographs, slides, collages, etc. to emphasize the main ideas, illustrate a concept, or stimulate the interest of the audience.</a:t>
            </a:r>
          </a:p>
          <a:p>
            <a:r>
              <a:rPr lang="en-IN" sz="2000" dirty="0"/>
              <a:t>Try to observe the seven-by-seven rule: On an overhead slide should have no more than seven lines and seven words per line. Use a simple typeface or font. For a projected overhead or slide, use fonts between 20 and 48 points. Don’t just read the text on the slide but add on to it.</a:t>
            </a: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1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/>
          <a:lstStyle/>
          <a:p>
            <a:r>
              <a:rPr lang="en-IN" b="1" dirty="0"/>
              <a:t>Handling Questions: </a:t>
            </a:r>
            <a:r>
              <a:rPr lang="en-IN" dirty="0"/>
              <a:t>Generally, there is a question-and-answer session at the end of presentation. Prepare well in advance.</a:t>
            </a:r>
          </a:p>
          <a:p>
            <a:r>
              <a:rPr lang="en-IN" b="1" dirty="0"/>
              <a:t>Presentation to Heterogenic group: </a:t>
            </a:r>
            <a:r>
              <a:rPr lang="en-IN" dirty="0"/>
              <a:t>The audience may vary in age, sex, ethnic group, caste, socio-cultural and economic backgrounds. The presenter should have knowledge about the audience to develop a presentation and accommodate a divergent audience. 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81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5" y="1524000"/>
            <a:ext cx="8991600" cy="6781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Tips for opening and closing of a presentation:</a:t>
            </a:r>
          </a:p>
          <a:p>
            <a:r>
              <a:rPr lang="en-IN" sz="2000" dirty="0"/>
              <a:t>Make the introduction relevant to the goals, values, and needs of the audience</a:t>
            </a:r>
          </a:p>
          <a:p>
            <a:r>
              <a:rPr lang="en-IN" sz="2000" dirty="0"/>
              <a:t>Make some illustrations</a:t>
            </a:r>
          </a:p>
          <a:p>
            <a:r>
              <a:rPr lang="en-IN" sz="2000" dirty="0"/>
              <a:t>Stimulate thinking by asking questions </a:t>
            </a:r>
          </a:p>
          <a:p>
            <a:r>
              <a:rPr lang="en-IN" sz="2000" dirty="0"/>
              <a:t>Share a personal experience</a:t>
            </a:r>
          </a:p>
          <a:p>
            <a:r>
              <a:rPr lang="en-IN" sz="2000" dirty="0"/>
              <a:t>Begin with an anecdote</a:t>
            </a:r>
          </a:p>
          <a:p>
            <a:r>
              <a:rPr lang="en-IN" sz="2000" dirty="0"/>
              <a:t>Project a cartoon or colourful visual</a:t>
            </a:r>
          </a:p>
          <a:p>
            <a:r>
              <a:rPr lang="en-IN" sz="2000" dirty="0"/>
              <a:t>Make a stimulating or inspirational statement </a:t>
            </a:r>
          </a:p>
          <a:p>
            <a:r>
              <a:rPr lang="en-IN" sz="2000" dirty="0"/>
              <a:t>Give a unique demonstration </a:t>
            </a:r>
            <a:br>
              <a:rPr lang="en-IN" dirty="0"/>
            </a:br>
            <a:r>
              <a:rPr lang="en-IN" sz="2000" dirty="0"/>
              <a:t>In the conclusion, reinforce the main ideas of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046019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Internal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</a:t>
            </a:r>
            <a:r>
              <a:rPr lang="en-IN" b="1" dirty="0"/>
              <a:t> </a:t>
            </a:r>
            <a:r>
              <a:rPr lang="en-IN" dirty="0"/>
              <a:t>transmission of information within an organization is known as internal communication.</a:t>
            </a:r>
          </a:p>
          <a:p>
            <a:r>
              <a:rPr lang="en-IN" dirty="0"/>
              <a:t>It is the sharing of information, knowledge, ideas, and beliefs between the members of the organization or institution and is important for proper functioning of the organization.</a:t>
            </a:r>
          </a:p>
          <a:p>
            <a:r>
              <a:rPr lang="en-IN" dirty="0"/>
              <a:t>Internal communication can be formal or informal depending whether the communication is between colleagues or seniors/juniors.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993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 conditions for effective internal communication are:</a:t>
            </a:r>
          </a:p>
          <a:p>
            <a:r>
              <a:rPr lang="en-IN" sz="2000" b="1" dirty="0"/>
              <a:t> </a:t>
            </a:r>
            <a:r>
              <a:rPr lang="en-IN" sz="2000" dirty="0"/>
              <a:t>There should be an open and clear reason for communication. </a:t>
            </a:r>
          </a:p>
          <a:p>
            <a:r>
              <a:rPr lang="en-IN" sz="2000" dirty="0"/>
              <a:t>There should be an understanding of the need of the employees. </a:t>
            </a:r>
          </a:p>
          <a:p>
            <a:r>
              <a:rPr lang="en-IN" sz="2000" dirty="0"/>
              <a:t>Communication should be consistent and regular.</a:t>
            </a:r>
          </a:p>
          <a:p>
            <a:r>
              <a:rPr lang="en-IN" sz="2000" dirty="0"/>
              <a:t>The language of communication should be clear, to the point, and brief. </a:t>
            </a:r>
          </a:p>
          <a:p>
            <a:r>
              <a:rPr lang="en-IN" sz="2000" dirty="0"/>
              <a:t>Two-way communication should be allowed.</a:t>
            </a:r>
          </a:p>
          <a:p>
            <a:r>
              <a:rPr lang="en-IN" sz="2000" dirty="0"/>
              <a:t>The use of vocabulary should be good.</a:t>
            </a: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774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Internal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102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The role of internal communication is as follows:</a:t>
            </a:r>
            <a:r>
              <a:rPr lang="en-IN" sz="1600" b="1" dirty="0"/>
              <a:t> </a:t>
            </a:r>
          </a:p>
          <a:p>
            <a:r>
              <a:rPr lang="en-IN" dirty="0"/>
              <a:t>Increases productivity.</a:t>
            </a:r>
            <a:endParaRPr lang="en-IN" sz="1600" dirty="0"/>
          </a:p>
          <a:p>
            <a:r>
              <a:rPr lang="en-IN" dirty="0"/>
              <a:t>Leads to effective and responsive customer service. </a:t>
            </a:r>
          </a:p>
          <a:p>
            <a:r>
              <a:rPr lang="en-IN" dirty="0"/>
              <a:t>Facilitates easy attainment of goals.</a:t>
            </a:r>
          </a:p>
          <a:p>
            <a:r>
              <a:rPr lang="en-IN" dirty="0"/>
              <a:t>Reduces day-to-day conflict between team members. </a:t>
            </a:r>
          </a:p>
          <a:p>
            <a:r>
              <a:rPr lang="en-IN" dirty="0"/>
              <a:t>Enables fast response.</a:t>
            </a:r>
          </a:p>
          <a:p>
            <a:r>
              <a:rPr lang="en-IN" dirty="0"/>
              <a:t>Helps in fast decision-making.</a:t>
            </a:r>
          </a:p>
          <a:p>
            <a:r>
              <a:rPr lang="en-IN" dirty="0"/>
              <a:t>Helps in motivating the employees</a:t>
            </a:r>
            <a:r>
              <a:rPr lang="en-IN" sz="1600" dirty="0"/>
              <a:t>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3492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Use of Various Channels of Transmitting Information to </a:t>
            </a:r>
            <a:br>
              <a:rPr lang="en-US" sz="2000" dirty="0"/>
            </a:br>
            <a:r>
              <a:rPr lang="en-US" sz="2000" dirty="0"/>
              <a:t>Team Members including Digital and Physical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Common Tools/ Techniques of Internal Communication are:</a:t>
            </a:r>
            <a:r>
              <a:rPr lang="en-IN" sz="2000" dirty="0"/>
              <a:t> </a:t>
            </a:r>
            <a:br>
              <a:rPr lang="en-IN" sz="1600" dirty="0"/>
            </a:br>
            <a:r>
              <a:rPr lang="en-IN" sz="2000" b="1" dirty="0" err="1"/>
              <a:t>i</a:t>
            </a:r>
            <a:r>
              <a:rPr lang="en-IN" sz="2000" b="1" dirty="0"/>
              <a:t>) Online Communication tools</a:t>
            </a:r>
          </a:p>
          <a:p>
            <a:r>
              <a:rPr lang="en-IN" sz="1800" dirty="0"/>
              <a:t>Webinar</a:t>
            </a:r>
          </a:p>
          <a:p>
            <a:r>
              <a:rPr lang="en-IN" sz="1800" dirty="0"/>
              <a:t>Skype</a:t>
            </a:r>
          </a:p>
          <a:p>
            <a:r>
              <a:rPr lang="en-IN" sz="1800" dirty="0"/>
              <a:t>Zoom</a:t>
            </a:r>
          </a:p>
          <a:p>
            <a:r>
              <a:rPr lang="en-IN" sz="1800" dirty="0"/>
              <a:t>Google hangout </a:t>
            </a:r>
          </a:p>
          <a:p>
            <a:r>
              <a:rPr lang="en-IN" sz="1800" dirty="0"/>
              <a:t>Facebook </a:t>
            </a:r>
          </a:p>
          <a:p>
            <a:r>
              <a:rPr lang="en-IN" sz="1800" dirty="0"/>
              <a:t>WhatsApp </a:t>
            </a:r>
          </a:p>
          <a:p>
            <a:r>
              <a:rPr lang="en-IN" sz="1800" dirty="0"/>
              <a:t>Company blogs </a:t>
            </a:r>
          </a:p>
          <a:p>
            <a:r>
              <a:rPr lang="en-IN" sz="1800" dirty="0"/>
              <a:t>Twitter</a:t>
            </a:r>
          </a:p>
          <a:p>
            <a:r>
              <a:rPr lang="en-IN" sz="1800" dirty="0"/>
              <a:t>E-mails within an organization </a:t>
            </a: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884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ii). </a:t>
            </a:r>
            <a:r>
              <a:rPr lang="en-IN" b="1" dirty="0"/>
              <a:t>Offline Communication</a:t>
            </a:r>
          </a:p>
          <a:p>
            <a:r>
              <a:rPr lang="en-IN" dirty="0"/>
              <a:t>Group meetings</a:t>
            </a:r>
          </a:p>
          <a:p>
            <a:r>
              <a:rPr lang="en-IN" dirty="0"/>
              <a:t>Employee training within an organization</a:t>
            </a:r>
          </a:p>
          <a:p>
            <a:r>
              <a:rPr lang="en-IN" dirty="0"/>
              <a:t>Personal meetings</a:t>
            </a:r>
          </a:p>
          <a:p>
            <a:r>
              <a:rPr lang="en-IN" dirty="0"/>
              <a:t>Telephonic conversation between employees</a:t>
            </a:r>
          </a:p>
          <a:p>
            <a:r>
              <a:rPr lang="en-IN" dirty="0"/>
              <a:t>Inquiry of employee</a:t>
            </a:r>
          </a:p>
          <a:p>
            <a:r>
              <a:rPr lang="en-IN" dirty="0"/>
              <a:t>Staff communication through circulars/notices/memos</a:t>
            </a:r>
          </a:p>
          <a:p>
            <a:r>
              <a:rPr lang="en-IN" dirty="0"/>
              <a:t>Company newsletter.</a:t>
            </a:r>
          </a:p>
        </p:txBody>
      </p:sp>
    </p:spTree>
    <p:extLst>
      <p:ext uri="{BB962C8B-B14F-4D97-AF65-F5344CB8AC3E}">
        <p14:creationId xmlns:p14="http://schemas.microsoft.com/office/powerpoint/2010/main" val="3256041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>
                <a:highlight>
                  <a:srgbClr val="FFFFFF"/>
                </a:highligh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855145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5715</TotalTime>
  <Words>970</Words>
  <Application>Microsoft Office PowerPoint</Application>
  <PresentationFormat>On-screen Show (4:3)</PresentationFormat>
  <Paragraphs>95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1_Office Theme</vt:lpstr>
      <vt:lpstr>PowerPoint Presentation</vt:lpstr>
      <vt:lpstr>Contents</vt:lpstr>
      <vt:lpstr>Meaning of Presentation</vt:lpstr>
      <vt:lpstr>Types of Presentations</vt:lpstr>
      <vt:lpstr>Presentation for Internal and External Communication</vt:lpstr>
      <vt:lpstr>Presentation Strategies</vt:lpstr>
      <vt:lpstr>Contd…</vt:lpstr>
      <vt:lpstr>Contd… </vt:lpstr>
      <vt:lpstr>Contd…</vt:lpstr>
      <vt:lpstr>Meaning of Internal Communication</vt:lpstr>
      <vt:lpstr>Contd…</vt:lpstr>
      <vt:lpstr>Need for Internal Communication</vt:lpstr>
      <vt:lpstr>Use of Various Channels of Transmitting Information to  Team Members including Digital and Physical</vt:lpstr>
      <vt:lpstr>Contd…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Rakesh Bhaskar</dc:creator>
  <cp:lastModifiedBy>Prashant Raj</cp:lastModifiedBy>
  <cp:revision>652</cp:revision>
  <cp:lastPrinted>2013-10-07T09:34:34Z</cp:lastPrinted>
  <dcterms:created xsi:type="dcterms:W3CDTF">2012-12-04T10:32:16Z</dcterms:created>
  <dcterms:modified xsi:type="dcterms:W3CDTF">2026-04-05T15:47:29Z</dcterms:modified>
</cp:coreProperties>
</file>