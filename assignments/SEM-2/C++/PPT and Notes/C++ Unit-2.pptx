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</p:sldIdLst>
  <p:sldSz cy="6858000" cx="9144000"/>
  <p:notesSz cx="6858000" cy="9144000"/>
  <p:embeddedFontLst>
    <p:embeddedFont>
      <p:font typeface="Libre Baskerville"/>
      <p:regular r:id="rId46"/>
      <p:bold r:id="rId47"/>
      <p:italic r:id="rId48"/>
    </p:embeddedFont>
    <p:embeddedFont>
      <p:font typeface="Helvetica Neue"/>
      <p:regular r:id="rId49"/>
      <p:bold r:id="rId50"/>
      <p:italic r:id="rId51"/>
      <p:boldItalic r:id="rId5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  <p:ext uri="GoogleSlidesCustomDataVersion2">
      <go:slidesCustomData xmlns:go="http://customooxmlschemas.google.com/" r:id="rId53" roundtripDataSignature="AMtx7mg2mHLO9rBxht64O7/7kfJzulz6w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notes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font" Target="fonts/LibreBaskerville-regular.fntdata"/><Relationship Id="rId45" Type="http://schemas.openxmlformats.org/officeDocument/2006/relationships/slide" Target="slides/slide40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font" Target="fonts/LibreBaskerville-italic.fntdata"/><Relationship Id="rId47" Type="http://schemas.openxmlformats.org/officeDocument/2006/relationships/font" Target="fonts/LibreBaskerville-bold.fntdata"/><Relationship Id="rId49" Type="http://schemas.openxmlformats.org/officeDocument/2006/relationships/font" Target="fonts/HelveticaNeue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font" Target="fonts/HelveticaNeue-italic.fntdata"/><Relationship Id="rId50" Type="http://schemas.openxmlformats.org/officeDocument/2006/relationships/font" Target="fonts/HelveticaNeue-bold.fntdata"/><Relationship Id="rId53" Type="http://customschemas.google.com/relationships/presentationmetadata" Target="metadata"/><Relationship Id="rId52" Type="http://schemas.openxmlformats.org/officeDocument/2006/relationships/font" Target="fonts/HelveticaNeue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2fc423d0b5_0_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2" name="Google Shape;102;g32fc423d0b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g32fc423d0b5_0_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2fc423d0b5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g32fc423d0b5_0_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2fc423d0b5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g32fc423d0b5_0_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2fc423d0b5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g32fc423d0b5_0_1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2fc423d0b5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g32fc423d0b5_0_2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2fc423d0b5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g32fc423d0b5_0_2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2fc423d0b5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g32fc423d0b5_0_3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2fc423d0b5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g32fc423d0b5_0_3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2fc423d0b5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g32fc423d0b5_0_4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2fc423d0b5_0_33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2fc423d0b5_0_3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g32fc423d0b5_0_33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2fc423d0b5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g32fc423d0b5_0_4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2fc423d0b5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g32fc423d0b5_0_5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2fc423d0b5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g32fc423d0b5_0_5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2fc423d0b5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g32fc423d0b5_0_6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2fc423d0b5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g32fc423d0b5_0_6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2fc423d0b5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g32fc423d0b5_0_7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2fc423d0b5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g32fc423d0b5_0_7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2fc423d0b5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g32fc423d0b5_0_8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2fc423d0b5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g32fc423d0b5_0_8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2fc423d0b5_0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g32fc423d0b5_0_9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2fc423d0b5_0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g32fc423d0b5_0_11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32fc423d0b5_0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g32fc423d0b5_0_12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2fc423d0b5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g32fc423d0b5_0_12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32fc423d0b5_0_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g32fc423d0b5_0_13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32fc423d0b5_0_1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g32fc423d0b5_0_15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32fc423d0b5_0_1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g32fc423d0b5_0_16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32fc423d0b5_0_1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g32fc423d0b5_0_16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32fc423d0b5_0_1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g32fc423d0b5_0_17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32fc423d0b5_0_1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g32fc423d0b5_0_17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32fc423d0b5_0_1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g32fc423d0b5_0_18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32fc423d0b5_0_1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g32fc423d0b5_0_18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32fc423d0b5_0_1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g32fc423d0b5_0_19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32fc423d0b5_0_1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g32fc423d0b5_0_19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32fc423d0b5_0_2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g32fc423d0b5_0_20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32fc423d0b5_0_2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g32fc423d0b5_0_2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32fc423d0b5_0_2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g32fc423d0b5_0_2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32fc423d0b5_0_2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g32fc423d0b5_0_22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g32fc423d0b5_0_2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g32fc423d0b5_0_22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g32fc423d0b5_0_2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g32fc423d0b5_0_23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g32fc423d0b5_0_2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g32fc423d0b5_0_23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2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" name="Google Shape;23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1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21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9" name="Google Shape;29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2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22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5" name="Google Shape;35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23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1" name="Google Shape;41;p23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2" name="Google Shape;42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4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8" name="Google Shape;48;p24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9" name="Google Shape;49;p24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0" name="Google Shape;50;p24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1" name="Google Shape;51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6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26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2" name="Google Shape;62;p26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3" name="Google Shape;63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7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27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9" name="Google Shape;69;p27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70" name="Google Shape;70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2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28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6" name="Google Shape;76;p2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9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29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2" name="Google Shape;82;p2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2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Custom Layout">
  <p:cSld name="2_Custom Layou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3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3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3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3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Custom Layout">
  <p:cSld name="1_Custom Layout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3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3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3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3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Custom Layout">
  <p:cSld name="3_Custom Layout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3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3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3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6" Type="http://schemas.openxmlformats.org/officeDocument/2006/relationships/theme" Target="../theme/theme2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" name="Google Shape;11;p1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JU_PPT-template_option1b.jpg" id="15" name="Google Shape;15;p18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</p:sldLayoutIdLst>
  <p:transition>
    <p:fade/>
  </p:transition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2fc423d0b5_0_0"/>
          <p:cNvSpPr txBox="1"/>
          <p:nvPr>
            <p:ph idx="1" type="subTitle"/>
          </p:nvPr>
        </p:nvSpPr>
        <p:spPr>
          <a:xfrm>
            <a:off x="2339752" y="1500174"/>
            <a:ext cx="6400800" cy="45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ct val="85000"/>
              <a:buNone/>
            </a:pPr>
            <a:r>
              <a:rPr lang="en-US" sz="4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Computer Programming in C++</a:t>
            </a:r>
            <a:br>
              <a:rPr lang="en-US" sz="4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4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580"/>
              </a:spcBef>
              <a:spcAft>
                <a:spcPts val="0"/>
              </a:spcAft>
              <a:buSzPct val="85000"/>
              <a:buNone/>
            </a:pPr>
            <a:r>
              <a:rPr lang="en-US" sz="4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Unit-II</a:t>
            </a:r>
            <a:endParaRPr/>
          </a:p>
          <a:p>
            <a:pPr indent="0" lvl="0" marL="0" rtl="0" algn="ctr">
              <a:spcBef>
                <a:spcPts val="580"/>
              </a:spcBef>
              <a:spcAft>
                <a:spcPts val="0"/>
              </a:spcAft>
              <a:buSzPct val="69062"/>
              <a:buNone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Variable</a:t>
            </a:r>
            <a:endParaRPr/>
          </a:p>
          <a:p>
            <a:pPr indent="0" lvl="0" marL="0" rtl="0" algn="ctr">
              <a:spcBef>
                <a:spcPts val="580"/>
              </a:spcBef>
              <a:spcAft>
                <a:spcPts val="0"/>
              </a:spcAft>
              <a:buSzPct val="69062"/>
              <a:buNone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Array and Strings</a:t>
            </a:r>
            <a:endParaRPr/>
          </a:p>
          <a:p>
            <a:pPr indent="0" lvl="0" marL="0" rtl="0" algn="ctr">
              <a:spcBef>
                <a:spcPts val="580"/>
              </a:spcBef>
              <a:spcAft>
                <a:spcPts val="0"/>
              </a:spcAft>
              <a:buSzPct val="69062"/>
              <a:buNone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Classes member functions</a:t>
            </a:r>
            <a:endParaRPr/>
          </a:p>
          <a:p>
            <a:pPr indent="0" lvl="0" marL="0" rtl="0" algn="ctr">
              <a:spcBef>
                <a:spcPts val="580"/>
              </a:spcBef>
              <a:spcAft>
                <a:spcPts val="0"/>
              </a:spcAft>
              <a:buSzPct val="69062"/>
              <a:buNone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Friend function</a:t>
            </a:r>
            <a:endParaRPr/>
          </a:p>
          <a:p>
            <a:pPr indent="0" lvl="0" marL="0" rtl="0" algn="ctr">
              <a:spcBef>
                <a:spcPts val="580"/>
              </a:spcBef>
              <a:spcAft>
                <a:spcPts val="0"/>
              </a:spcAft>
              <a:buSzPct val="46041"/>
              <a:buNone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Inline function</a:t>
            </a:r>
            <a:endParaRPr sz="4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6" name="Google Shape;106;g32fc423d0b5_0_0"/>
          <p:cNvSpPr txBox="1"/>
          <p:nvPr>
            <p:ph type="ctrTitle"/>
          </p:nvPr>
        </p:nvSpPr>
        <p:spPr>
          <a:xfrm>
            <a:off x="1371600" y="764704"/>
            <a:ext cx="7772400" cy="14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90909"/>
              <a:buFont typeface="Libre Franklin"/>
              <a:buNone/>
            </a:pPr>
            <a:br>
              <a:rPr lang="en-US"/>
            </a:br>
            <a:r>
              <a:rPr lang="en-US"/>
              <a:t>       </a:t>
            </a:r>
            <a:endParaRPr/>
          </a:p>
        </p:txBody>
      </p:sp>
      <p:pic>
        <p:nvPicPr>
          <p:cNvPr descr="logoHome.png" id="107" name="Google Shape;107;g32fc423d0b5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" y="0"/>
            <a:ext cx="2051721" cy="6858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2fc423d0b5_0_7"/>
          <p:cNvSpPr txBox="1"/>
          <p:nvPr>
            <p:ph type="title"/>
          </p:nvPr>
        </p:nvSpPr>
        <p:spPr>
          <a:xfrm>
            <a:off x="457200" y="-106362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Libre Franklin"/>
              <a:buNone/>
            </a:pP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Stored Data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g32fc423d0b5_0_7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127" lvl="0" marL="4762" rtl="0" algn="just"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Char char="•"/>
            </a:pPr>
            <a:r>
              <a:rPr i="1" lang="en-US" sz="2200">
                <a:latin typeface="Times New Roman"/>
                <a:ea typeface="Times New Roman"/>
                <a:cs typeface="Times New Roman"/>
                <a:sym typeface="Times New Roman"/>
              </a:rPr>
              <a:t>Variables</a:t>
            </a: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 (objects) must be declared as a certain type, e.g., int, float, char, …  This declaration may appear anywhere in the program, as long as it appears before the variable is first used.  The declaration creates the object.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27" lvl="0" marL="4762" rtl="0" algn="just">
              <a:spcBef>
                <a:spcPts val="580"/>
              </a:spcBef>
              <a:spcAft>
                <a:spcPts val="0"/>
              </a:spcAft>
              <a:buSzPts val="2200"/>
              <a:buFont typeface="Times New Roman"/>
              <a:buChar char="•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For the following declaration,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27" lvl="0" marL="4762" rtl="0" algn="just">
              <a:spcBef>
                <a:spcPts val="580"/>
              </a:spcBef>
              <a:spcAft>
                <a:spcPts val="0"/>
              </a:spcAft>
              <a:buSzPts val="2200"/>
              <a:buFont typeface="Times New Roman"/>
              <a:buChar char="•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int n; 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2fc423d0b5_0_12"/>
          <p:cNvSpPr txBox="1"/>
          <p:nvPr>
            <p:ph type="title"/>
          </p:nvPr>
        </p:nvSpPr>
        <p:spPr>
          <a:xfrm>
            <a:off x="0" y="150375"/>
            <a:ext cx="8229600" cy="915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Libre Franklin"/>
              <a:buNone/>
            </a:pP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Names (Identifiers)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9" name="Google Shape;119;g32fc423d0b5_0_12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5839" lvl="0" marL="7937" rtl="0" algn="just"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Char char="•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Variables and other program elements will have to have names.  Names should be meaningful to help document your program.  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123860" lvl="0" marL="7937" rtl="0" algn="just">
              <a:spcBef>
                <a:spcPts val="580"/>
              </a:spcBef>
              <a:spcAft>
                <a:spcPts val="0"/>
              </a:spcAft>
              <a:buSzPts val="2210"/>
              <a:buNone/>
            </a:pPr>
            <a:r>
              <a:t/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81292" lvl="1" marL="231775" rtl="0" algn="just">
              <a:spcBef>
                <a:spcPts val="370"/>
              </a:spcBef>
              <a:spcAft>
                <a:spcPts val="0"/>
              </a:spcAft>
              <a:buSzPts val="2200"/>
              <a:buFont typeface="Times New Roman"/>
              <a:buChar char="–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may use letters, digits, underscores. No spaces.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81292" lvl="1" marL="231775" rtl="0" algn="just">
              <a:spcBef>
                <a:spcPts val="370"/>
              </a:spcBef>
              <a:spcAft>
                <a:spcPts val="0"/>
              </a:spcAft>
              <a:buSzPts val="2200"/>
              <a:buFont typeface="Times New Roman"/>
              <a:buChar char="–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may not begin with a digit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81292" lvl="1" marL="231775" rtl="0" algn="just">
              <a:spcBef>
                <a:spcPts val="370"/>
              </a:spcBef>
              <a:spcAft>
                <a:spcPts val="0"/>
              </a:spcAft>
              <a:buSzPts val="2200"/>
              <a:buFont typeface="Times New Roman"/>
              <a:buChar char="–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may be any length but better if less than 31 characters long.  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81292" lvl="1" marL="231775" rtl="0" algn="just">
              <a:spcBef>
                <a:spcPts val="370"/>
              </a:spcBef>
              <a:spcAft>
                <a:spcPts val="0"/>
              </a:spcAft>
              <a:buSzPts val="2200"/>
              <a:buFont typeface="Times New Roman"/>
              <a:buChar char="–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C++ is case sensitive; upper and lower case letters are different.  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81292" lvl="1" marL="231775" rtl="0" algn="just">
              <a:spcBef>
                <a:spcPts val="370"/>
              </a:spcBef>
              <a:spcAft>
                <a:spcPts val="0"/>
              </a:spcAft>
              <a:buSzPts val="2200"/>
              <a:buFont typeface="Times New Roman"/>
              <a:buChar char="–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no reserved words (e.g., const, void, int, …).  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81292" lvl="1" marL="231775" rtl="0" algn="just">
              <a:spcBef>
                <a:spcPts val="370"/>
              </a:spcBef>
              <a:spcAft>
                <a:spcPts val="0"/>
              </a:spcAft>
              <a:buSzPts val="2200"/>
              <a:buFont typeface="Times New Roman"/>
              <a:buChar char="–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Avoid using names beginning with _ (underscore) or _ _ (double underscore). The C++ compiler uses names like that for special purposes.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2fc423d0b5_0_17"/>
          <p:cNvSpPr txBox="1"/>
          <p:nvPr>
            <p:ph type="title"/>
          </p:nvPr>
        </p:nvSpPr>
        <p:spPr>
          <a:xfrm>
            <a:off x="457200" y="274650"/>
            <a:ext cx="8229600" cy="721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Libre Franklin"/>
              <a:buNone/>
            </a:pP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Stream Input / Output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5" name="Google Shape;125;g32fc423d0b5_0_17"/>
          <p:cNvSpPr txBox="1"/>
          <p:nvPr>
            <p:ph idx="1" type="body"/>
          </p:nvPr>
        </p:nvSpPr>
        <p:spPr>
          <a:xfrm>
            <a:off x="457200" y="1410700"/>
            <a:ext cx="8229600" cy="47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3907" lvl="0" marL="274320" rtl="0" algn="just"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Char char="•"/>
            </a:pPr>
            <a:r>
              <a:rPr b="1" i="1" lang="en-US" sz="2200">
                <a:latin typeface="Times New Roman"/>
                <a:ea typeface="Times New Roman"/>
                <a:cs typeface="Times New Roman"/>
                <a:sym typeface="Times New Roman"/>
              </a:rPr>
              <a:t>cout &lt;&lt;  	//means “cout gets a value”</a:t>
            </a:r>
            <a:endParaRPr b="1" i="1"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3907" lvl="0" marL="274320" rtl="0" algn="just">
              <a:spcBef>
                <a:spcPts val="580"/>
              </a:spcBef>
              <a:spcAft>
                <a:spcPts val="0"/>
              </a:spcAft>
              <a:buSzPts val="2200"/>
              <a:buFont typeface="Times New Roman"/>
              <a:buChar char="•"/>
            </a:pPr>
            <a:r>
              <a:rPr b="1" i="1" lang="en-US" sz="2200">
                <a:latin typeface="Times New Roman"/>
                <a:ea typeface="Times New Roman"/>
                <a:cs typeface="Times New Roman"/>
                <a:sym typeface="Times New Roman"/>
              </a:rPr>
              <a:t>cin &gt;&gt; var	//means “cin gives a value to var”</a:t>
            </a:r>
            <a:endParaRPr b="1" i="1"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3907" lvl="0" marL="274320" rtl="0" algn="just">
              <a:spcBef>
                <a:spcPts val="580"/>
              </a:spcBef>
              <a:spcAft>
                <a:spcPts val="0"/>
              </a:spcAft>
              <a:buSzPts val="2200"/>
              <a:buFont typeface="Times New Roman"/>
              <a:buChar char="•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		//note: on execution press enter key to end input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3724" lvl="0" marL="274320" rtl="0" algn="just">
              <a:spcBef>
                <a:spcPts val="580"/>
              </a:spcBef>
              <a:spcAft>
                <a:spcPts val="0"/>
              </a:spcAft>
              <a:buSzPts val="2200"/>
              <a:buFont typeface="Times New Roman"/>
              <a:buChar char="•"/>
            </a:pPr>
            <a:r>
              <a:rPr b="1" i="1" lang="en-US" sz="2200">
                <a:latin typeface="Times New Roman"/>
                <a:ea typeface="Times New Roman"/>
                <a:cs typeface="Times New Roman"/>
                <a:sym typeface="Times New Roman"/>
              </a:rPr>
              <a:t>&gt;&gt;</a:t>
            </a: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 is the</a:t>
            </a:r>
            <a:r>
              <a:rPr i="1" lang="en-US" sz="2200">
                <a:latin typeface="Times New Roman"/>
                <a:ea typeface="Times New Roman"/>
                <a:cs typeface="Times New Roman"/>
                <a:sym typeface="Times New Roman"/>
              </a:rPr>
              <a:t> stream extraction operator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3724" lvl="0" marL="274320" rtl="0" algn="just">
              <a:spcBef>
                <a:spcPts val="580"/>
              </a:spcBef>
              <a:spcAft>
                <a:spcPts val="0"/>
              </a:spcAft>
              <a:buSzPts val="2200"/>
              <a:buFont typeface="Times New Roman"/>
              <a:buChar char="•"/>
            </a:pPr>
            <a:r>
              <a:rPr b="1" i="1" lang="en-US" sz="2200">
                <a:latin typeface="Times New Roman"/>
                <a:ea typeface="Times New Roman"/>
                <a:cs typeface="Times New Roman"/>
                <a:sym typeface="Times New Roman"/>
              </a:rPr>
              <a:t>&lt;&lt; </a:t>
            </a: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 is the </a:t>
            </a:r>
            <a:r>
              <a:rPr i="1" lang="en-US" sz="2200">
                <a:latin typeface="Times New Roman"/>
                <a:ea typeface="Times New Roman"/>
                <a:cs typeface="Times New Roman"/>
                <a:sym typeface="Times New Roman"/>
              </a:rPr>
              <a:t>stream insertion operator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48043" lvl="1" marL="548640" rtl="0" algn="just">
              <a:spcBef>
                <a:spcPts val="370"/>
              </a:spcBef>
              <a:spcAft>
                <a:spcPts val="0"/>
              </a:spcAft>
              <a:buSzPts val="2200"/>
              <a:buFont typeface="Times New Roman"/>
              <a:buChar char="–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The stream insertion operator “knows” how to output different types of data.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125533" lvl="0" marL="7937" rtl="0" algn="just">
              <a:spcBef>
                <a:spcPts val="580"/>
              </a:spcBef>
              <a:spcAft>
                <a:spcPts val="0"/>
              </a:spcAft>
              <a:buSzPts val="2210"/>
              <a:buNone/>
            </a:pPr>
            <a:r>
              <a:t/>
            </a:r>
            <a:endParaRPr i="1"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4166" lvl="0" marL="7937" rtl="0" algn="just">
              <a:spcBef>
                <a:spcPts val="580"/>
              </a:spcBef>
              <a:spcAft>
                <a:spcPts val="0"/>
              </a:spcAft>
              <a:buSzPts val="2200"/>
              <a:buFont typeface="Times New Roman"/>
              <a:buChar char="•"/>
            </a:pPr>
            <a:r>
              <a:rPr i="1" lang="en-US" sz="2200">
                <a:latin typeface="Times New Roman"/>
                <a:ea typeface="Times New Roman"/>
                <a:cs typeface="Times New Roman"/>
                <a:sym typeface="Times New Roman"/>
              </a:rPr>
              <a:t>Cascading stream insertion operators</a:t>
            </a: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 - using multiple stream insertion operators in a single statement. Also known as </a:t>
            </a:r>
            <a:r>
              <a:rPr i="1" lang="en-US" sz="2200">
                <a:latin typeface="Times New Roman"/>
                <a:ea typeface="Times New Roman"/>
                <a:cs typeface="Times New Roman"/>
                <a:sym typeface="Times New Roman"/>
              </a:rPr>
              <a:t>concatenating</a:t>
            </a: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 or </a:t>
            </a:r>
            <a:r>
              <a:rPr i="1" lang="en-US" sz="2200">
                <a:latin typeface="Times New Roman"/>
                <a:ea typeface="Times New Roman"/>
                <a:cs typeface="Times New Roman"/>
                <a:sym typeface="Times New Roman"/>
              </a:rPr>
              <a:t>chaining</a:t>
            </a: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, e.g.,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3724" lvl="0" marL="274320" rtl="0" algn="just">
              <a:spcBef>
                <a:spcPts val="580"/>
              </a:spcBef>
              <a:spcAft>
                <a:spcPts val="0"/>
              </a:spcAft>
              <a:buSzPts val="2200"/>
              <a:buFont typeface="Times New Roman"/>
              <a:buChar char="•"/>
            </a:pPr>
            <a:r>
              <a:rPr b="1" i="1" lang="en-US" sz="2200">
                <a:latin typeface="Times New Roman"/>
                <a:ea typeface="Times New Roman"/>
                <a:cs typeface="Times New Roman"/>
                <a:sym typeface="Times New Roman"/>
              </a:rPr>
              <a:t>cout &lt;&lt; “The answer is: ” &lt;&lt; result &lt;&lt; ".\n";</a:t>
            </a:r>
            <a:endParaRPr b="1" i="1" sz="2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2fc423d0b5_0_22"/>
          <p:cNvSpPr txBox="1"/>
          <p:nvPr>
            <p:ph type="title"/>
          </p:nvPr>
        </p:nvSpPr>
        <p:spPr>
          <a:xfrm>
            <a:off x="457200" y="274646"/>
            <a:ext cx="8229600" cy="790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Libre Franklin"/>
              <a:buNone/>
            </a:pP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About Data Types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1" name="Google Shape;131;g32fc423d0b5_0_22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16865" lvl="0" marL="274320" rtl="0" algn="just"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Char char="•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A data type is a template for 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1145" lvl="1" marL="548640" rtl="0" algn="just">
              <a:spcBef>
                <a:spcPts val="370"/>
              </a:spcBef>
              <a:spcAft>
                <a:spcPts val="0"/>
              </a:spcAft>
              <a:buSzPts val="2200"/>
              <a:buFont typeface="Times New Roman"/>
              <a:buChar char="–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how a particular set of values is represented in memory, and 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1145" lvl="1" marL="548640" rtl="0" algn="just">
              <a:spcBef>
                <a:spcPts val="370"/>
              </a:spcBef>
              <a:spcAft>
                <a:spcPts val="0"/>
              </a:spcAft>
              <a:buSzPts val="2200"/>
              <a:buFont typeface="Times New Roman"/>
              <a:buChar char="–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what operations can be performed on those values.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6865" lvl="0" marL="274320" rtl="0" algn="just">
              <a:spcBef>
                <a:spcPts val="580"/>
              </a:spcBef>
              <a:spcAft>
                <a:spcPts val="0"/>
              </a:spcAft>
              <a:buSzPts val="2200"/>
              <a:buFont typeface="Times New Roman"/>
              <a:buChar char="•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6865" lvl="0" marL="274320" rtl="0" algn="just">
              <a:spcBef>
                <a:spcPts val="580"/>
              </a:spcBef>
              <a:spcAft>
                <a:spcPts val="0"/>
              </a:spcAft>
              <a:buSzPts val="2200"/>
              <a:buFont typeface="Times New Roman"/>
              <a:buChar char="•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In C++ a </a:t>
            </a:r>
            <a:r>
              <a:rPr i="1" lang="en-US" sz="2200">
                <a:latin typeface="Times New Roman"/>
                <a:ea typeface="Times New Roman"/>
                <a:cs typeface="Times New Roman"/>
                <a:sym typeface="Times New Roman"/>
              </a:rPr>
              <a:t>type</a:t>
            </a: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 is the same as a </a:t>
            </a:r>
            <a:r>
              <a:rPr i="1" lang="en-US" sz="2200">
                <a:latin typeface="Times New Roman"/>
                <a:ea typeface="Times New Roman"/>
                <a:cs typeface="Times New Roman"/>
                <a:sym typeface="Times New Roman"/>
              </a:rPr>
              <a:t>class</a:t>
            </a: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77165" lvl="0" marL="274320" rtl="0" algn="just">
              <a:spcBef>
                <a:spcPts val="580"/>
              </a:spcBef>
              <a:spcAft>
                <a:spcPts val="0"/>
              </a:spcAft>
              <a:buSzPts val="1530"/>
              <a:buNone/>
            </a:pPr>
            <a:r>
              <a:t/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6865" lvl="0" marL="274320" rtl="0" algn="just">
              <a:spcBef>
                <a:spcPts val="580"/>
              </a:spcBef>
              <a:spcAft>
                <a:spcPts val="0"/>
              </a:spcAft>
              <a:buSzPts val="2200"/>
              <a:buFont typeface="Times New Roman"/>
              <a:buChar char="•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There are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1145" lvl="1" marL="548640" rtl="0" algn="just">
              <a:spcBef>
                <a:spcPts val="370"/>
              </a:spcBef>
              <a:spcAft>
                <a:spcPts val="0"/>
              </a:spcAft>
              <a:buSzPts val="2200"/>
              <a:buFont typeface="Times New Roman"/>
              <a:buChar char="–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predefined data types 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1145" lvl="1" marL="548640" rtl="0" algn="just">
              <a:spcBef>
                <a:spcPts val="370"/>
              </a:spcBef>
              <a:spcAft>
                <a:spcPts val="0"/>
              </a:spcAft>
              <a:buSzPts val="2200"/>
              <a:buFont typeface="Times New Roman"/>
              <a:buChar char="–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system-defined types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1145" lvl="1" marL="548640" rtl="0" algn="just">
              <a:spcBef>
                <a:spcPts val="370"/>
              </a:spcBef>
              <a:spcAft>
                <a:spcPts val="0"/>
              </a:spcAft>
              <a:buSzPts val="2200"/>
              <a:buFont typeface="Times New Roman"/>
              <a:buChar char="–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user-defined types 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2fc423d0b5_0_27"/>
          <p:cNvSpPr txBox="1"/>
          <p:nvPr>
            <p:ph type="title"/>
          </p:nvPr>
        </p:nvSpPr>
        <p:spPr>
          <a:xfrm>
            <a:off x="457200" y="274646"/>
            <a:ext cx="8229600" cy="790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Libre Franklin"/>
              <a:buNone/>
            </a:pP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About Data Types contd.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7" name="Google Shape;137;g32fc423d0b5_0_27"/>
          <p:cNvSpPr txBox="1"/>
          <p:nvPr>
            <p:ph idx="1" type="body"/>
          </p:nvPr>
        </p:nvSpPr>
        <p:spPr>
          <a:xfrm>
            <a:off x="457200" y="1189800"/>
            <a:ext cx="8229600" cy="53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04165" lvl="0" marL="274320" rtl="0" algn="just"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•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Predefined data types are part of the C++ language definition.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58445" lvl="1" marL="548640" rtl="0" algn="just">
              <a:spcBef>
                <a:spcPts val="370"/>
              </a:spcBef>
              <a:spcAft>
                <a:spcPts val="0"/>
              </a:spcAft>
              <a:buSzPts val="2000"/>
              <a:buFont typeface="Times New Roman"/>
              <a:buChar char="–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Examples: float, double - real.  int - integer.  char 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58445" lvl="2" marL="822960" rtl="0" algn="just">
              <a:spcBef>
                <a:spcPts val="370"/>
              </a:spcBef>
              <a:spcAft>
                <a:spcPts val="0"/>
              </a:spcAft>
              <a:buSzPts val="2000"/>
              <a:buFont typeface="Times New Roman"/>
              <a:buChar char="•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We denote char literals with single quotes, for example:  </a:t>
            </a:r>
            <a:r>
              <a:rPr b="1" i="1" lang="en-US" sz="2000">
                <a:latin typeface="Times New Roman"/>
                <a:ea typeface="Times New Roman"/>
                <a:cs typeface="Times New Roman"/>
                <a:sym typeface="Times New Roman"/>
              </a:rPr>
              <a:t>‘A’  ‘*’ ‘2’</a:t>
            </a:r>
            <a:endParaRPr b="1" i="1"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58445" lvl="1" marL="548640" rtl="0" algn="just">
              <a:spcBef>
                <a:spcPts val="370"/>
              </a:spcBef>
              <a:spcAft>
                <a:spcPts val="0"/>
              </a:spcAft>
              <a:buSzPts val="2000"/>
              <a:buFont typeface="Times New Roman"/>
              <a:buChar char="–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A string literal is a sequence of characters in double quotes: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58445" lvl="2" marL="822960" rtl="0" algn="just">
              <a:spcBef>
                <a:spcPts val="370"/>
              </a:spcBef>
              <a:spcAft>
                <a:spcPts val="0"/>
              </a:spcAft>
              <a:buSzPts val="2000"/>
              <a:buFont typeface="Times New Roman"/>
              <a:buChar char="•"/>
            </a:pPr>
            <a:r>
              <a:rPr b="1" i="1" lang="en-US" sz="2000">
                <a:latin typeface="Times New Roman"/>
                <a:ea typeface="Times New Roman"/>
                <a:cs typeface="Times New Roman"/>
                <a:sym typeface="Times New Roman"/>
              </a:rPr>
              <a:t>“ABCDE”  </a:t>
            </a:r>
            <a:endParaRPr b="1" i="1"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58445" lvl="2" marL="822960" rtl="0" algn="just">
              <a:spcBef>
                <a:spcPts val="370"/>
              </a:spcBef>
              <a:spcAft>
                <a:spcPts val="0"/>
              </a:spcAft>
              <a:buSzPts val="2000"/>
              <a:buFont typeface="Times New Roman"/>
              <a:buChar char="•"/>
            </a:pPr>
            <a:r>
              <a:rPr b="1" i="1" lang="en-US" sz="2000">
                <a:latin typeface="Times New Roman"/>
                <a:ea typeface="Times New Roman"/>
                <a:cs typeface="Times New Roman"/>
                <a:sym typeface="Times New Roman"/>
              </a:rPr>
              <a:t>“127” (not the same as int 127)</a:t>
            </a:r>
            <a:endParaRPr b="1" i="1"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58445" lvl="2" marL="822960" rtl="0" algn="just">
              <a:spcBef>
                <a:spcPts val="370"/>
              </a:spcBef>
              <a:spcAft>
                <a:spcPts val="0"/>
              </a:spcAft>
              <a:buSzPts val="2000"/>
              <a:buFont typeface="Times New Roman"/>
              <a:buChar char="•"/>
            </a:pPr>
            <a:r>
              <a:rPr b="1" i="1" lang="en-US" sz="2000">
                <a:latin typeface="Times New Roman"/>
                <a:ea typeface="Times New Roman"/>
                <a:cs typeface="Times New Roman"/>
                <a:sym typeface="Times New Roman"/>
              </a:rPr>
              <a:t>“true” (not the same as bool true)</a:t>
            </a:r>
            <a:endParaRPr b="1" i="1"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165" lvl="0" marL="274320" rtl="0" algn="just">
              <a:spcBef>
                <a:spcPts val="580"/>
              </a:spcBef>
              <a:spcAft>
                <a:spcPts val="0"/>
              </a:spcAft>
              <a:buSzPts val="2000"/>
              <a:buFont typeface="Times New Roman"/>
              <a:buChar char="•"/>
            </a:pPr>
            <a:r>
              <a:rPr b="1" i="1" lang="en-US" sz="2000"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endParaRPr b="1" i="1"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27000" lvl="0" marL="3175" rtl="0" algn="just">
              <a:spcBef>
                <a:spcPts val="580"/>
              </a:spcBef>
              <a:spcAft>
                <a:spcPts val="0"/>
              </a:spcAft>
              <a:buSzPts val="2000"/>
              <a:buFont typeface="Times New Roman"/>
              <a:buChar char="•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System-defined types - part of the C++ class libraries. Not part of the original C++ language definition but added when the compiler is written.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58445" lvl="1" marL="548640" rtl="0" algn="just">
              <a:spcBef>
                <a:spcPts val="370"/>
              </a:spcBef>
              <a:spcAft>
                <a:spcPts val="0"/>
              </a:spcAft>
              <a:buSzPts val="2000"/>
              <a:buFont typeface="Times New Roman"/>
              <a:buChar char="–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The standard I/O stream objects  cin and cout are defined in iostream library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58445" lvl="1" marL="548640" rtl="0" algn="just">
              <a:spcBef>
                <a:spcPts val="370"/>
              </a:spcBef>
              <a:spcAft>
                <a:spcPts val="0"/>
              </a:spcAft>
              <a:buSzPts val="2000"/>
              <a:buFont typeface="Times New Roman"/>
              <a:buChar char="–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Also there is a string class (type) and classes for input and output files. 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58445" lvl="2" marL="822960" rtl="0" algn="just">
              <a:spcBef>
                <a:spcPts val="370"/>
              </a:spcBef>
              <a:spcAft>
                <a:spcPts val="0"/>
              </a:spcAft>
              <a:buSzPts val="2000"/>
              <a:buFont typeface="Times New Roman"/>
              <a:buChar char="•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To declare an output file: ofstream cprint (“file.txt”); 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165" lvl="0" marL="274320" rtl="0" algn="just">
              <a:spcBef>
                <a:spcPts val="580"/>
              </a:spcBef>
              <a:spcAft>
                <a:spcPts val="0"/>
              </a:spcAft>
              <a:buSzPts val="2000"/>
              <a:buFont typeface="Times New Roman"/>
              <a:buChar char="•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165" lvl="0" marL="274320" rtl="0" algn="just">
              <a:spcBef>
                <a:spcPts val="580"/>
              </a:spcBef>
              <a:spcAft>
                <a:spcPts val="0"/>
              </a:spcAft>
              <a:buSzPts val="2000"/>
              <a:buFont typeface="Times New Roman"/>
              <a:buChar char="•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User-defined types - e.g., </a:t>
            </a:r>
            <a:r>
              <a:rPr b="1" i="1" lang="en-US" sz="2000">
                <a:latin typeface="Times New Roman"/>
                <a:ea typeface="Times New Roman"/>
                <a:cs typeface="Times New Roman"/>
                <a:sym typeface="Times New Roman"/>
              </a:rPr>
              <a:t>enum type, classes</a:t>
            </a:r>
            <a:endParaRPr b="1" i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2fc423d0b5_0_32"/>
          <p:cNvSpPr txBox="1"/>
          <p:nvPr>
            <p:ph type="title"/>
          </p:nvPr>
        </p:nvSpPr>
        <p:spPr>
          <a:xfrm>
            <a:off x="457200" y="274645"/>
            <a:ext cx="82296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Libre Franklin"/>
              <a:buNone/>
            </a:pP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Declarations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3" name="Google Shape;143;g32fc423d0b5_0_32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39700" lvl="0" marL="3175" rtl="0" algn="just"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Char char="•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Declarations inform the compiler that it will need to set aside space in memory to hold an object of a particular type (class) with a particular name.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3724" lvl="0" marL="274320" rtl="0" algn="just">
              <a:spcBef>
                <a:spcPts val="580"/>
              </a:spcBef>
              <a:spcAft>
                <a:spcPts val="0"/>
              </a:spcAft>
              <a:buSzPts val="2200"/>
              <a:buFont typeface="Times New Roman"/>
              <a:buChar char="•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3724" lvl="0" marL="274320" rtl="0" algn="just">
              <a:spcBef>
                <a:spcPts val="580"/>
              </a:spcBef>
              <a:spcAft>
                <a:spcPts val="0"/>
              </a:spcAft>
              <a:buSzPts val="2200"/>
              <a:buFont typeface="Times New Roman"/>
              <a:buChar char="•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Constant declarations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48043" lvl="1" marL="548640" rtl="0" algn="just">
              <a:spcBef>
                <a:spcPts val="370"/>
              </a:spcBef>
              <a:spcAft>
                <a:spcPts val="0"/>
              </a:spcAft>
              <a:buSzPts val="2200"/>
              <a:buFont typeface="Times New Roman"/>
              <a:buChar char="–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Used to associate meaningful names with constants -- items that will never change throughout the execution of the program.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48043" lvl="1" marL="548640" rtl="0" algn="just">
              <a:spcBef>
                <a:spcPts val="370"/>
              </a:spcBef>
              <a:spcAft>
                <a:spcPts val="0"/>
              </a:spcAft>
              <a:buSzPts val="2200"/>
              <a:buFont typeface="Times New Roman"/>
              <a:buChar char="–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One convention is to use all uppercase letters for constant identifiers.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44024" lvl="0" marL="274320" rtl="0" algn="just">
              <a:spcBef>
                <a:spcPts val="580"/>
              </a:spcBef>
              <a:spcAft>
                <a:spcPts val="0"/>
              </a:spcAft>
              <a:buSzPts val="2210"/>
              <a:buNone/>
            </a:pPr>
            <a:r>
              <a:t/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1" marL="114300" rtl="0" algn="just">
              <a:spcBef>
                <a:spcPts val="0"/>
              </a:spcBef>
              <a:spcAft>
                <a:spcPts val="0"/>
              </a:spcAft>
              <a:buSzPts val="2040"/>
              <a:buNone/>
            </a:pPr>
            <a:r>
              <a:rPr b="1" i="1" lang="en-US" sz="2200">
                <a:latin typeface="Times New Roman"/>
                <a:ea typeface="Times New Roman"/>
                <a:cs typeface="Times New Roman"/>
                <a:sym typeface="Times New Roman"/>
              </a:rPr>
              <a:t>const float PI=3.14159;  </a:t>
            </a:r>
            <a:endParaRPr b="1" i="1"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1" marL="114300" rtl="0" algn="just">
              <a:spcBef>
                <a:spcPts val="0"/>
              </a:spcBef>
              <a:spcAft>
                <a:spcPts val="0"/>
              </a:spcAft>
              <a:buSzPts val="2040"/>
              <a:buNone/>
            </a:pPr>
            <a:r>
              <a:rPr b="1" i="1" lang="en-US" sz="2200">
                <a:latin typeface="Times New Roman"/>
                <a:ea typeface="Times New Roman"/>
                <a:cs typeface="Times New Roman"/>
                <a:sym typeface="Times New Roman"/>
              </a:rPr>
              <a:t>const float METERS_TO_YARDS=1.196;</a:t>
            </a:r>
            <a:endParaRPr b="1" i="1"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44024" lvl="0" marL="274320" rtl="0" algn="just">
              <a:spcBef>
                <a:spcPts val="580"/>
              </a:spcBef>
              <a:spcAft>
                <a:spcPts val="0"/>
              </a:spcAft>
              <a:buSzPts val="2210"/>
              <a:buNone/>
            </a:pPr>
            <a:r>
              <a:t/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2fc423d0b5_0_37"/>
          <p:cNvSpPr txBox="1"/>
          <p:nvPr>
            <p:ph type="title"/>
          </p:nvPr>
        </p:nvSpPr>
        <p:spPr>
          <a:xfrm>
            <a:off x="457200" y="274645"/>
            <a:ext cx="8229600" cy="666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Libre Franklin"/>
              <a:buNone/>
            </a:pP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Data type: char T</a:t>
            </a: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ype Casting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9" name="Google Shape;149;g32fc423d0b5_0_37"/>
          <p:cNvSpPr txBox="1"/>
          <p:nvPr>
            <p:ph idx="1" type="body"/>
          </p:nvPr>
        </p:nvSpPr>
        <p:spPr>
          <a:xfrm>
            <a:off x="319150" y="1272650"/>
            <a:ext cx="8229600" cy="49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27000" lvl="0" marL="3175" rtl="0" algn="just"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•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We can convert char to int. The int(char) function is a </a:t>
            </a:r>
            <a:r>
              <a:rPr i="1" lang="en-US" sz="2000">
                <a:latin typeface="Times New Roman"/>
                <a:ea typeface="Times New Roman"/>
                <a:cs typeface="Times New Roman"/>
                <a:sym typeface="Times New Roman"/>
              </a:rPr>
              <a:t>cast</a:t>
            </a: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. In this next example, it converts c from </a:t>
            </a:r>
            <a:r>
              <a:rPr i="1" lang="en-US" sz="2000">
                <a:latin typeface="Times New Roman"/>
                <a:ea typeface="Times New Roman"/>
                <a:cs typeface="Times New Roman"/>
                <a:sym typeface="Times New Roman"/>
              </a:rPr>
              <a:t>char</a:t>
            </a: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 type to </a:t>
            </a:r>
            <a:r>
              <a:rPr i="1" lang="en-US" sz="2000">
                <a:latin typeface="Times New Roman"/>
                <a:ea typeface="Times New Roman"/>
                <a:cs typeface="Times New Roman"/>
                <a:sym typeface="Times New Roman"/>
              </a:rPr>
              <a:t>int</a:t>
            </a: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 type: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1" marL="0" rtl="0" algn="just">
              <a:spcBef>
                <a:spcPts val="0"/>
              </a:spcBef>
              <a:spcAft>
                <a:spcPts val="0"/>
              </a:spcAft>
              <a:buSzPts val="1275"/>
              <a:buNone/>
            </a:pPr>
            <a:r>
              <a:rPr b="1" i="1" lang="en-US" sz="2000">
                <a:latin typeface="Times New Roman"/>
                <a:ea typeface="Times New Roman"/>
                <a:cs typeface="Times New Roman"/>
                <a:sym typeface="Times New Roman"/>
              </a:rPr>
              <a:t>#include &lt;iostream&gt;</a:t>
            </a:r>
            <a:endParaRPr b="1" i="1"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1" marL="0" rtl="0" algn="just">
              <a:spcBef>
                <a:spcPts val="0"/>
              </a:spcBef>
              <a:spcAft>
                <a:spcPts val="0"/>
              </a:spcAft>
              <a:buSzPts val="1275"/>
              <a:buNone/>
            </a:pPr>
            <a:r>
              <a:rPr b="1" i="1" lang="en-US" sz="2000">
                <a:latin typeface="Times New Roman"/>
                <a:ea typeface="Times New Roman"/>
                <a:cs typeface="Times New Roman"/>
                <a:sym typeface="Times New Roman"/>
              </a:rPr>
              <a:t>using namespace std;</a:t>
            </a:r>
            <a:endParaRPr b="1" i="1"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1" marL="0" rtl="0" algn="just">
              <a:spcBef>
                <a:spcPts val="0"/>
              </a:spcBef>
              <a:spcAft>
                <a:spcPts val="0"/>
              </a:spcAft>
              <a:buSzPts val="1275"/>
              <a:buNone/>
            </a:pPr>
            <a:r>
              <a:rPr b="1" i="1" lang="en-US" sz="2000">
                <a:latin typeface="Times New Roman"/>
                <a:ea typeface="Times New Roman"/>
                <a:cs typeface="Times New Roman"/>
                <a:sym typeface="Times New Roman"/>
              </a:rPr>
              <a:t>void main (){</a:t>
            </a:r>
            <a:endParaRPr b="1" i="1"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1" marL="0" rtl="0" algn="just">
              <a:spcBef>
                <a:spcPts val="0"/>
              </a:spcBef>
              <a:spcAft>
                <a:spcPts val="0"/>
              </a:spcAft>
              <a:buSzPts val="1275"/>
              <a:buNone/>
            </a:pPr>
            <a:r>
              <a:rPr b="1" i="1" lang="en-US" sz="2000">
                <a:latin typeface="Times New Roman"/>
                <a:ea typeface="Times New Roman"/>
                <a:cs typeface="Times New Roman"/>
                <a:sym typeface="Times New Roman"/>
              </a:rPr>
              <a:t>	char c = 64;</a:t>
            </a:r>
            <a:endParaRPr b="1" i="1"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1" marL="0" rtl="0" algn="just">
              <a:spcBef>
                <a:spcPts val="0"/>
              </a:spcBef>
              <a:spcAft>
                <a:spcPts val="0"/>
              </a:spcAft>
              <a:buSzPts val="1275"/>
              <a:buNone/>
            </a:pPr>
            <a:r>
              <a:rPr b="1" i="1" lang="en-US" sz="2000">
                <a:latin typeface="Times New Roman"/>
                <a:ea typeface="Times New Roman"/>
                <a:cs typeface="Times New Roman"/>
                <a:sym typeface="Times New Roman"/>
              </a:rPr>
              <a:t>	cout &lt;&lt; c &lt;&lt; " is the same as " &lt;&lt; int(c) &lt;&lt; endl;</a:t>
            </a:r>
            <a:endParaRPr b="1" i="1"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1" marL="0" rtl="0" algn="just">
              <a:spcBef>
                <a:spcPts val="0"/>
              </a:spcBef>
              <a:spcAft>
                <a:spcPts val="0"/>
              </a:spcAft>
              <a:buSzPts val="1275"/>
              <a:buNone/>
            </a:pPr>
            <a:r>
              <a:rPr b="1" i="1" lang="en-US" sz="2000">
                <a:latin typeface="Times New Roman"/>
                <a:ea typeface="Times New Roman"/>
                <a:cs typeface="Times New Roman"/>
                <a:sym typeface="Times New Roman"/>
              </a:rPr>
              <a:t>	c = c+ 1;</a:t>
            </a:r>
            <a:endParaRPr b="1" i="1"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1" marL="0" rtl="0" algn="just">
              <a:spcBef>
                <a:spcPts val="0"/>
              </a:spcBef>
              <a:spcAft>
                <a:spcPts val="0"/>
              </a:spcAft>
              <a:buSzPts val="1275"/>
              <a:buNone/>
            </a:pPr>
            <a:r>
              <a:rPr b="1" i="1" lang="en-US" sz="2000">
                <a:latin typeface="Times New Roman"/>
                <a:ea typeface="Times New Roman"/>
                <a:cs typeface="Times New Roman"/>
                <a:sym typeface="Times New Roman"/>
              </a:rPr>
              <a:t> 	cout &lt;&lt; c &lt;&lt; " is the same as " &lt;&lt; int(c) &lt;&lt; endl; </a:t>
            </a:r>
            <a:endParaRPr b="1" i="1"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1" marL="0" rtl="0" algn="just">
              <a:spcBef>
                <a:spcPts val="0"/>
              </a:spcBef>
              <a:spcAft>
                <a:spcPts val="0"/>
              </a:spcAft>
              <a:buSzPts val="1275"/>
              <a:buNone/>
            </a:pPr>
            <a:r>
              <a:rPr b="1" i="1" lang="en-US" sz="2000">
                <a:latin typeface="Times New Roman"/>
                <a:ea typeface="Times New Roman"/>
                <a:cs typeface="Times New Roman"/>
                <a:sym typeface="Times New Roman"/>
              </a:rPr>
              <a:t>	c = c+ 1;</a:t>
            </a:r>
            <a:endParaRPr b="1" i="1"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1" marL="0" rtl="0" algn="just">
              <a:spcBef>
                <a:spcPts val="0"/>
              </a:spcBef>
              <a:spcAft>
                <a:spcPts val="0"/>
              </a:spcAft>
              <a:buSzPts val="1275"/>
              <a:buNone/>
            </a:pPr>
            <a:r>
              <a:rPr b="1" i="1" lang="en-US" sz="2000">
                <a:latin typeface="Times New Roman"/>
                <a:ea typeface="Times New Roman"/>
                <a:cs typeface="Times New Roman"/>
                <a:sym typeface="Times New Roman"/>
              </a:rPr>
              <a:t> 	cout &lt;&lt; c &lt;&lt; " is the same as " &lt;&lt; int(c) &lt;&lt; endl; </a:t>
            </a:r>
            <a:endParaRPr b="1" i="1"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1" marL="0" rtl="0" algn="just">
              <a:spcBef>
                <a:spcPts val="0"/>
              </a:spcBef>
              <a:spcAft>
                <a:spcPts val="0"/>
              </a:spcAft>
              <a:buSzPts val="1275"/>
              <a:buNone/>
            </a:pPr>
            <a:r>
              <a:rPr b="1" i="1" lang="en-US" sz="2000">
                <a:latin typeface="Times New Roman"/>
                <a:ea typeface="Times New Roman"/>
                <a:cs typeface="Times New Roman"/>
                <a:sym typeface="Times New Roman"/>
              </a:rPr>
              <a:t>	c = c+ 1;</a:t>
            </a:r>
            <a:endParaRPr b="1" i="1"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1" marL="0" rtl="0" algn="just">
              <a:spcBef>
                <a:spcPts val="0"/>
              </a:spcBef>
              <a:spcAft>
                <a:spcPts val="0"/>
              </a:spcAft>
              <a:buSzPts val="1275"/>
              <a:buNone/>
            </a:pPr>
            <a:r>
              <a:rPr b="1" i="1" lang="en-US" sz="2000">
                <a:latin typeface="Times New Roman"/>
                <a:ea typeface="Times New Roman"/>
                <a:cs typeface="Times New Roman"/>
                <a:sym typeface="Times New Roman"/>
              </a:rPr>
              <a:t> 	cout &lt;&lt; c &lt;&lt; " is the same as " &lt;&lt; int(c) &lt;&lt; endl;</a:t>
            </a:r>
            <a:endParaRPr b="1" i="1"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1" marL="0" rtl="0" algn="just">
              <a:spcBef>
                <a:spcPts val="0"/>
              </a:spcBef>
              <a:spcAft>
                <a:spcPts val="0"/>
              </a:spcAft>
              <a:buSzPts val="1275"/>
              <a:buNone/>
            </a:pPr>
            <a:r>
              <a:rPr b="1" i="1" lang="en-US" sz="2000">
                <a:latin typeface="Times New Roman"/>
                <a:ea typeface="Times New Roman"/>
                <a:cs typeface="Times New Roman"/>
                <a:sym typeface="Times New Roman"/>
              </a:rPr>
              <a:t> 	return;</a:t>
            </a:r>
            <a:endParaRPr b="1" i="1"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1" marL="0" rtl="0" algn="just">
              <a:spcBef>
                <a:spcPts val="0"/>
              </a:spcBef>
              <a:spcAft>
                <a:spcPts val="0"/>
              </a:spcAft>
              <a:buSzPts val="1020"/>
              <a:buNone/>
            </a:pPr>
            <a:r>
              <a:rPr b="1" i="1" lang="en-US" sz="2000"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 b="1" i="1"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342900" rtl="0" algn="just">
              <a:spcBef>
                <a:spcPts val="580"/>
              </a:spcBef>
              <a:spcAft>
                <a:spcPts val="0"/>
              </a:spcAft>
              <a:buSzPts val="2000"/>
              <a:buFont typeface="Times New Roman"/>
              <a:buChar char="•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This is called typecasting – we can also </a:t>
            </a:r>
            <a:r>
              <a:rPr i="1" lang="en-US" sz="2000">
                <a:latin typeface="Times New Roman"/>
                <a:ea typeface="Times New Roman"/>
                <a:cs typeface="Times New Roman"/>
                <a:sym typeface="Times New Roman"/>
              </a:rPr>
              <a:t>cast</a:t>
            </a: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, e.g., float(c); int(fl); … 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45696" lvl="0" marL="274320" rtl="0" algn="just">
              <a:spcBef>
                <a:spcPts val="580"/>
              </a:spcBef>
              <a:spcAft>
                <a:spcPts val="0"/>
              </a:spcAft>
              <a:buSzPts val="2210"/>
              <a:buNone/>
            </a:pPr>
            <a:r>
              <a:t/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58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2fc423d0b5_0_42"/>
          <p:cNvSpPr txBox="1"/>
          <p:nvPr>
            <p:ph type="title"/>
          </p:nvPr>
        </p:nvSpPr>
        <p:spPr>
          <a:xfrm>
            <a:off x="457200" y="274645"/>
            <a:ext cx="82296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Libre Franklin"/>
              <a:buNone/>
            </a:pP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Real number types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5" name="Google Shape;155;g32fc423d0b5_0_42"/>
          <p:cNvSpPr txBox="1"/>
          <p:nvPr>
            <p:ph idx="1" type="body"/>
          </p:nvPr>
        </p:nvSpPr>
        <p:spPr>
          <a:xfrm>
            <a:off x="305350" y="1807325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73685" lvl="0" marL="27432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Char char="•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A real number is a value that represents a quantity along a continuous line.  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38759" lvl="1" marL="548640" rtl="0" algn="just">
              <a:lnSpc>
                <a:spcPct val="150000"/>
              </a:lnSpc>
              <a:spcBef>
                <a:spcPts val="370"/>
              </a:spcBef>
              <a:spcAft>
                <a:spcPts val="0"/>
              </a:spcAft>
              <a:buSzPts val="2200"/>
              <a:buFont typeface="Times New Roman"/>
              <a:buChar char="–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In C++ we can use the types 	float, double, and long double.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38759" lvl="1" marL="548640" rtl="0" algn="just">
              <a:lnSpc>
                <a:spcPct val="150000"/>
              </a:lnSpc>
              <a:spcBef>
                <a:spcPts val="370"/>
              </a:spcBef>
              <a:spcAft>
                <a:spcPts val="0"/>
              </a:spcAft>
              <a:buSzPts val="2200"/>
              <a:buFont typeface="Times New Roman"/>
              <a:buChar char="–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On most systems, double uses twice as many bytes as float. In general, float uses 4 bytes, double uses 8 bytes, and long double uses 8, 10, 12, or 16 bytes.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38759" lvl="1" marL="548640" rtl="0" algn="just">
              <a:lnSpc>
                <a:spcPct val="150000"/>
              </a:lnSpc>
              <a:spcBef>
                <a:spcPts val="370"/>
              </a:spcBef>
              <a:spcAft>
                <a:spcPts val="0"/>
              </a:spcAft>
              <a:buSzPts val="2200"/>
              <a:buFont typeface="Times New Roman"/>
              <a:buChar char="–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We can always use a program to determine how a type is stored on a particular computer.  The program on the next slide produced this output: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2fc423d0b5_0_334"/>
          <p:cNvSpPr txBox="1"/>
          <p:nvPr>
            <p:ph type="title"/>
          </p:nvPr>
        </p:nvSpPr>
        <p:spPr>
          <a:xfrm>
            <a:off x="457200" y="361551"/>
            <a:ext cx="8229600" cy="7866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Libre Franklin"/>
              <a:buNone/>
            </a:pP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Real number types contd.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g32fc423d0b5_0_334"/>
          <p:cNvSpPr txBox="1"/>
          <p:nvPr>
            <p:ph idx="1" type="body"/>
          </p:nvPr>
        </p:nvSpPr>
        <p:spPr>
          <a:xfrm>
            <a:off x="457200" y="1310300"/>
            <a:ext cx="8229600" cy="452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1" lang="en-US" sz="2000">
                <a:latin typeface="Times New Roman"/>
                <a:ea typeface="Times New Roman"/>
                <a:cs typeface="Times New Roman"/>
                <a:sym typeface="Times New Roman"/>
              </a:rPr>
              <a:t>#include &lt;iostream&gt;</a:t>
            </a:r>
            <a:endParaRPr b="1" i="1"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1" lang="en-US" sz="2000">
                <a:latin typeface="Times New Roman"/>
                <a:ea typeface="Times New Roman"/>
                <a:cs typeface="Times New Roman"/>
                <a:sym typeface="Times New Roman"/>
              </a:rPr>
              <a:t>using namespace std;</a:t>
            </a:r>
            <a:endParaRPr b="1" i="1"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i="1"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1" lang="en-US" sz="2000">
                <a:latin typeface="Times New Roman"/>
                <a:ea typeface="Times New Roman"/>
                <a:cs typeface="Times New Roman"/>
                <a:sym typeface="Times New Roman"/>
              </a:rPr>
              <a:t>int main() {</a:t>
            </a:r>
            <a:endParaRPr b="1" i="1"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i="1"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1" lang="en-US" sz="2000">
                <a:latin typeface="Times New Roman"/>
                <a:ea typeface="Times New Roman"/>
                <a:cs typeface="Times New Roman"/>
                <a:sym typeface="Times New Roman"/>
              </a:rPr>
              <a:t>      // Creating an integer variable</a:t>
            </a:r>
            <a:endParaRPr b="1" i="1"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1" lang="en-US" sz="2000">
                <a:latin typeface="Times New Roman"/>
                <a:ea typeface="Times New Roman"/>
                <a:cs typeface="Times New Roman"/>
                <a:sym typeface="Times New Roman"/>
              </a:rPr>
              <a:t>    int x = 25;</a:t>
            </a:r>
            <a:endParaRPr b="1" i="1"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1" lang="en-US" sz="2000">
                <a:latin typeface="Times New Roman"/>
                <a:ea typeface="Times New Roman"/>
                <a:cs typeface="Times New Roman"/>
                <a:sym typeface="Times New Roman"/>
              </a:rPr>
              <a:t>    cout &lt;&lt; x &lt;&lt; endl;</a:t>
            </a:r>
            <a:endParaRPr b="1" i="1"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1" lang="en-US" sz="2000"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endParaRPr b="1" i="1"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1" lang="en-US" sz="2000">
                <a:latin typeface="Times New Roman"/>
                <a:ea typeface="Times New Roman"/>
                <a:cs typeface="Times New Roman"/>
                <a:sym typeface="Times New Roman"/>
              </a:rPr>
              <a:t>      // Using hexadecimal base value</a:t>
            </a:r>
            <a:endParaRPr b="1" i="1"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1" lang="en-US" sz="2000">
                <a:latin typeface="Times New Roman"/>
                <a:ea typeface="Times New Roman"/>
                <a:cs typeface="Times New Roman"/>
                <a:sym typeface="Times New Roman"/>
              </a:rPr>
              <a:t>      x = 0x15;</a:t>
            </a:r>
            <a:endParaRPr b="1" i="1"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1" lang="en-US" sz="2000">
                <a:latin typeface="Times New Roman"/>
                <a:ea typeface="Times New Roman"/>
                <a:cs typeface="Times New Roman"/>
                <a:sym typeface="Times New Roman"/>
              </a:rPr>
              <a:t>      cout &lt;&lt; x;</a:t>
            </a:r>
            <a:endParaRPr b="1" i="1"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i="1"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1" lang="en-US" sz="2000">
                <a:latin typeface="Times New Roman"/>
                <a:ea typeface="Times New Roman"/>
                <a:cs typeface="Times New Roman"/>
                <a:sym typeface="Times New Roman"/>
              </a:rPr>
              <a:t>    return 0;</a:t>
            </a:r>
            <a:endParaRPr b="1" i="1"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1" lang="en-US" sz="2000"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 b="1" i="1"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b="1" i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3" name="Google Shape;163;g32fc423d0b5_0_334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2fc423d0b5_0_47"/>
          <p:cNvSpPr txBox="1"/>
          <p:nvPr>
            <p:ph type="title"/>
          </p:nvPr>
        </p:nvSpPr>
        <p:spPr>
          <a:xfrm>
            <a:off x="457200" y="274645"/>
            <a:ext cx="8229600" cy="698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Libre Franklin"/>
              <a:buNone/>
            </a:pP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What Is An Array?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9" name="Google Shape;169;g32fc423d0b5_0_47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-262890" lvl="0" marL="27432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Char char="•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An array is a collection of values that have the same data type, e.g. 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38759" lvl="1" marL="548640" rtl="0" algn="just">
              <a:lnSpc>
                <a:spcPct val="150000"/>
              </a:lnSpc>
              <a:spcBef>
                <a:spcPts val="370"/>
              </a:spcBef>
              <a:spcAft>
                <a:spcPts val="0"/>
              </a:spcAft>
              <a:buSzPts val="2200"/>
              <a:buFont typeface="Times New Roman"/>
              <a:buChar char="–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A collection of int data values or 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38759" lvl="1" marL="548640" rtl="0" algn="just">
              <a:lnSpc>
                <a:spcPct val="150000"/>
              </a:lnSpc>
              <a:spcBef>
                <a:spcPts val="370"/>
              </a:spcBef>
              <a:spcAft>
                <a:spcPts val="0"/>
              </a:spcAft>
              <a:buSzPts val="2200"/>
              <a:buFont typeface="Times New Roman"/>
              <a:buChar char="–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A collection of bool data values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62890" lvl="0" marL="274320" rtl="0" algn="just">
              <a:lnSpc>
                <a:spcPct val="150000"/>
              </a:lnSpc>
              <a:spcBef>
                <a:spcPts val="580"/>
              </a:spcBef>
              <a:spcAft>
                <a:spcPts val="0"/>
              </a:spcAft>
              <a:buSzPts val="2200"/>
              <a:buFont typeface="Times New Roman"/>
              <a:buChar char="•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We refer to all stored values in an array by its name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62890" lvl="0" marL="274320" rtl="0" algn="just">
              <a:lnSpc>
                <a:spcPct val="150000"/>
              </a:lnSpc>
              <a:spcBef>
                <a:spcPts val="580"/>
              </a:spcBef>
              <a:spcAft>
                <a:spcPts val="0"/>
              </a:spcAft>
              <a:buSzPts val="2200"/>
              <a:buFont typeface="Times New Roman"/>
              <a:buChar char="•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If we would like to access a particular value stored in an array, we specify its index (i.e. its position relative to the first array value)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38759" lvl="1" marL="548640" rtl="0" algn="just">
              <a:lnSpc>
                <a:spcPct val="150000"/>
              </a:lnSpc>
              <a:spcBef>
                <a:spcPts val="370"/>
              </a:spcBef>
              <a:spcAft>
                <a:spcPts val="0"/>
              </a:spcAft>
              <a:buSzPts val="2200"/>
              <a:buFont typeface="Times New Roman"/>
              <a:buChar char="–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The first array index is always 0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38759" lvl="1" marL="548640" rtl="0" algn="just">
              <a:lnSpc>
                <a:spcPct val="150000"/>
              </a:lnSpc>
              <a:spcBef>
                <a:spcPts val="370"/>
              </a:spcBef>
              <a:spcAft>
                <a:spcPts val="0"/>
              </a:spcAft>
              <a:buSzPts val="2200"/>
              <a:buFont typeface="Times New Roman"/>
              <a:buChar char="–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The second value is stored in index 1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38759" lvl="1" marL="548640" rtl="0" algn="just">
              <a:lnSpc>
                <a:spcPct val="150000"/>
              </a:lnSpc>
              <a:spcBef>
                <a:spcPts val="370"/>
              </a:spcBef>
              <a:spcAft>
                <a:spcPts val="0"/>
              </a:spcAft>
              <a:buSzPts val="2200"/>
              <a:buFont typeface="Times New Roman"/>
              <a:buChar char="–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Etc.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2fc423d0b5_0_52"/>
          <p:cNvSpPr txBox="1"/>
          <p:nvPr>
            <p:ph type="title"/>
          </p:nvPr>
        </p:nvSpPr>
        <p:spPr>
          <a:xfrm>
            <a:off x="457200" y="371270"/>
            <a:ext cx="8229600" cy="630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Libre Franklin"/>
              <a:buNone/>
            </a:pP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Classes &amp; Object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5" name="Google Shape;175;g32fc423d0b5_0_52"/>
          <p:cNvSpPr txBox="1"/>
          <p:nvPr>
            <p:ph idx="1" type="body"/>
          </p:nvPr>
        </p:nvSpPr>
        <p:spPr>
          <a:xfrm>
            <a:off x="457200" y="1371600"/>
            <a:ext cx="82296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90417" lvl="0" marL="274320" rtl="0" algn="just">
              <a:spcBef>
                <a:spcPts val="0"/>
              </a:spcBef>
              <a:spcAft>
                <a:spcPts val="0"/>
              </a:spcAft>
              <a:buSzPts val="2200"/>
              <a:buChar char="•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A </a:t>
            </a:r>
            <a:r>
              <a:rPr b="1" lang="en-US" sz="2200">
                <a:latin typeface="Times New Roman"/>
                <a:ea typeface="Times New Roman"/>
                <a:cs typeface="Times New Roman"/>
                <a:sym typeface="Times New Roman"/>
              </a:rPr>
              <a:t>class</a:t>
            </a: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 is a data type that allows programmers to create objects. 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50717" lvl="0" marL="274320" rtl="0" algn="just">
              <a:spcBef>
                <a:spcPts val="580"/>
              </a:spcBef>
              <a:spcAft>
                <a:spcPts val="0"/>
              </a:spcAft>
              <a:buSzPts val="2040"/>
              <a:buNone/>
            </a:pPr>
            <a:r>
              <a:t/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0417" lvl="0" marL="274320" rtl="0" algn="just">
              <a:spcBef>
                <a:spcPts val="580"/>
              </a:spcBef>
              <a:spcAft>
                <a:spcPts val="0"/>
              </a:spcAft>
              <a:buSzPts val="2200"/>
              <a:buFont typeface="Times New Roman"/>
              <a:buChar char="•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A class is like a template,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50717" lvl="0" marL="274320" rtl="0" algn="just">
              <a:spcBef>
                <a:spcPts val="580"/>
              </a:spcBef>
              <a:spcAft>
                <a:spcPts val="0"/>
              </a:spcAft>
              <a:buSzPts val="2040"/>
              <a:buNone/>
            </a:pPr>
            <a:r>
              <a:t/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0417" lvl="0" marL="274320" rtl="0" algn="just">
              <a:spcBef>
                <a:spcPts val="580"/>
              </a:spcBef>
              <a:spcAft>
                <a:spcPts val="0"/>
              </a:spcAft>
              <a:buSzPts val="2200"/>
              <a:buFont typeface="Times New Roman"/>
              <a:buChar char="•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A class provides a definition for an object, describing an object’s attributes (data) and methods (operations).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50717" lvl="0" marL="274320" rtl="0" algn="just">
              <a:spcBef>
                <a:spcPts val="580"/>
              </a:spcBef>
              <a:spcAft>
                <a:spcPts val="0"/>
              </a:spcAft>
              <a:buSzPts val="2040"/>
              <a:buNone/>
            </a:pPr>
            <a:r>
              <a:t/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0417" lvl="0" marL="274320" rtl="0" algn="just">
              <a:spcBef>
                <a:spcPts val="580"/>
              </a:spcBef>
              <a:spcAft>
                <a:spcPts val="0"/>
              </a:spcAft>
              <a:buSzPts val="2200"/>
              <a:buFont typeface="Times New Roman"/>
              <a:buChar char="•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An object is an </a:t>
            </a:r>
            <a:r>
              <a:rPr i="1" lang="en-US" sz="2200">
                <a:latin typeface="Times New Roman"/>
                <a:ea typeface="Times New Roman"/>
                <a:cs typeface="Times New Roman"/>
                <a:sym typeface="Times New Roman"/>
              </a:rPr>
              <a:t>instance</a:t>
            </a: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 of a class.  With one class, we can have as many objects as required.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50717" lvl="0" marL="274320" rtl="0" algn="just">
              <a:spcBef>
                <a:spcPts val="580"/>
              </a:spcBef>
              <a:spcAft>
                <a:spcPts val="0"/>
              </a:spcAft>
              <a:buSzPts val="2040"/>
              <a:buNone/>
            </a:pPr>
            <a:r>
              <a:t/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0417" lvl="0" marL="274320" rtl="0" algn="just">
              <a:spcBef>
                <a:spcPts val="580"/>
              </a:spcBef>
              <a:spcAft>
                <a:spcPts val="0"/>
              </a:spcAft>
              <a:buSzPts val="2200"/>
              <a:buFont typeface="Times New Roman"/>
              <a:buChar char="•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Object has </a:t>
            </a:r>
            <a:r>
              <a:rPr i="1" lang="en-US" sz="2200">
                <a:latin typeface="Times New Roman"/>
                <a:ea typeface="Times New Roman"/>
                <a:cs typeface="Times New Roman"/>
                <a:sym typeface="Times New Roman"/>
              </a:rPr>
              <a:t>methods</a:t>
            </a: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, has </a:t>
            </a:r>
            <a:r>
              <a:rPr i="1" lang="en-US" sz="2200">
                <a:latin typeface="Times New Roman"/>
                <a:ea typeface="Times New Roman"/>
                <a:cs typeface="Times New Roman"/>
                <a:sym typeface="Times New Roman"/>
              </a:rPr>
              <a:t>attributes </a:t>
            </a: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and can react to </a:t>
            </a:r>
            <a:r>
              <a:rPr i="1" lang="en-US" sz="2200">
                <a:latin typeface="Times New Roman"/>
                <a:ea typeface="Times New Roman"/>
                <a:cs typeface="Times New Roman"/>
                <a:sym typeface="Times New Roman"/>
              </a:rPr>
              <a:t>events</a:t>
            </a: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4320" lvl="0" marL="274320" rtl="0" algn="just">
              <a:spcBef>
                <a:spcPts val="580"/>
              </a:spcBef>
              <a:spcAft>
                <a:spcPts val="0"/>
              </a:spcAft>
              <a:buSzPts val="2040"/>
              <a:buNone/>
            </a:pPr>
            <a:r>
              <a:t/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50717" lvl="0" marL="274320" rtl="0" algn="just">
              <a:spcBef>
                <a:spcPts val="580"/>
              </a:spcBef>
              <a:spcAft>
                <a:spcPts val="0"/>
              </a:spcAft>
              <a:buSzPts val="2040"/>
              <a:buNone/>
            </a:pPr>
            <a:r>
              <a:t/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50717" lvl="0" marL="274320" rtl="0" algn="just">
              <a:spcBef>
                <a:spcPts val="580"/>
              </a:spcBef>
              <a:spcAft>
                <a:spcPts val="0"/>
              </a:spcAft>
              <a:buSzPts val="2040"/>
              <a:buNone/>
            </a:pPr>
            <a:r>
              <a:t/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60972" lvl="0" marL="274320" rtl="0" algn="just">
              <a:spcBef>
                <a:spcPts val="580"/>
              </a:spcBef>
              <a:spcAft>
                <a:spcPts val="0"/>
              </a:spcAft>
              <a:buSzPts val="1870"/>
              <a:buNone/>
            </a:pPr>
            <a:r>
              <a:t/>
            </a:r>
            <a:endParaRPr sz="2200">
              <a:solidFill>
                <a:srgbClr val="DB53DE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5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5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5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5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5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5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2fc423d0b5_0_57"/>
          <p:cNvSpPr txBox="1"/>
          <p:nvPr>
            <p:ph type="title"/>
          </p:nvPr>
        </p:nvSpPr>
        <p:spPr>
          <a:xfrm>
            <a:off x="457200" y="152400"/>
            <a:ext cx="8229600" cy="789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Libre Franklin"/>
              <a:buNone/>
            </a:pP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Difference between Structure &amp; Class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1" name="Google Shape;181;g32fc423d0b5_0_57"/>
          <p:cNvSpPr txBox="1"/>
          <p:nvPr>
            <p:ph idx="1" type="body"/>
          </p:nvPr>
        </p:nvSpPr>
        <p:spPr>
          <a:xfrm>
            <a:off x="457200" y="1268875"/>
            <a:ext cx="82296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22315" lvl="0" marL="274320" rtl="0" algn="just">
              <a:spcBef>
                <a:spcPts val="0"/>
              </a:spcBef>
              <a:spcAft>
                <a:spcPts val="0"/>
              </a:spcAft>
              <a:buSzPts val="2200"/>
              <a:buChar char="•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As we know that Structure is a collection of variables of different data types same as class </a:t>
            </a:r>
            <a:r>
              <a:rPr b="1" lang="en-US" sz="2200">
                <a:latin typeface="Times New Roman"/>
                <a:ea typeface="Times New Roman"/>
                <a:cs typeface="Times New Roman"/>
                <a:sym typeface="Times New Roman"/>
              </a:rPr>
              <a:t>but</a:t>
            </a: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82615" lvl="0" marL="274320" rtl="0" algn="just">
              <a:spcBef>
                <a:spcPts val="580"/>
              </a:spcBef>
              <a:spcAft>
                <a:spcPts val="0"/>
              </a:spcAft>
              <a:buSzPts val="1530"/>
              <a:buNone/>
            </a:pPr>
            <a:r>
              <a:t/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2315" lvl="0" marL="274320" rtl="0" algn="just">
              <a:spcBef>
                <a:spcPts val="580"/>
              </a:spcBef>
              <a:spcAft>
                <a:spcPts val="0"/>
              </a:spcAft>
              <a:buSzPts val="2200"/>
              <a:buFont typeface="Times New Roman"/>
              <a:buChar char="•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Structures are value types and the classes are reference types.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82615" lvl="0" marL="274320" rtl="0" algn="just">
              <a:spcBef>
                <a:spcPts val="580"/>
              </a:spcBef>
              <a:spcAft>
                <a:spcPts val="0"/>
              </a:spcAft>
              <a:buSzPts val="1530"/>
              <a:buNone/>
            </a:pPr>
            <a:r>
              <a:t/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2315" lvl="0" marL="274320" rtl="0" algn="just">
              <a:spcBef>
                <a:spcPts val="580"/>
              </a:spcBef>
              <a:spcAft>
                <a:spcPts val="0"/>
              </a:spcAft>
              <a:buSzPts val="2200"/>
              <a:buFont typeface="Times New Roman"/>
              <a:buChar char="•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structure have default public members and classes have default private members 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82615" lvl="0" marL="274320" rtl="0" algn="just">
              <a:spcBef>
                <a:spcPts val="580"/>
              </a:spcBef>
              <a:spcAft>
                <a:spcPts val="0"/>
              </a:spcAft>
              <a:buSzPts val="1530"/>
              <a:buNone/>
            </a:pPr>
            <a:r>
              <a:t/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2315" lvl="0" marL="274320" rtl="0" algn="just">
              <a:spcBef>
                <a:spcPts val="580"/>
              </a:spcBef>
              <a:spcAft>
                <a:spcPts val="0"/>
              </a:spcAft>
              <a:buSzPts val="2200"/>
              <a:buFont typeface="Times New Roman"/>
              <a:buChar char="•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Classes can be inherited whereas structures cannot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82615" lvl="0" marL="274320" rtl="0" algn="just">
              <a:spcBef>
                <a:spcPts val="580"/>
              </a:spcBef>
              <a:spcAft>
                <a:spcPts val="0"/>
              </a:spcAft>
              <a:buSzPts val="1530"/>
              <a:buNone/>
            </a:pPr>
            <a:r>
              <a:t/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2315" lvl="0" marL="274320" rtl="0" algn="just">
              <a:spcBef>
                <a:spcPts val="580"/>
              </a:spcBef>
              <a:spcAft>
                <a:spcPts val="0"/>
              </a:spcAft>
              <a:buSzPts val="2200"/>
              <a:buFont typeface="Times New Roman"/>
              <a:buChar char="•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A structure couldn't be null like a class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82615" lvl="0" marL="274320" rtl="0" algn="just">
              <a:spcBef>
                <a:spcPts val="580"/>
              </a:spcBef>
              <a:spcAft>
                <a:spcPts val="0"/>
              </a:spcAft>
              <a:buSzPts val="1530"/>
              <a:buNone/>
            </a:pPr>
            <a:r>
              <a:t/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2315" lvl="0" marL="274320" rtl="0" algn="just">
              <a:spcBef>
                <a:spcPts val="580"/>
              </a:spcBef>
              <a:spcAft>
                <a:spcPts val="0"/>
              </a:spcAft>
              <a:buSzPts val="2200"/>
              <a:buFont typeface="Times New Roman"/>
              <a:buChar char="•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When passing a class to a method, it is passed by reference. When passing a structure to a method, it's passed by value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82615" lvl="0" marL="274320" rtl="0" algn="just">
              <a:spcBef>
                <a:spcPts val="580"/>
              </a:spcBef>
              <a:spcAft>
                <a:spcPts val="0"/>
              </a:spcAft>
              <a:buSzPts val="1530"/>
              <a:buNone/>
            </a:pPr>
            <a:r>
              <a:t/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2315" lvl="0" marL="274320" rtl="0" algn="just">
              <a:spcBef>
                <a:spcPts val="580"/>
              </a:spcBef>
              <a:spcAft>
                <a:spcPts val="0"/>
              </a:spcAft>
              <a:buSzPts val="2200"/>
              <a:buFont typeface="Times New Roman"/>
              <a:buChar char="•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Class can declare constructor/destructor whereas structures  cannot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06292" lvl="2" marL="822960" rtl="0" algn="just">
              <a:spcBef>
                <a:spcPts val="370"/>
              </a:spcBef>
              <a:spcAft>
                <a:spcPts val="0"/>
              </a:spcAft>
              <a:buSzPts val="2040"/>
              <a:buNone/>
            </a:pPr>
            <a:r>
              <a:t/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52012" lvl="0" marL="274320" rtl="0" algn="just">
              <a:spcBef>
                <a:spcPts val="580"/>
              </a:spcBef>
              <a:spcAft>
                <a:spcPts val="0"/>
              </a:spcAft>
              <a:buSzPts val="2040"/>
              <a:buNone/>
            </a:pPr>
            <a:r>
              <a:t/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62213" lvl="0" marL="274320" rtl="0" algn="just">
              <a:spcBef>
                <a:spcPts val="580"/>
              </a:spcBef>
              <a:spcAft>
                <a:spcPts val="0"/>
              </a:spcAft>
              <a:buSzPts val="1870"/>
              <a:buNone/>
            </a:pPr>
            <a:r>
              <a:t/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1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1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1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1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1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1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>
                                            <p:txEl>
                                              <p:pRg end="13" st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1">
                                            <p:txEl>
                                              <p:pRg end="13" st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>
                                            <p:txEl>
                                              <p:pRg end="14" st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1">
                                            <p:txEl>
                                              <p:pRg end="14" st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>
                                            <p:txEl>
                                              <p:pRg end="15" st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1">
                                            <p:txEl>
                                              <p:pRg end="15" st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2fc423d0b5_0_62"/>
          <p:cNvSpPr txBox="1"/>
          <p:nvPr>
            <p:ph type="title"/>
          </p:nvPr>
        </p:nvSpPr>
        <p:spPr>
          <a:xfrm>
            <a:off x="457200" y="274646"/>
            <a:ext cx="8229600" cy="763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Libre Franklin"/>
              <a:buNone/>
            </a:pP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CLASS IN C++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7" name="Google Shape;187;g32fc423d0b5_0_62"/>
          <p:cNvSpPr txBox="1"/>
          <p:nvPr/>
        </p:nvSpPr>
        <p:spPr>
          <a:xfrm>
            <a:off x="622475" y="1286450"/>
            <a:ext cx="7494600" cy="51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#include&lt;iostream&gt;</a:t>
            </a:r>
            <a:endParaRPr b="1" i="1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using namespace std;</a:t>
            </a:r>
            <a:endParaRPr b="1" i="1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 person					</a:t>
            </a:r>
            <a:r>
              <a:rPr b="1" i="1" lang="en-US" sz="20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//class declaration</a:t>
            </a:r>
            <a:endParaRPr b="1" i="1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endParaRPr b="1" i="1" sz="2000">
              <a:solidFill>
                <a:schemeClr val="accent5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public:					</a:t>
            </a:r>
            <a:r>
              <a:rPr b="1" i="1" lang="en-US" sz="20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//access specifier</a:t>
            </a:r>
            <a:endParaRPr b="1" i="1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char name[10];</a:t>
            </a:r>
            <a:endParaRPr b="1" i="1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};</a:t>
            </a:r>
            <a:endParaRPr b="1" i="1" sz="2000">
              <a:solidFill>
                <a:schemeClr val="accent5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 main()					</a:t>
            </a:r>
            <a:r>
              <a:rPr b="1" i="1" lang="en-US" sz="20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//main function</a:t>
            </a:r>
            <a:endParaRPr b="1" i="1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endParaRPr b="1" i="1" sz="2000">
              <a:solidFill>
                <a:schemeClr val="accent5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person obj;				</a:t>
            </a:r>
            <a:r>
              <a:rPr b="1" i="1" lang="en-US" sz="20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//object creation for class</a:t>
            </a:r>
            <a:endParaRPr b="1" i="1" sz="2000">
              <a:solidFill>
                <a:schemeClr val="accent5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cout&lt;&lt;”enter the name”&lt;&lt;endl; </a:t>
            </a:r>
            <a:r>
              <a:rPr b="1" i="1" lang="en-US" sz="20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</a:t>
            </a:r>
            <a:r>
              <a:rPr b="1" i="1" lang="en-US" sz="16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/get input values for object variables</a:t>
            </a:r>
            <a:endParaRPr b="1" i="1"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cin&gt;&gt;obj.name;</a:t>
            </a:r>
            <a:endParaRPr b="1" i="1" sz="2000">
              <a:solidFill>
                <a:schemeClr val="accent5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cout&lt;&lt;obj.name;			</a:t>
            </a:r>
            <a:r>
              <a:rPr b="1" i="1" lang="en-US" sz="20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//display output</a:t>
            </a:r>
            <a:endParaRPr b="1" i="1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return 0;</a:t>
            </a:r>
            <a:endParaRPr b="1" i="1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 b="1" i="1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endParaRPr b="1" i="1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2fc423d0b5_0_67"/>
          <p:cNvSpPr txBox="1"/>
          <p:nvPr>
            <p:ph type="title"/>
          </p:nvPr>
        </p:nvSpPr>
        <p:spPr>
          <a:xfrm>
            <a:off x="457200" y="274645"/>
            <a:ext cx="8229600" cy="680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Libre Franklin"/>
              <a:buNone/>
            </a:pP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STRUCTURE IN C++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3" name="Google Shape;193;g32fc423d0b5_0_67"/>
          <p:cNvSpPr txBox="1"/>
          <p:nvPr/>
        </p:nvSpPr>
        <p:spPr>
          <a:xfrm>
            <a:off x="663875" y="1162200"/>
            <a:ext cx="7932000" cy="567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#iclude&lt;iostream.h&gt;</a:t>
            </a:r>
            <a:endParaRPr b="1" i="1"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#include&lt;string.h&gt;</a:t>
            </a:r>
            <a:endParaRPr b="1" i="1"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using namespace std;</a:t>
            </a:r>
            <a:endParaRPr b="1" i="1"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struct person</a:t>
            </a:r>
            <a:endParaRPr b="1" i="1"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endParaRPr b="1" i="1"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char name[10];</a:t>
            </a:r>
            <a:endParaRPr b="1" i="1"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int age;</a:t>
            </a:r>
            <a:endParaRPr b="1" i="1"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float salary;</a:t>
            </a:r>
            <a:endParaRPr b="1" i="1"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};</a:t>
            </a:r>
            <a:endParaRPr b="1" i="1"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 main()</a:t>
            </a:r>
            <a:endParaRPr b="1" i="1"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endParaRPr b="1" i="1"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person pl;						</a:t>
            </a:r>
            <a:r>
              <a:rPr b="1" i="1" lang="en-US" sz="17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//object created for class</a:t>
            </a:r>
            <a:r>
              <a:rPr b="1" i="1" lang="en-US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endParaRPr b="1" i="1"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cout&lt;&lt;”enter the name”&lt;&lt;endl;</a:t>
            </a:r>
            <a:endParaRPr b="1" i="1"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cin&gt;&gt;pl.name;</a:t>
            </a:r>
            <a:endParaRPr b="1" i="1"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cout&lt;&lt;”enter age”&lt;endl;</a:t>
            </a:r>
            <a:endParaRPr b="1" i="1"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cin&gt;&gt;pl.age;</a:t>
            </a:r>
            <a:endParaRPr b="1" i="1"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cout&lt;&lt;”enter salary”&lt;&lt;endl;</a:t>
            </a:r>
            <a:endParaRPr b="1" i="1"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cin&gt;&gt;pl.salary;</a:t>
            </a:r>
            <a:endParaRPr b="1" i="1"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cout&lt;&lt;pl.name&lt;&lt;endl&lt;&lt;pl.age&lt;&lt;end;&lt;&lt;pl.salary&lt;&lt;endl;</a:t>
            </a:r>
            <a:endParaRPr b="1" i="1"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return 0;</a:t>
            </a:r>
            <a:endParaRPr b="1" i="1"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 b="1" i="1"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2fc423d0b5_0_72"/>
          <p:cNvSpPr txBox="1"/>
          <p:nvPr>
            <p:ph type="title"/>
          </p:nvPr>
        </p:nvSpPr>
        <p:spPr>
          <a:xfrm>
            <a:off x="457200" y="0"/>
            <a:ext cx="8229600" cy="1010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Libre Franklin"/>
              <a:buNone/>
            </a:pP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Standard output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9" name="Google Shape;199;g32fc423d0b5_0_72"/>
          <p:cNvSpPr txBox="1"/>
          <p:nvPr>
            <p:ph idx="1" type="body"/>
          </p:nvPr>
        </p:nvSpPr>
        <p:spPr>
          <a:xfrm>
            <a:off x="152400" y="1219200"/>
            <a:ext cx="8763000" cy="56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16865" lvl="0" marL="274320" rtl="0" algn="just">
              <a:spcBef>
                <a:spcPts val="0"/>
              </a:spcBef>
              <a:spcAft>
                <a:spcPts val="0"/>
              </a:spcAft>
              <a:buSzPts val="2200"/>
              <a:buChar char="•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he standard output by default is the screen, and the C++ stream object defined to access it is </a:t>
            </a:r>
            <a:r>
              <a:rPr b="1" lang="en-US" sz="2200">
                <a:latin typeface="Times New Roman"/>
                <a:ea typeface="Times New Roman"/>
                <a:cs typeface="Times New Roman"/>
                <a:sym typeface="Times New Roman"/>
              </a:rPr>
              <a:t>cout.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77165" lvl="0" marL="274320" rtl="0" algn="just">
              <a:spcBef>
                <a:spcPts val="580"/>
              </a:spcBef>
              <a:spcAft>
                <a:spcPts val="0"/>
              </a:spcAft>
              <a:buSzPts val="1530"/>
              <a:buNone/>
            </a:pPr>
            <a:r>
              <a:t/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6865" lvl="0" marL="274320" rtl="0" algn="just">
              <a:spcBef>
                <a:spcPts val="580"/>
              </a:spcBef>
              <a:spcAft>
                <a:spcPts val="0"/>
              </a:spcAft>
              <a:buSzPts val="2200"/>
              <a:buFont typeface="Times New Roman"/>
              <a:buChar char="•"/>
            </a:pPr>
            <a:r>
              <a:rPr b="1" i="1" lang="en-US" sz="2200">
                <a:latin typeface="Times New Roman"/>
                <a:ea typeface="Times New Roman"/>
                <a:cs typeface="Times New Roman"/>
                <a:sym typeface="Times New Roman"/>
              </a:rPr>
              <a:t>cout </a:t>
            </a: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is used together with the </a:t>
            </a:r>
            <a:r>
              <a:rPr i="1" lang="en-US" sz="2200">
                <a:latin typeface="Times New Roman"/>
                <a:ea typeface="Times New Roman"/>
                <a:cs typeface="Times New Roman"/>
                <a:sym typeface="Times New Roman"/>
              </a:rPr>
              <a:t>insertion operator</a:t>
            </a: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, which is written as &lt;&lt;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77165" lvl="0" marL="274320" rtl="0" algn="just">
              <a:spcBef>
                <a:spcPts val="580"/>
              </a:spcBef>
              <a:spcAft>
                <a:spcPts val="0"/>
              </a:spcAft>
              <a:buSzPts val="1530"/>
              <a:buNone/>
            </a:pPr>
            <a:r>
              <a:t/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6865" lvl="0" marL="274320" rtl="0" algn="just">
              <a:spcBef>
                <a:spcPts val="580"/>
              </a:spcBef>
              <a:spcAft>
                <a:spcPts val="0"/>
              </a:spcAft>
              <a:buSzPts val="2200"/>
              <a:buFont typeface="Times New Roman"/>
              <a:buChar char="•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The </a:t>
            </a:r>
            <a:r>
              <a:rPr b="1" i="1" lang="en-US" sz="2200">
                <a:latin typeface="Times New Roman"/>
                <a:ea typeface="Times New Roman"/>
                <a:cs typeface="Times New Roman"/>
                <a:sym typeface="Times New Roman"/>
              </a:rPr>
              <a:t>&lt;&lt;</a:t>
            </a: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 operator inserts the data that follows it into the stream that precedes it.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6865" lvl="0" marL="274320" rtl="0" algn="just">
              <a:spcBef>
                <a:spcPts val="580"/>
              </a:spcBef>
              <a:spcAft>
                <a:spcPts val="0"/>
              </a:spcAft>
              <a:buSzPts val="2200"/>
              <a:buFont typeface="Times New Roman"/>
              <a:buChar char="•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Ex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1" marL="548640" rtl="0" algn="just">
              <a:spcBef>
                <a:spcPts val="370"/>
              </a:spcBef>
              <a:spcAft>
                <a:spcPts val="0"/>
              </a:spcAft>
              <a:buSzPts val="1360"/>
              <a:buNone/>
            </a:pPr>
            <a:r>
              <a:rPr b="1" i="1" lang="en-US" sz="2200">
                <a:latin typeface="Times New Roman"/>
                <a:ea typeface="Times New Roman"/>
                <a:cs typeface="Times New Roman"/>
                <a:sym typeface="Times New Roman"/>
              </a:rPr>
              <a:t>cout &lt;&lt; "Output sentence";   </a:t>
            </a:r>
            <a:r>
              <a:rPr b="1" i="1" lang="en-US" sz="22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 prints Output sentence on screen</a:t>
            </a:r>
            <a:r>
              <a:rPr b="1" i="1" lang="en-US" sz="22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1" i="1"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1" marL="548640" rtl="0" algn="just">
              <a:spcBef>
                <a:spcPts val="370"/>
              </a:spcBef>
              <a:spcAft>
                <a:spcPts val="0"/>
              </a:spcAft>
              <a:buSzPts val="1360"/>
              <a:buNone/>
            </a:pPr>
            <a:r>
              <a:rPr b="1" i="1" lang="en-US" sz="2200">
                <a:latin typeface="Times New Roman"/>
                <a:ea typeface="Times New Roman"/>
                <a:cs typeface="Times New Roman"/>
                <a:sym typeface="Times New Roman"/>
              </a:rPr>
              <a:t>cout &lt;&lt; 120; 		             </a:t>
            </a:r>
            <a:r>
              <a:rPr b="1" i="1" lang="en-US" sz="22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 prints number 120 on screen</a:t>
            </a:r>
            <a:r>
              <a:rPr b="1" i="1" lang="en-US" sz="22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1" i="1"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1" marL="548640" rtl="0" algn="just">
              <a:spcBef>
                <a:spcPts val="370"/>
              </a:spcBef>
              <a:spcAft>
                <a:spcPts val="0"/>
              </a:spcAft>
              <a:buSzPts val="1360"/>
              <a:buNone/>
            </a:pPr>
            <a:r>
              <a:rPr b="1" i="1" lang="en-US" sz="2200">
                <a:latin typeface="Times New Roman"/>
                <a:ea typeface="Times New Roman"/>
                <a:cs typeface="Times New Roman"/>
                <a:sym typeface="Times New Roman"/>
              </a:rPr>
              <a:t>cout &lt;&lt; x;		            </a:t>
            </a:r>
            <a:r>
              <a:rPr b="1" i="1" lang="en-US" sz="22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 prints the value of x on screen </a:t>
            </a:r>
            <a:endParaRPr b="1" i="1" sz="2200">
              <a:solidFill>
                <a:schemeClr val="accent5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1" marL="548640" rtl="0" algn="just">
              <a:spcBef>
                <a:spcPts val="370"/>
              </a:spcBef>
              <a:spcAft>
                <a:spcPts val="0"/>
              </a:spcAft>
              <a:buSzPts val="1360"/>
              <a:buNone/>
            </a:pPr>
            <a:r>
              <a:rPr b="1" i="1" lang="en-US" sz="2200">
                <a:latin typeface="Times New Roman"/>
                <a:ea typeface="Times New Roman"/>
                <a:cs typeface="Times New Roman"/>
                <a:sym typeface="Times New Roman"/>
              </a:rPr>
              <a:t>cout &lt;&lt; "Hello";	           </a:t>
            </a:r>
            <a:r>
              <a:rPr b="1" i="1" lang="en-US" sz="22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 prints Hello</a:t>
            </a:r>
            <a:endParaRPr b="1" i="1" sz="2200">
              <a:solidFill>
                <a:schemeClr val="accent5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1" marL="548640" rtl="0" algn="just">
              <a:spcBef>
                <a:spcPts val="370"/>
              </a:spcBef>
              <a:spcAft>
                <a:spcPts val="0"/>
              </a:spcAft>
              <a:buSzPts val="1360"/>
              <a:buNone/>
            </a:pPr>
            <a:r>
              <a:rPr b="1" i="1" lang="en-US" sz="2200">
                <a:latin typeface="Times New Roman"/>
                <a:ea typeface="Times New Roman"/>
                <a:cs typeface="Times New Roman"/>
                <a:sym typeface="Times New Roman"/>
              </a:rPr>
              <a:t>cout &lt;&lt; Hello; </a:t>
            </a:r>
            <a:r>
              <a:rPr b="1" i="1" lang="en-US" sz="22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          // prints the content of variable Hello</a:t>
            </a:r>
            <a:b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44780" lvl="0" marL="274320" rtl="0" algn="just">
              <a:spcBef>
                <a:spcPts val="580"/>
              </a:spcBef>
              <a:spcAft>
                <a:spcPts val="0"/>
              </a:spcAft>
              <a:buSzPts val="2040"/>
              <a:buNone/>
            </a:pPr>
            <a:r>
              <a:t/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55575" lvl="0" marL="274320" rtl="0" algn="just">
              <a:spcBef>
                <a:spcPts val="580"/>
              </a:spcBef>
              <a:spcAft>
                <a:spcPts val="0"/>
              </a:spcAft>
              <a:buSzPts val="1870"/>
              <a:buNone/>
            </a:pPr>
            <a:r>
              <a:t/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77165" lvl="0" marL="274320" rtl="0" algn="just">
              <a:spcBef>
                <a:spcPts val="580"/>
              </a:spcBef>
              <a:spcAft>
                <a:spcPts val="0"/>
              </a:spcAft>
              <a:buSzPts val="1530"/>
              <a:buNone/>
            </a:pPr>
            <a:r>
              <a:t/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77165" lvl="0" marL="274320" rtl="0" algn="just">
              <a:spcBef>
                <a:spcPts val="580"/>
              </a:spcBef>
              <a:spcAft>
                <a:spcPts val="0"/>
              </a:spcAft>
              <a:buSzPts val="1530"/>
              <a:buNone/>
            </a:pPr>
            <a:r>
              <a:t/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77165" lvl="0" marL="274320" rtl="0" algn="just">
              <a:spcBef>
                <a:spcPts val="580"/>
              </a:spcBef>
              <a:spcAft>
                <a:spcPts val="0"/>
              </a:spcAft>
              <a:buSzPts val="1530"/>
              <a:buNone/>
            </a:pPr>
            <a:r>
              <a:t/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44780" lvl="0" marL="274320" rtl="0" algn="just">
              <a:spcBef>
                <a:spcPts val="580"/>
              </a:spcBef>
              <a:spcAft>
                <a:spcPts val="0"/>
              </a:spcAft>
              <a:buSzPts val="2040"/>
              <a:buNone/>
            </a:pPr>
            <a:r>
              <a:t/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55575" lvl="0" marL="274320" rtl="0" algn="just">
              <a:spcBef>
                <a:spcPts val="580"/>
              </a:spcBef>
              <a:spcAft>
                <a:spcPts val="0"/>
              </a:spcAft>
              <a:buSzPts val="1870"/>
              <a:buNone/>
            </a:pPr>
            <a:r>
              <a:t/>
            </a:r>
            <a:endParaRPr sz="2200">
              <a:solidFill>
                <a:srgbClr val="DB53DE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9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9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9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9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9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9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9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99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99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99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99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99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99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>
                                            <p:txEl>
                                              <p:pRg end="13" st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99">
                                            <p:txEl>
                                              <p:pRg end="13" st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>
                                            <p:txEl>
                                              <p:pRg end="14" st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99">
                                            <p:txEl>
                                              <p:pRg end="14" st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>
                                            <p:txEl>
                                              <p:pRg end="15" st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99">
                                            <p:txEl>
                                              <p:pRg end="15" st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>
                                            <p:txEl>
                                              <p:pRg end="16" st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99">
                                            <p:txEl>
                                              <p:pRg end="16" st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>
                                            <p:txEl>
                                              <p:pRg end="17" st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99">
                                            <p:txEl>
                                              <p:pRg end="17" st="1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2fc423d0b5_0_77"/>
          <p:cNvSpPr txBox="1"/>
          <p:nvPr>
            <p:ph type="title"/>
          </p:nvPr>
        </p:nvSpPr>
        <p:spPr>
          <a:xfrm>
            <a:off x="457200" y="0"/>
            <a:ext cx="8229600" cy="913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Libre Franklin"/>
              <a:buNone/>
            </a:pP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Standard input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5" name="Google Shape;205;g32fc423d0b5_0_77"/>
          <p:cNvSpPr txBox="1"/>
          <p:nvPr>
            <p:ph idx="1" type="body"/>
          </p:nvPr>
        </p:nvSpPr>
        <p:spPr>
          <a:xfrm>
            <a:off x="152400" y="1219200"/>
            <a:ext cx="8763000" cy="56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16865" lvl="0" marL="274320" rtl="0" algn="l">
              <a:spcBef>
                <a:spcPts val="0"/>
              </a:spcBef>
              <a:spcAft>
                <a:spcPts val="0"/>
              </a:spcAft>
              <a:buSzPts val="2200"/>
              <a:buChar char="•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the standard input by default is the keyboard, and the C++ stream object defined to access it is </a:t>
            </a:r>
            <a:r>
              <a:rPr b="1" lang="en-US" sz="2200">
                <a:latin typeface="Times New Roman"/>
                <a:ea typeface="Times New Roman"/>
                <a:cs typeface="Times New Roman"/>
                <a:sym typeface="Times New Roman"/>
              </a:rPr>
              <a:t>cin</a:t>
            </a: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77165" lvl="0" marL="274320" rtl="0" algn="l">
              <a:spcBef>
                <a:spcPts val="580"/>
              </a:spcBef>
              <a:spcAft>
                <a:spcPts val="0"/>
              </a:spcAft>
              <a:buSzPts val="1530"/>
              <a:buNone/>
            </a:pPr>
            <a:r>
              <a:t/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6865" lvl="0" marL="274320" rtl="0" algn="l">
              <a:spcBef>
                <a:spcPts val="580"/>
              </a:spcBef>
              <a:spcAft>
                <a:spcPts val="0"/>
              </a:spcAft>
              <a:buSzPts val="2200"/>
              <a:buFont typeface="Times New Roman"/>
              <a:buChar char="•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cin is used together with the extraction operator, which is written as &gt;&gt;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77165" lvl="0" marL="274320" rtl="0" algn="l">
              <a:spcBef>
                <a:spcPts val="580"/>
              </a:spcBef>
              <a:spcAft>
                <a:spcPts val="0"/>
              </a:spcAft>
              <a:buSzPts val="1530"/>
              <a:buNone/>
            </a:pPr>
            <a:r>
              <a:t/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6865" lvl="0" marL="274320" rtl="0" algn="l">
              <a:spcBef>
                <a:spcPts val="580"/>
              </a:spcBef>
              <a:spcAft>
                <a:spcPts val="0"/>
              </a:spcAft>
              <a:buSzPts val="2200"/>
              <a:buFont typeface="Times New Roman"/>
              <a:buChar char="•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The &gt;&gt; operator is then followed by the variable where the extracted data is stored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77165" lvl="0" marL="274320" rtl="0" algn="l">
              <a:spcBef>
                <a:spcPts val="580"/>
              </a:spcBef>
              <a:spcAft>
                <a:spcPts val="0"/>
              </a:spcAft>
              <a:buSzPts val="1530"/>
              <a:buNone/>
            </a:pPr>
            <a:r>
              <a:t/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6865" lvl="0" marL="274320" rtl="0" algn="l">
              <a:spcBef>
                <a:spcPts val="580"/>
              </a:spcBef>
              <a:spcAft>
                <a:spcPts val="0"/>
              </a:spcAft>
              <a:buSzPts val="2200"/>
              <a:buFont typeface="Times New Roman"/>
              <a:buChar char="•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Ex: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4320" lvl="0" marL="274320" rtl="0" algn="l">
              <a:spcBef>
                <a:spcPts val="580"/>
              </a:spcBef>
              <a:spcAft>
                <a:spcPts val="0"/>
              </a:spcAft>
              <a:buSzPts val="1530"/>
              <a:buNone/>
            </a:pPr>
            <a:r>
              <a:rPr b="1" lang="en-US" sz="2200"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b="1" i="1" lang="en-US" sz="2200">
                <a:latin typeface="Times New Roman"/>
                <a:ea typeface="Times New Roman"/>
                <a:cs typeface="Times New Roman"/>
                <a:sym typeface="Times New Roman"/>
              </a:rPr>
              <a:t>int age, a, b; </a:t>
            </a:r>
            <a:endParaRPr i="1"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4320" lvl="0" marL="274320" rtl="0" algn="l">
              <a:spcBef>
                <a:spcPts val="580"/>
              </a:spcBef>
              <a:spcAft>
                <a:spcPts val="0"/>
              </a:spcAft>
              <a:buSzPts val="1530"/>
              <a:buNone/>
            </a:pPr>
            <a:r>
              <a:rPr b="1" i="1" lang="en-US" sz="2200">
                <a:latin typeface="Times New Roman"/>
                <a:ea typeface="Times New Roman"/>
                <a:cs typeface="Times New Roman"/>
                <a:sym typeface="Times New Roman"/>
              </a:rPr>
              <a:t>	cin &gt;&gt; age;      </a:t>
            </a:r>
            <a:r>
              <a:rPr i="1" lang="en-US" sz="22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  inputs a number of type int and stores it in age</a:t>
            </a:r>
            <a:br>
              <a:rPr i="1" lang="en-US" sz="22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i="1" lang="en-US" sz="2200">
                <a:latin typeface="Times New Roman"/>
                <a:ea typeface="Times New Roman"/>
                <a:cs typeface="Times New Roman"/>
                <a:sym typeface="Times New Roman"/>
              </a:rPr>
              <a:t>cin&gt;&gt;a&gt;&gt;b ;     </a:t>
            </a:r>
            <a:r>
              <a:rPr i="1" lang="en-US" sz="22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  input two numbers ot type int and saves it in a &amp;</a:t>
            </a:r>
            <a:r>
              <a:rPr i="1" lang="en-US" sz="22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i="1"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44780" lvl="0" marL="274320" rtl="0" algn="l">
              <a:spcBef>
                <a:spcPts val="580"/>
              </a:spcBef>
              <a:spcAft>
                <a:spcPts val="0"/>
              </a:spcAft>
              <a:buSzPts val="2040"/>
              <a:buNone/>
            </a:pPr>
            <a:r>
              <a:t/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55575" lvl="0" marL="274320" rtl="0" algn="l">
              <a:spcBef>
                <a:spcPts val="580"/>
              </a:spcBef>
              <a:spcAft>
                <a:spcPts val="0"/>
              </a:spcAft>
              <a:buSzPts val="1870"/>
              <a:buNone/>
            </a:pPr>
            <a:r>
              <a:t/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77165" lvl="0" marL="274320" rtl="0" algn="just">
              <a:spcBef>
                <a:spcPts val="580"/>
              </a:spcBef>
              <a:spcAft>
                <a:spcPts val="0"/>
              </a:spcAft>
              <a:buSzPts val="1530"/>
              <a:buNone/>
            </a:pPr>
            <a:r>
              <a:t/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77165" lvl="0" marL="274320" rtl="0" algn="just">
              <a:spcBef>
                <a:spcPts val="580"/>
              </a:spcBef>
              <a:spcAft>
                <a:spcPts val="0"/>
              </a:spcAft>
              <a:buSzPts val="1530"/>
              <a:buNone/>
            </a:pPr>
            <a:r>
              <a:t/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77165" lvl="0" marL="274320" rtl="0" algn="just">
              <a:spcBef>
                <a:spcPts val="580"/>
              </a:spcBef>
              <a:spcAft>
                <a:spcPts val="0"/>
              </a:spcAft>
              <a:buSzPts val="1530"/>
              <a:buNone/>
            </a:pPr>
            <a:r>
              <a:t/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44780" lvl="0" marL="274320" rtl="0" algn="l">
              <a:spcBef>
                <a:spcPts val="580"/>
              </a:spcBef>
              <a:spcAft>
                <a:spcPts val="0"/>
              </a:spcAft>
              <a:buSzPts val="2040"/>
              <a:buNone/>
            </a:pPr>
            <a:r>
              <a:t/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55575" lvl="0" marL="274320" rtl="0" algn="l">
              <a:spcBef>
                <a:spcPts val="580"/>
              </a:spcBef>
              <a:spcAft>
                <a:spcPts val="0"/>
              </a:spcAft>
              <a:buSzPts val="1870"/>
              <a:buNone/>
            </a:pPr>
            <a:r>
              <a:t/>
            </a:r>
            <a:endParaRPr sz="2200">
              <a:solidFill>
                <a:srgbClr val="DB53DE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2fc423d0b5_0_82"/>
          <p:cNvSpPr txBox="1"/>
          <p:nvPr>
            <p:ph type="title"/>
          </p:nvPr>
        </p:nvSpPr>
        <p:spPr>
          <a:xfrm>
            <a:off x="457200" y="152400"/>
            <a:ext cx="8229600" cy="692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Libre Franklin"/>
              <a:buNone/>
            </a:pP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Structure of C++ program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1" name="Google Shape;211;g32fc423d0b5_0_82"/>
          <p:cNvSpPr txBox="1"/>
          <p:nvPr>
            <p:ph idx="1" type="body"/>
          </p:nvPr>
        </p:nvSpPr>
        <p:spPr>
          <a:xfrm>
            <a:off x="457200" y="1371600"/>
            <a:ext cx="82296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165" lvl="0" marL="274320" rtl="0" algn="just"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•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C++ Programming language is most 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3429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popular language after C  Programming 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3429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language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165" lvl="0" marL="274320" rtl="0" algn="just">
              <a:spcBef>
                <a:spcPts val="580"/>
              </a:spcBef>
              <a:spcAft>
                <a:spcPts val="0"/>
              </a:spcAft>
              <a:buSzPts val="2000"/>
              <a:buFont typeface="Times New Roman"/>
              <a:buChar char="•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Also known as C with classes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165" lvl="0" marL="274320" rtl="0" algn="just">
              <a:spcBef>
                <a:spcPts val="580"/>
              </a:spcBef>
              <a:spcAft>
                <a:spcPts val="0"/>
              </a:spcAft>
              <a:buSzPts val="2000"/>
              <a:buFont typeface="Times New Roman"/>
              <a:buChar char="•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C++ is first Object oriented programming 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342900" rtl="0" algn="just">
              <a:spcBef>
                <a:spcPts val="580"/>
              </a:spcBef>
              <a:spcAft>
                <a:spcPts val="0"/>
              </a:spcAft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language.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0" marL="274320" rtl="0" algn="just">
              <a:spcBef>
                <a:spcPts val="580"/>
              </a:spcBef>
              <a:spcAft>
                <a:spcPts val="0"/>
              </a:spcAft>
              <a:buSzPts val="2000"/>
              <a:buFont typeface="Times New Roman"/>
              <a:buChar char="•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It has the form as shown: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77165" lvl="0" marL="274320" rtl="0" algn="just">
              <a:spcBef>
                <a:spcPts val="580"/>
              </a:spcBef>
              <a:spcAft>
                <a:spcPts val="0"/>
              </a:spcAft>
              <a:buSzPts val="1530"/>
              <a:buNone/>
            </a:pPr>
            <a:r>
              <a:t/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77165" lvl="0" marL="274320" rtl="0" algn="just">
              <a:spcBef>
                <a:spcPts val="580"/>
              </a:spcBef>
              <a:spcAft>
                <a:spcPts val="0"/>
              </a:spcAft>
              <a:buSzPts val="1530"/>
              <a:buNone/>
            </a:pPr>
            <a:r>
              <a:t/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77165" lvl="0" marL="274320" rtl="0" algn="just">
              <a:spcBef>
                <a:spcPts val="580"/>
              </a:spcBef>
              <a:spcAft>
                <a:spcPts val="0"/>
              </a:spcAft>
              <a:buSzPts val="1530"/>
              <a:buNone/>
            </a:pPr>
            <a:r>
              <a:t/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44780" lvl="0" marL="274320" rtl="0" algn="just">
              <a:spcBef>
                <a:spcPts val="580"/>
              </a:spcBef>
              <a:spcAft>
                <a:spcPts val="0"/>
              </a:spcAft>
              <a:buSzPts val="2040"/>
              <a:buNone/>
            </a:pPr>
            <a:r>
              <a:t/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55575" lvl="0" marL="274320" rtl="0" algn="just">
              <a:spcBef>
                <a:spcPts val="580"/>
              </a:spcBef>
              <a:spcAft>
                <a:spcPts val="0"/>
              </a:spcAft>
              <a:buSzPts val="1870"/>
              <a:buNone/>
            </a:pPr>
            <a:r>
              <a:t/>
            </a:r>
            <a:endParaRPr sz="2000">
              <a:solidFill>
                <a:srgbClr val="DB53DE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231555.JPG" id="212" name="Google Shape;212;g32fc423d0b5_0_8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19325" y="1452100"/>
            <a:ext cx="3467475" cy="4467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2fc423d0b5_0_88"/>
          <p:cNvSpPr txBox="1"/>
          <p:nvPr>
            <p:ph type="title"/>
          </p:nvPr>
        </p:nvSpPr>
        <p:spPr>
          <a:xfrm>
            <a:off x="457200" y="152400"/>
            <a:ext cx="8229600" cy="706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Libre Franklin"/>
              <a:buNone/>
            </a:pP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Structure of C++ program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8" name="Google Shape;218;g32fc423d0b5_0_88"/>
          <p:cNvSpPr txBox="1"/>
          <p:nvPr>
            <p:ph idx="1" type="body"/>
          </p:nvPr>
        </p:nvSpPr>
        <p:spPr>
          <a:xfrm>
            <a:off x="190500" y="1143000"/>
            <a:ext cx="87630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4480" lvl="0" marL="274320" rtl="0" algn="just"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Char char="•"/>
            </a:pPr>
            <a:r>
              <a:rPr b="1" lang="en-US" sz="2200">
                <a:latin typeface="Times New Roman"/>
                <a:ea typeface="Times New Roman"/>
                <a:cs typeface="Times New Roman"/>
                <a:sym typeface="Times New Roman"/>
              </a:rPr>
              <a:t>Header File Declaration</a:t>
            </a:r>
            <a:endParaRPr b="1"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60350" lvl="1" marL="548640" rtl="0" algn="just">
              <a:spcBef>
                <a:spcPts val="370"/>
              </a:spcBef>
              <a:spcAft>
                <a:spcPts val="0"/>
              </a:spcAft>
              <a:buSzPts val="2200"/>
              <a:buFont typeface="Times New Roman"/>
              <a:buChar char="–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Header files used in the program are listed in this section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60350" lvl="1" marL="548640" rtl="0" algn="just">
              <a:spcBef>
                <a:spcPts val="370"/>
              </a:spcBef>
              <a:spcAft>
                <a:spcPts val="0"/>
              </a:spcAft>
              <a:buSzPts val="2200"/>
              <a:buFont typeface="Times New Roman"/>
              <a:buChar char="–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Header File provides Prototype declaration for different library functions.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60350" lvl="1" marL="548640" rtl="0" algn="just">
              <a:spcBef>
                <a:spcPts val="370"/>
              </a:spcBef>
              <a:spcAft>
                <a:spcPts val="0"/>
              </a:spcAft>
              <a:buSzPts val="2200"/>
              <a:buFont typeface="Times New Roman"/>
              <a:buChar char="–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We can also include user define header file.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60350" lvl="1" marL="548640" rtl="0" algn="just">
              <a:spcBef>
                <a:spcPts val="370"/>
              </a:spcBef>
              <a:spcAft>
                <a:spcPts val="0"/>
              </a:spcAft>
              <a:buSzPts val="2200"/>
              <a:buFont typeface="Times New Roman"/>
              <a:buChar char="–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Basically all preprocessor directives are written in this section.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98755" lvl="0" marL="274320" rtl="0" algn="just">
              <a:spcBef>
                <a:spcPts val="580"/>
              </a:spcBef>
              <a:spcAft>
                <a:spcPts val="0"/>
              </a:spcAft>
              <a:buSzPts val="1190"/>
              <a:buNone/>
            </a:pPr>
            <a:r>
              <a:t/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4480" lvl="0" marL="274320" rtl="0" algn="just">
              <a:spcBef>
                <a:spcPts val="580"/>
              </a:spcBef>
              <a:spcAft>
                <a:spcPts val="0"/>
              </a:spcAft>
              <a:buSzPts val="2200"/>
              <a:buFont typeface="Times New Roman"/>
              <a:buChar char="•"/>
            </a:pPr>
            <a:r>
              <a:rPr b="1" lang="en-US" sz="2200">
                <a:latin typeface="Times New Roman"/>
                <a:ea typeface="Times New Roman"/>
                <a:cs typeface="Times New Roman"/>
                <a:sym typeface="Times New Roman"/>
              </a:rPr>
              <a:t>Global Declaration Section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60350" lvl="1" marL="548640" rtl="0" algn="just">
              <a:spcBef>
                <a:spcPts val="370"/>
              </a:spcBef>
              <a:spcAft>
                <a:spcPts val="0"/>
              </a:spcAft>
              <a:buSzPts val="2200"/>
              <a:buFont typeface="Times New Roman"/>
              <a:buChar char="–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Global Variables are declared here, which may include -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1145" lvl="2" marL="822960" rtl="0" algn="just">
              <a:spcBef>
                <a:spcPts val="370"/>
              </a:spcBef>
              <a:spcAft>
                <a:spcPts val="0"/>
              </a:spcAft>
              <a:buSzPts val="2200"/>
              <a:buFont typeface="Times New Roman"/>
              <a:buChar char="•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Declaring Structure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1145" lvl="2" marL="822960" rtl="0" algn="just">
              <a:spcBef>
                <a:spcPts val="370"/>
              </a:spcBef>
              <a:spcAft>
                <a:spcPts val="0"/>
              </a:spcAft>
              <a:buSzPts val="2200"/>
              <a:buFont typeface="Times New Roman"/>
              <a:buChar char="•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Declaring Class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1145" lvl="2" marL="822960" rtl="0" algn="just">
              <a:spcBef>
                <a:spcPts val="370"/>
              </a:spcBef>
              <a:spcAft>
                <a:spcPts val="0"/>
              </a:spcAft>
              <a:buSzPts val="2200"/>
              <a:buFont typeface="Times New Roman"/>
              <a:buChar char="•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Declaring Variable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55575" lvl="0" marL="274320" rtl="0" algn="just">
              <a:spcBef>
                <a:spcPts val="580"/>
              </a:spcBef>
              <a:spcAft>
                <a:spcPts val="0"/>
              </a:spcAft>
              <a:buSzPts val="1870"/>
              <a:buNone/>
            </a:pPr>
            <a:r>
              <a:t/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77165" lvl="0" marL="274320" rtl="0" algn="just">
              <a:spcBef>
                <a:spcPts val="580"/>
              </a:spcBef>
              <a:spcAft>
                <a:spcPts val="0"/>
              </a:spcAft>
              <a:buSzPts val="1530"/>
              <a:buNone/>
            </a:pPr>
            <a:r>
              <a:t/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77165" lvl="0" marL="274320" rtl="0" algn="just">
              <a:spcBef>
                <a:spcPts val="580"/>
              </a:spcBef>
              <a:spcAft>
                <a:spcPts val="0"/>
              </a:spcAft>
              <a:buSzPts val="1530"/>
              <a:buNone/>
            </a:pPr>
            <a:r>
              <a:t/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77165" lvl="0" marL="274320" rtl="0" algn="just">
              <a:spcBef>
                <a:spcPts val="580"/>
              </a:spcBef>
              <a:spcAft>
                <a:spcPts val="0"/>
              </a:spcAft>
              <a:buSzPts val="1530"/>
              <a:buNone/>
            </a:pPr>
            <a:r>
              <a:t/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44780" lvl="0" marL="274320" rtl="0" algn="just">
              <a:spcBef>
                <a:spcPts val="580"/>
              </a:spcBef>
              <a:spcAft>
                <a:spcPts val="0"/>
              </a:spcAft>
              <a:buSzPts val="2040"/>
              <a:buNone/>
            </a:pPr>
            <a:r>
              <a:t/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55575" lvl="0" marL="274320" rtl="0" algn="just">
              <a:spcBef>
                <a:spcPts val="580"/>
              </a:spcBef>
              <a:spcAft>
                <a:spcPts val="0"/>
              </a:spcAft>
              <a:buSzPts val="1870"/>
              <a:buNone/>
            </a:pPr>
            <a:r>
              <a:t/>
            </a:r>
            <a:endParaRPr sz="2200">
              <a:solidFill>
                <a:srgbClr val="DB53DE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219" name="Google Shape;219;g32fc423d0b5_0_88"/>
          <p:cNvGrpSpPr/>
          <p:nvPr/>
        </p:nvGrpSpPr>
        <p:grpSpPr>
          <a:xfrm>
            <a:off x="521800" y="5872930"/>
            <a:ext cx="2640711" cy="706221"/>
            <a:chOff x="0" y="6338888"/>
            <a:chExt cx="1905000" cy="533400"/>
          </a:xfrm>
        </p:grpSpPr>
        <p:pic>
          <p:nvPicPr>
            <p:cNvPr descr="231555.JPG" id="220" name="Google Shape;220;g32fc423d0b5_0_88"/>
            <p:cNvPicPr preferRelativeResize="0"/>
            <p:nvPr/>
          </p:nvPicPr>
          <p:blipFill rotWithShape="1">
            <a:blip r:embed="rId3">
              <a:alphaModFix/>
            </a:blip>
            <a:srcRect b="83018" l="0" r="0" t="0"/>
            <a:stretch/>
          </p:blipFill>
          <p:spPr>
            <a:xfrm>
              <a:off x="0" y="6338888"/>
              <a:ext cx="1524000" cy="5334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1" name="Google Shape;221;g32fc423d0b5_0_88"/>
            <p:cNvSpPr/>
            <p:nvPr/>
          </p:nvSpPr>
          <p:spPr>
            <a:xfrm>
              <a:off x="1524000" y="6477000"/>
              <a:ext cx="381000" cy="381000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chemeClr val="accent1"/>
            </a:solidFill>
            <a:ln cap="flat" cmpd="sng" w="12700">
              <a:solidFill>
                <a:srgbClr val="99341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endParaRPr>
            </a:p>
          </p:txBody>
        </p:sp>
      </p:grpSp>
      <p:grpSp>
        <p:nvGrpSpPr>
          <p:cNvPr id="222" name="Google Shape;222;g32fc423d0b5_0_88"/>
          <p:cNvGrpSpPr/>
          <p:nvPr/>
        </p:nvGrpSpPr>
        <p:grpSpPr>
          <a:xfrm>
            <a:off x="3162490" y="5872935"/>
            <a:ext cx="2640741" cy="706222"/>
            <a:chOff x="1905000" y="6324600"/>
            <a:chExt cx="1981200" cy="533400"/>
          </a:xfrm>
        </p:grpSpPr>
        <p:pic>
          <p:nvPicPr>
            <p:cNvPr descr="231555.JPG" id="223" name="Google Shape;223;g32fc423d0b5_0_88"/>
            <p:cNvPicPr preferRelativeResize="0"/>
            <p:nvPr/>
          </p:nvPicPr>
          <p:blipFill rotWithShape="1">
            <a:blip r:embed="rId3">
              <a:alphaModFix/>
            </a:blip>
            <a:srcRect b="71697" l="0" r="0" t="16981"/>
            <a:stretch/>
          </p:blipFill>
          <p:spPr>
            <a:xfrm>
              <a:off x="1905000" y="6324600"/>
              <a:ext cx="1600200" cy="5334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4" name="Google Shape;224;g32fc423d0b5_0_88"/>
            <p:cNvSpPr/>
            <p:nvPr/>
          </p:nvSpPr>
          <p:spPr>
            <a:xfrm>
              <a:off x="3505200" y="6477000"/>
              <a:ext cx="381000" cy="381000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chemeClr val="accent1"/>
            </a:solidFill>
            <a:ln cap="flat" cmpd="sng" w="12700">
              <a:solidFill>
                <a:srgbClr val="99341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8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8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8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8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8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8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>
                                            <p:txEl>
                                              <p:pRg end="13" st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8">
                                            <p:txEl>
                                              <p:pRg end="13" st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>
                                            <p:txEl>
                                              <p:pRg end="14" st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8">
                                            <p:txEl>
                                              <p:pRg end="14" st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>
                                            <p:txEl>
                                              <p:pRg end="15" st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8">
                                            <p:txEl>
                                              <p:pRg end="15" st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>
                                            <p:txEl>
                                              <p:pRg end="16" st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8">
                                            <p:txEl>
                                              <p:pRg end="16" st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2fc423d0b5_0_99"/>
          <p:cNvSpPr txBox="1"/>
          <p:nvPr>
            <p:ph type="title"/>
          </p:nvPr>
        </p:nvSpPr>
        <p:spPr>
          <a:xfrm>
            <a:off x="457200" y="152400"/>
            <a:ext cx="8229600" cy="885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Libre Franklin"/>
              <a:buNone/>
            </a:pP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Structure of C++ program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0" name="Google Shape;230;g32fc423d0b5_0_99"/>
          <p:cNvSpPr txBox="1"/>
          <p:nvPr>
            <p:ph idx="1" type="body"/>
          </p:nvPr>
        </p:nvSpPr>
        <p:spPr>
          <a:xfrm>
            <a:off x="190500" y="1178325"/>
            <a:ext cx="8763000" cy="394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1780" lvl="0" marL="274320" rtl="0" algn="just"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•"/>
            </a:pPr>
            <a:r>
              <a:rPr b="1" lang="en-US" sz="2000">
                <a:latin typeface="Times New Roman"/>
                <a:ea typeface="Times New Roman"/>
                <a:cs typeface="Times New Roman"/>
                <a:sym typeface="Times New Roman"/>
              </a:rPr>
              <a:t>Class Declaration Section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47650" lvl="1" marL="548640" rtl="0" algn="just">
              <a:spcBef>
                <a:spcPts val="370"/>
              </a:spcBef>
              <a:spcAft>
                <a:spcPts val="0"/>
              </a:spcAft>
              <a:buSzPts val="2000"/>
              <a:buFont typeface="Times New Roman"/>
              <a:buChar char="–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Actually this section can be considered as sub section for the global declaration section.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47650" lvl="1" marL="548640" rtl="0" algn="just">
              <a:spcBef>
                <a:spcPts val="370"/>
              </a:spcBef>
              <a:spcAft>
                <a:spcPts val="0"/>
              </a:spcAft>
              <a:buSzPts val="2000"/>
              <a:buFont typeface="Times New Roman"/>
              <a:buChar char="–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Class declaration and all methods of that class are defined here.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20650" lvl="1" marL="548640" rtl="0" algn="just">
              <a:spcBef>
                <a:spcPts val="37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1780" lvl="0" marL="274320" rtl="0" algn="just">
              <a:spcBef>
                <a:spcPts val="580"/>
              </a:spcBef>
              <a:spcAft>
                <a:spcPts val="0"/>
              </a:spcAft>
              <a:buSzPts val="2000"/>
              <a:buFont typeface="Times New Roman"/>
              <a:buChar char="•"/>
            </a:pPr>
            <a:r>
              <a:rPr b="1" lang="en-US" sz="2000">
                <a:latin typeface="Times New Roman"/>
                <a:ea typeface="Times New Roman"/>
                <a:cs typeface="Times New Roman"/>
                <a:sym typeface="Times New Roman"/>
              </a:rPr>
              <a:t>Main Function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47650" lvl="1" marL="548640" rtl="0" algn="just">
              <a:spcBef>
                <a:spcPts val="370"/>
              </a:spcBef>
              <a:spcAft>
                <a:spcPts val="0"/>
              </a:spcAft>
              <a:buSzPts val="2000"/>
              <a:buFont typeface="Times New Roman"/>
              <a:buChar char="–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Each and every C++ program always starts with main function.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47650" lvl="1" marL="548640" rtl="0" algn="just">
              <a:spcBef>
                <a:spcPts val="370"/>
              </a:spcBef>
              <a:spcAft>
                <a:spcPts val="0"/>
              </a:spcAft>
              <a:buSzPts val="2000"/>
              <a:buFont typeface="Times New Roman"/>
              <a:buChar char="–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This is entry point for all the function. Each and every method is called indirectly through main.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47650" lvl="1" marL="548640" rtl="0" algn="just">
              <a:spcBef>
                <a:spcPts val="370"/>
              </a:spcBef>
              <a:spcAft>
                <a:spcPts val="0"/>
              </a:spcAft>
              <a:buSzPts val="2000"/>
              <a:buFont typeface="Times New Roman"/>
              <a:buChar char="–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We can create class objects in the main.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47650" lvl="1" marL="548640" rtl="0" algn="just">
              <a:spcBef>
                <a:spcPts val="370"/>
              </a:spcBef>
              <a:spcAft>
                <a:spcPts val="0"/>
              </a:spcAft>
              <a:buSzPts val="2000"/>
              <a:buFont typeface="Times New Roman"/>
              <a:buChar char="–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Operating system call this function automatically.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44780" lvl="0" marL="274320" rtl="0" algn="just">
              <a:spcBef>
                <a:spcPts val="580"/>
              </a:spcBef>
              <a:spcAft>
                <a:spcPts val="0"/>
              </a:spcAft>
              <a:buSzPts val="2040"/>
              <a:buNone/>
            </a:pPr>
            <a:r>
              <a:t/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55575" lvl="0" marL="274320" rtl="0" algn="just">
              <a:spcBef>
                <a:spcPts val="580"/>
              </a:spcBef>
              <a:spcAft>
                <a:spcPts val="0"/>
              </a:spcAft>
              <a:buSzPts val="1870"/>
              <a:buNone/>
            </a:pPr>
            <a:r>
              <a:t/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77165" lvl="0" marL="274320" rtl="0" algn="just">
              <a:spcBef>
                <a:spcPts val="580"/>
              </a:spcBef>
              <a:spcAft>
                <a:spcPts val="0"/>
              </a:spcAft>
              <a:buSzPts val="1530"/>
              <a:buNone/>
            </a:pPr>
            <a:r>
              <a:t/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77165" lvl="0" marL="274320" rtl="0" algn="just">
              <a:spcBef>
                <a:spcPts val="580"/>
              </a:spcBef>
              <a:spcAft>
                <a:spcPts val="0"/>
              </a:spcAft>
              <a:buSzPts val="1530"/>
              <a:buNone/>
            </a:pPr>
            <a:r>
              <a:t/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77165" lvl="0" marL="274320" rtl="0" algn="just">
              <a:spcBef>
                <a:spcPts val="580"/>
              </a:spcBef>
              <a:spcAft>
                <a:spcPts val="0"/>
              </a:spcAft>
              <a:buSzPts val="1530"/>
              <a:buNone/>
            </a:pPr>
            <a:r>
              <a:t/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44780" lvl="0" marL="274320" rtl="0" algn="just">
              <a:spcBef>
                <a:spcPts val="580"/>
              </a:spcBef>
              <a:spcAft>
                <a:spcPts val="0"/>
              </a:spcAft>
              <a:buSzPts val="2040"/>
              <a:buNone/>
            </a:pPr>
            <a:r>
              <a:t/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55575" lvl="0" marL="274320" rtl="0" algn="just">
              <a:spcBef>
                <a:spcPts val="580"/>
              </a:spcBef>
              <a:spcAft>
                <a:spcPts val="0"/>
              </a:spcAft>
              <a:buSzPts val="1870"/>
              <a:buNone/>
            </a:pPr>
            <a:r>
              <a:t/>
            </a:r>
            <a:endParaRPr sz="2000">
              <a:solidFill>
                <a:srgbClr val="DB53DE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231" name="Google Shape;231;g32fc423d0b5_0_99"/>
          <p:cNvGrpSpPr/>
          <p:nvPr/>
        </p:nvGrpSpPr>
        <p:grpSpPr>
          <a:xfrm>
            <a:off x="0" y="5123933"/>
            <a:ext cx="1981200" cy="794126"/>
            <a:chOff x="0" y="6338888"/>
            <a:chExt cx="1905000" cy="533400"/>
          </a:xfrm>
        </p:grpSpPr>
        <p:pic>
          <p:nvPicPr>
            <p:cNvPr descr="231555.JPG" id="232" name="Google Shape;232;g32fc423d0b5_0_99"/>
            <p:cNvPicPr preferRelativeResize="0"/>
            <p:nvPr/>
          </p:nvPicPr>
          <p:blipFill rotWithShape="1">
            <a:blip r:embed="rId3">
              <a:alphaModFix/>
            </a:blip>
            <a:srcRect b="83018" l="0" r="0" t="0"/>
            <a:stretch/>
          </p:blipFill>
          <p:spPr>
            <a:xfrm>
              <a:off x="0" y="6338888"/>
              <a:ext cx="1524000" cy="5334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3" name="Google Shape;233;g32fc423d0b5_0_99"/>
            <p:cNvSpPr/>
            <p:nvPr/>
          </p:nvSpPr>
          <p:spPr>
            <a:xfrm>
              <a:off x="1524000" y="6477000"/>
              <a:ext cx="381000" cy="381000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chemeClr val="accent1"/>
            </a:solidFill>
            <a:ln cap="flat" cmpd="sng" w="12700">
              <a:solidFill>
                <a:srgbClr val="99341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endParaRPr>
            </a:p>
          </p:txBody>
        </p:sp>
      </p:grpSp>
      <p:grpSp>
        <p:nvGrpSpPr>
          <p:cNvPr id="234" name="Google Shape;234;g32fc423d0b5_0_99"/>
          <p:cNvGrpSpPr/>
          <p:nvPr/>
        </p:nvGrpSpPr>
        <p:grpSpPr>
          <a:xfrm>
            <a:off x="4184120" y="5148462"/>
            <a:ext cx="2202896" cy="745053"/>
            <a:chOff x="1905000" y="6324600"/>
            <a:chExt cx="1981200" cy="533400"/>
          </a:xfrm>
        </p:grpSpPr>
        <p:pic>
          <p:nvPicPr>
            <p:cNvPr descr="231555.JPG" id="235" name="Google Shape;235;g32fc423d0b5_0_99"/>
            <p:cNvPicPr preferRelativeResize="0"/>
            <p:nvPr/>
          </p:nvPicPr>
          <p:blipFill rotWithShape="1">
            <a:blip r:embed="rId3">
              <a:alphaModFix/>
            </a:blip>
            <a:srcRect b="71697" l="0" r="0" t="16981"/>
            <a:stretch/>
          </p:blipFill>
          <p:spPr>
            <a:xfrm>
              <a:off x="1905000" y="6324600"/>
              <a:ext cx="1600200" cy="5334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6" name="Google Shape;236;g32fc423d0b5_0_99"/>
            <p:cNvSpPr/>
            <p:nvPr/>
          </p:nvSpPr>
          <p:spPr>
            <a:xfrm>
              <a:off x="3505200" y="6477000"/>
              <a:ext cx="381000" cy="381000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endParaRPr>
            </a:p>
          </p:txBody>
        </p:sp>
      </p:grpSp>
      <p:grpSp>
        <p:nvGrpSpPr>
          <p:cNvPr id="237" name="Google Shape;237;g32fc423d0b5_0_99"/>
          <p:cNvGrpSpPr/>
          <p:nvPr/>
        </p:nvGrpSpPr>
        <p:grpSpPr>
          <a:xfrm>
            <a:off x="1981240" y="5148462"/>
            <a:ext cx="2202858" cy="745054"/>
            <a:chOff x="3886200" y="6400800"/>
            <a:chExt cx="2057400" cy="457200"/>
          </a:xfrm>
        </p:grpSpPr>
        <p:pic>
          <p:nvPicPr>
            <p:cNvPr descr="231555.JPG" id="238" name="Google Shape;238;g32fc423d0b5_0_99"/>
            <p:cNvPicPr preferRelativeResize="0"/>
            <p:nvPr/>
          </p:nvPicPr>
          <p:blipFill rotWithShape="1">
            <a:blip r:embed="rId3">
              <a:alphaModFix/>
            </a:blip>
            <a:srcRect b="58490" l="0" r="0" t="30188"/>
            <a:stretch/>
          </p:blipFill>
          <p:spPr>
            <a:xfrm>
              <a:off x="3886200" y="6400800"/>
              <a:ext cx="1676400" cy="457200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239" name="Google Shape;239;g32fc423d0b5_0_99"/>
            <p:cNvSpPr/>
            <p:nvPr/>
          </p:nvSpPr>
          <p:spPr>
            <a:xfrm>
              <a:off x="5562600" y="6477000"/>
              <a:ext cx="381000" cy="381000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chemeClr val="accent1"/>
            </a:solidFill>
            <a:ln cap="flat" cmpd="sng" w="12700">
              <a:solidFill>
                <a:srgbClr val="99341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endParaRPr>
            </a:p>
          </p:txBody>
        </p:sp>
      </p:grpSp>
      <p:grpSp>
        <p:nvGrpSpPr>
          <p:cNvPr id="240" name="Google Shape;240;g32fc423d0b5_0_99"/>
          <p:cNvGrpSpPr/>
          <p:nvPr/>
        </p:nvGrpSpPr>
        <p:grpSpPr>
          <a:xfrm>
            <a:off x="6387048" y="5179339"/>
            <a:ext cx="2202858" cy="683286"/>
            <a:chOff x="5943600" y="6400800"/>
            <a:chExt cx="2057400" cy="457200"/>
          </a:xfrm>
        </p:grpSpPr>
        <p:pic>
          <p:nvPicPr>
            <p:cNvPr descr="231555.JPG" id="241" name="Google Shape;241;g32fc423d0b5_0_99"/>
            <p:cNvPicPr preferRelativeResize="0"/>
            <p:nvPr/>
          </p:nvPicPr>
          <p:blipFill rotWithShape="1">
            <a:blip r:embed="rId3">
              <a:alphaModFix/>
            </a:blip>
            <a:srcRect b="30188" l="0" r="0" t="58491"/>
            <a:stretch/>
          </p:blipFill>
          <p:spPr>
            <a:xfrm>
              <a:off x="5943600" y="6400800"/>
              <a:ext cx="16764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2" name="Google Shape;242;g32fc423d0b5_0_99"/>
            <p:cNvSpPr/>
            <p:nvPr/>
          </p:nvSpPr>
          <p:spPr>
            <a:xfrm>
              <a:off x="7620000" y="6477000"/>
              <a:ext cx="381000" cy="381000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chemeClr val="accent1"/>
            </a:solidFill>
            <a:ln cap="flat" cmpd="sng" w="12700">
              <a:solidFill>
                <a:srgbClr val="99341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0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0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0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0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0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0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>
                                            <p:txEl>
                                              <p:pRg end="13" st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0">
                                            <p:txEl>
                                              <p:pRg end="13" st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>
                                            <p:txEl>
                                              <p:pRg end="14" st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0">
                                            <p:txEl>
                                              <p:pRg end="14" st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>
                                            <p:txEl>
                                              <p:pRg end="15" st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0">
                                            <p:txEl>
                                              <p:pRg end="15" st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2fc423d0b5_0_116"/>
          <p:cNvSpPr txBox="1"/>
          <p:nvPr>
            <p:ph type="title"/>
          </p:nvPr>
        </p:nvSpPr>
        <p:spPr>
          <a:xfrm>
            <a:off x="457200" y="318050"/>
            <a:ext cx="8229600" cy="678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Libre Franklin"/>
              <a:buNone/>
            </a:pP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Class Declaration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8" name="Google Shape;248;g32fc423d0b5_0_116"/>
          <p:cNvSpPr txBox="1"/>
          <p:nvPr>
            <p:ph idx="1" type="body"/>
          </p:nvPr>
        </p:nvSpPr>
        <p:spPr>
          <a:xfrm>
            <a:off x="152400" y="1371600"/>
            <a:ext cx="87630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8455" lvl="0" marL="274320" rtl="0" algn="just"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Char char="•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As we learned earlier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6865" lvl="0" marL="274320" rtl="0" algn="just">
              <a:spcBef>
                <a:spcPts val="580"/>
              </a:spcBef>
              <a:spcAft>
                <a:spcPts val="0"/>
              </a:spcAft>
              <a:buSzPts val="2200"/>
              <a:buFont typeface="Times New Roman"/>
              <a:buChar char="•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Class is a way to bind the data and its associated functions together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77165" lvl="0" marL="274320" rtl="0" algn="just">
              <a:spcBef>
                <a:spcPts val="580"/>
              </a:spcBef>
              <a:spcAft>
                <a:spcPts val="0"/>
              </a:spcAft>
              <a:buSzPts val="1530"/>
              <a:buNone/>
            </a:pPr>
            <a:r>
              <a:t/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6865" lvl="0" marL="274320" rtl="0" algn="just">
              <a:spcBef>
                <a:spcPts val="580"/>
              </a:spcBef>
              <a:spcAft>
                <a:spcPts val="0"/>
              </a:spcAft>
              <a:buSzPts val="2200"/>
              <a:buFont typeface="Times New Roman"/>
              <a:buChar char="•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We can declare class using the syntax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77165" lvl="0" marL="274320" rtl="0" algn="just">
              <a:spcBef>
                <a:spcPts val="580"/>
              </a:spcBef>
              <a:spcAft>
                <a:spcPts val="0"/>
              </a:spcAft>
              <a:buSzPts val="1530"/>
              <a:buNone/>
            </a:pPr>
            <a:r>
              <a:t/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4320" lvl="0" marL="274320" rtl="0" algn="just">
              <a:spcBef>
                <a:spcPts val="580"/>
              </a:spcBef>
              <a:spcAft>
                <a:spcPts val="0"/>
              </a:spcAft>
              <a:buSzPts val="1530"/>
              <a:buNone/>
            </a:pPr>
            <a:r>
              <a:rPr b="1" i="1" lang="en-US" sz="2200">
                <a:latin typeface="Times New Roman"/>
                <a:ea typeface="Times New Roman"/>
                <a:cs typeface="Times New Roman"/>
                <a:sym typeface="Times New Roman"/>
              </a:rPr>
              <a:t>class class-name</a:t>
            </a:r>
            <a:endParaRPr i="1"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4320" lvl="0" marL="274320" rtl="0" algn="just">
              <a:spcBef>
                <a:spcPts val="580"/>
              </a:spcBef>
              <a:spcAft>
                <a:spcPts val="0"/>
              </a:spcAft>
              <a:buSzPts val="1530"/>
              <a:buNone/>
            </a:pPr>
            <a:r>
              <a:rPr b="1" i="1" lang="en-US" sz="2200">
                <a:latin typeface="Times New Roman"/>
                <a:ea typeface="Times New Roman"/>
                <a:cs typeface="Times New Roman"/>
                <a:sym typeface="Times New Roman"/>
              </a:rPr>
              <a:t>          {</a:t>
            </a:r>
            <a:endParaRPr i="1"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4320" lvl="0" marL="274320" rtl="0" algn="just">
              <a:spcBef>
                <a:spcPts val="580"/>
              </a:spcBef>
              <a:spcAft>
                <a:spcPts val="0"/>
              </a:spcAft>
              <a:buSzPts val="1530"/>
              <a:buNone/>
            </a:pPr>
            <a:r>
              <a:rPr b="1" i="1" lang="en-US" sz="2200">
                <a:latin typeface="Times New Roman"/>
                <a:ea typeface="Times New Roman"/>
                <a:cs typeface="Times New Roman"/>
                <a:sym typeface="Times New Roman"/>
              </a:rPr>
              <a:t>            access specifier:  </a:t>
            </a:r>
            <a:endParaRPr i="1"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4320" lvl="0" marL="274320" rtl="0" algn="just">
              <a:spcBef>
                <a:spcPts val="580"/>
              </a:spcBef>
              <a:spcAft>
                <a:spcPts val="0"/>
              </a:spcAft>
              <a:buSzPts val="1530"/>
              <a:buNone/>
            </a:pPr>
            <a:r>
              <a:rPr b="1" i="1" lang="en-US" sz="2200">
                <a:latin typeface="Times New Roman"/>
                <a:ea typeface="Times New Roman"/>
                <a:cs typeface="Times New Roman"/>
                <a:sym typeface="Times New Roman"/>
              </a:rPr>
              <a:t>            data and functions </a:t>
            </a:r>
            <a:endParaRPr i="1"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4320" lvl="0" marL="274320" rtl="0" algn="just">
              <a:spcBef>
                <a:spcPts val="580"/>
              </a:spcBef>
              <a:spcAft>
                <a:spcPts val="0"/>
              </a:spcAft>
              <a:buSzPts val="1530"/>
              <a:buNone/>
            </a:pPr>
            <a:r>
              <a:rPr b="1" i="1" lang="en-US" sz="2200">
                <a:latin typeface="Times New Roman"/>
                <a:ea typeface="Times New Roman"/>
                <a:cs typeface="Times New Roman"/>
                <a:sym typeface="Times New Roman"/>
              </a:rPr>
              <a:t>          }</a:t>
            </a:r>
            <a:endParaRPr i="1"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4320" lvl="0" marL="274320" rtl="0" algn="just">
              <a:spcBef>
                <a:spcPts val="580"/>
              </a:spcBef>
              <a:spcAft>
                <a:spcPts val="0"/>
              </a:spcAft>
              <a:buSzPts val="2040"/>
              <a:buNone/>
            </a:pPr>
            <a:r>
              <a:t/>
            </a:r>
            <a:endParaRPr b="1"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6865" lvl="0" marL="274320" rtl="0" algn="just">
              <a:spcBef>
                <a:spcPts val="580"/>
              </a:spcBef>
              <a:spcAft>
                <a:spcPts val="0"/>
              </a:spcAft>
              <a:buSzPts val="2200"/>
              <a:buFont typeface="Times New Roman"/>
              <a:buChar char="•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Access specifier  can either private, public, protected. The "protected" is used when inheritance is applied.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44780" lvl="0" marL="274320" rtl="0" algn="just">
              <a:spcBef>
                <a:spcPts val="580"/>
              </a:spcBef>
              <a:spcAft>
                <a:spcPts val="0"/>
              </a:spcAft>
              <a:buSzPts val="2040"/>
              <a:buNone/>
            </a:pPr>
            <a:r>
              <a:t/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55575" lvl="0" marL="274320" rtl="0" algn="just">
              <a:spcBef>
                <a:spcPts val="580"/>
              </a:spcBef>
              <a:spcAft>
                <a:spcPts val="0"/>
              </a:spcAft>
              <a:buSzPts val="1870"/>
              <a:buNone/>
            </a:pPr>
            <a:r>
              <a:t/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77165" lvl="0" marL="274320" rtl="0" algn="just">
              <a:spcBef>
                <a:spcPts val="580"/>
              </a:spcBef>
              <a:spcAft>
                <a:spcPts val="0"/>
              </a:spcAft>
              <a:buSzPts val="1530"/>
              <a:buNone/>
            </a:pPr>
            <a:r>
              <a:t/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77165" lvl="0" marL="274320" rtl="0" algn="just">
              <a:spcBef>
                <a:spcPts val="580"/>
              </a:spcBef>
              <a:spcAft>
                <a:spcPts val="0"/>
              </a:spcAft>
              <a:buSzPts val="1530"/>
              <a:buNone/>
            </a:pPr>
            <a:r>
              <a:t/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77165" lvl="0" marL="274320" rtl="0" algn="just">
              <a:spcBef>
                <a:spcPts val="580"/>
              </a:spcBef>
              <a:spcAft>
                <a:spcPts val="0"/>
              </a:spcAft>
              <a:buSzPts val="1530"/>
              <a:buNone/>
            </a:pPr>
            <a:r>
              <a:t/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44780" lvl="0" marL="274320" rtl="0" algn="just">
              <a:spcBef>
                <a:spcPts val="580"/>
              </a:spcBef>
              <a:spcAft>
                <a:spcPts val="0"/>
              </a:spcAft>
              <a:buSzPts val="2040"/>
              <a:buNone/>
            </a:pPr>
            <a:r>
              <a:t/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55575" lvl="0" marL="274320" rtl="0" algn="just">
              <a:spcBef>
                <a:spcPts val="580"/>
              </a:spcBef>
              <a:spcAft>
                <a:spcPts val="0"/>
              </a:spcAft>
              <a:buSzPts val="1870"/>
              <a:buNone/>
            </a:pPr>
            <a:r>
              <a:t/>
            </a:r>
            <a:endParaRPr sz="2200">
              <a:solidFill>
                <a:srgbClr val="DB53DE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4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4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4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4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4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4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4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48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48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48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48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48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48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>
                                            <p:txEl>
                                              <p:pRg end="13" st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48">
                                            <p:txEl>
                                              <p:pRg end="13" st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>
                                            <p:txEl>
                                              <p:pRg end="14" st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48">
                                            <p:txEl>
                                              <p:pRg end="14" st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>
                                            <p:txEl>
                                              <p:pRg end="15" st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48">
                                            <p:txEl>
                                              <p:pRg end="15" st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>
                                            <p:txEl>
                                              <p:pRg end="16" st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48">
                                            <p:txEl>
                                              <p:pRg end="16" st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>
                                            <p:txEl>
                                              <p:pRg end="17" st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48">
                                            <p:txEl>
                                              <p:pRg end="17" st="1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>
                                            <p:txEl>
                                              <p:pRg end="18" st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48">
                                            <p:txEl>
                                              <p:pRg end="18" st="1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32fc423d0b5_0_121"/>
          <p:cNvSpPr txBox="1"/>
          <p:nvPr>
            <p:ph type="title"/>
          </p:nvPr>
        </p:nvSpPr>
        <p:spPr>
          <a:xfrm>
            <a:off x="457200" y="343669"/>
            <a:ext cx="8229600" cy="597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Libre Franklin"/>
              <a:buNone/>
            </a:pP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Access specifiers 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4" name="Google Shape;254;g32fc423d0b5_0_121"/>
          <p:cNvSpPr txBox="1"/>
          <p:nvPr>
            <p:ph idx="1" type="body"/>
          </p:nvPr>
        </p:nvSpPr>
        <p:spPr>
          <a:xfrm>
            <a:off x="305350" y="12827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11467" lvl="0" marL="274320" rtl="0" algn="just">
              <a:spcBef>
                <a:spcPts val="0"/>
              </a:spcBef>
              <a:spcAft>
                <a:spcPts val="0"/>
              </a:spcAft>
              <a:buSzPts val="2200"/>
              <a:buChar char="•"/>
            </a:pPr>
            <a:r>
              <a:rPr b="1" lang="en-US" sz="2200">
                <a:latin typeface="Times New Roman"/>
                <a:ea typeface="Times New Roman"/>
                <a:cs typeface="Times New Roman"/>
                <a:sym typeface="Times New Roman"/>
              </a:rPr>
              <a:t>defines</a:t>
            </a: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 the access rights for the statements or functions that follows it until another access specifier or till the end of a class. The three types of access specifiers are "private", "public", "protected".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71767" lvl="0" marL="274320" rtl="0" algn="just">
              <a:spcBef>
                <a:spcPts val="580"/>
              </a:spcBef>
              <a:spcAft>
                <a:spcPts val="0"/>
              </a:spcAft>
              <a:buSzPts val="2040"/>
              <a:buNone/>
            </a:pPr>
            <a:r>
              <a:t/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467" lvl="0" marL="274320" rtl="0" algn="just">
              <a:spcBef>
                <a:spcPts val="580"/>
              </a:spcBef>
              <a:spcAft>
                <a:spcPts val="0"/>
              </a:spcAft>
              <a:buSzPts val="2200"/>
              <a:buChar char="•"/>
            </a:pPr>
            <a:r>
              <a:rPr b="1" lang="en-US" sz="2200" u="sng">
                <a:latin typeface="Times New Roman"/>
                <a:ea typeface="Times New Roman"/>
                <a:cs typeface="Times New Roman"/>
                <a:sym typeface="Times New Roman"/>
              </a:rPr>
              <a:t>private:</a:t>
            </a: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 The members declared as "private" can be accessed only within the same class and not from outside the class.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71767" lvl="0" marL="274320" rtl="0" algn="just">
              <a:spcBef>
                <a:spcPts val="580"/>
              </a:spcBef>
              <a:spcAft>
                <a:spcPts val="0"/>
              </a:spcAft>
              <a:buSzPts val="2040"/>
              <a:buNone/>
            </a:pPr>
            <a:r>
              <a:t/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467" lvl="0" marL="274320" rtl="0" algn="just">
              <a:spcBef>
                <a:spcPts val="580"/>
              </a:spcBef>
              <a:spcAft>
                <a:spcPts val="0"/>
              </a:spcAft>
              <a:buSzPts val="2200"/>
              <a:buChar char="•"/>
            </a:pPr>
            <a:r>
              <a:rPr b="1" lang="en-US" sz="2200" u="sng">
                <a:latin typeface="Times New Roman"/>
                <a:ea typeface="Times New Roman"/>
                <a:cs typeface="Times New Roman"/>
                <a:sym typeface="Times New Roman"/>
              </a:rPr>
              <a:t>public:</a:t>
            </a: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 The members declared as "public" are accessible within the class as well as from outside the class.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71767" lvl="0" marL="274320" rtl="0" algn="just">
              <a:spcBef>
                <a:spcPts val="580"/>
              </a:spcBef>
              <a:spcAft>
                <a:spcPts val="0"/>
              </a:spcAft>
              <a:buSzPts val="2040"/>
              <a:buNone/>
            </a:pPr>
            <a:r>
              <a:t/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467" lvl="0" marL="274320" rtl="0" algn="just">
              <a:spcBef>
                <a:spcPts val="580"/>
              </a:spcBef>
              <a:spcAft>
                <a:spcPts val="0"/>
              </a:spcAft>
              <a:buSzPts val="2200"/>
              <a:buChar char="•"/>
            </a:pPr>
            <a:r>
              <a:rPr b="1" lang="en-US" sz="2200" u="sng">
                <a:latin typeface="Times New Roman"/>
                <a:ea typeface="Times New Roman"/>
                <a:cs typeface="Times New Roman"/>
                <a:sym typeface="Times New Roman"/>
              </a:rPr>
              <a:t>protected:</a:t>
            </a: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 The members declared as "protected" cannot be accessed from outside the class, but can be accessed from a derived class. This is used when inheritance is applied to the members of a class.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63239" lvl="0" marL="274320" rtl="0" algn="just">
              <a:spcBef>
                <a:spcPts val="580"/>
              </a:spcBef>
              <a:spcAft>
                <a:spcPts val="0"/>
              </a:spcAft>
              <a:buSzPts val="2210"/>
              <a:buNone/>
            </a:pPr>
            <a:r>
              <a:t/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32fc423d0b5_0_126"/>
          <p:cNvSpPr txBox="1"/>
          <p:nvPr>
            <p:ph type="title"/>
          </p:nvPr>
        </p:nvSpPr>
        <p:spPr>
          <a:xfrm>
            <a:off x="457200" y="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Libre Franklin"/>
              <a:buNone/>
            </a:pP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Creating objects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0" name="Google Shape;260;g32fc423d0b5_0_126"/>
          <p:cNvSpPr txBox="1"/>
          <p:nvPr>
            <p:ph idx="1" type="body"/>
          </p:nvPr>
        </p:nvSpPr>
        <p:spPr>
          <a:xfrm>
            <a:off x="190500" y="1332131"/>
            <a:ext cx="8763000" cy="56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4480" lvl="0" marL="274320" rtl="0" algn="just"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Char char="•"/>
            </a:pPr>
            <a:r>
              <a:rPr b="1" lang="en-US" sz="2200">
                <a:latin typeface="Times New Roman"/>
                <a:ea typeface="Times New Roman"/>
                <a:cs typeface="Times New Roman"/>
                <a:sym typeface="Times New Roman"/>
              </a:rPr>
              <a:t>Object Instantiation: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0345" lvl="0" marL="274320" rtl="0" algn="just">
              <a:spcBef>
                <a:spcPts val="580"/>
              </a:spcBef>
              <a:spcAft>
                <a:spcPts val="0"/>
              </a:spcAft>
              <a:buSzPts val="850"/>
              <a:buNone/>
            </a:pPr>
            <a:r>
              <a:t/>
            </a:r>
            <a:endParaRPr b="1"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4320" lvl="0" marL="274320" rtl="0" algn="just">
              <a:spcBef>
                <a:spcPts val="580"/>
              </a:spcBef>
              <a:spcAft>
                <a:spcPts val="0"/>
              </a:spcAft>
              <a:buSzPts val="2040"/>
              <a:buNone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      The process of creating object of the type class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4320" lvl="0" marL="274320" rtl="0" algn="just">
              <a:spcBef>
                <a:spcPts val="580"/>
              </a:spcBef>
              <a:spcAft>
                <a:spcPts val="0"/>
              </a:spcAft>
              <a:buSzPts val="850"/>
              <a:buNone/>
            </a:pPr>
            <a:r>
              <a:t/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77165" lvl="0" marL="274320" rtl="0" algn="just">
              <a:spcBef>
                <a:spcPts val="580"/>
              </a:spcBef>
              <a:spcAft>
                <a:spcPts val="0"/>
              </a:spcAft>
              <a:buSzPts val="1530"/>
              <a:buNone/>
            </a:pPr>
            <a:r>
              <a:t/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6865" lvl="0" marL="274320" rtl="0" algn="just">
              <a:spcBef>
                <a:spcPts val="580"/>
              </a:spcBef>
              <a:spcAft>
                <a:spcPts val="0"/>
              </a:spcAft>
              <a:buSzPts val="2200"/>
              <a:buFont typeface="Times New Roman"/>
              <a:buChar char="•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Syntax: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4320" lvl="0" marL="274320" rtl="0" algn="just">
              <a:spcBef>
                <a:spcPts val="580"/>
              </a:spcBef>
              <a:spcAft>
                <a:spcPts val="0"/>
              </a:spcAft>
              <a:buSzPts val="2040"/>
              <a:buNone/>
            </a:pPr>
            <a:r>
              <a:rPr b="1" lang="en-US" sz="2200">
                <a:latin typeface="Times New Roman"/>
                <a:ea typeface="Times New Roman"/>
                <a:cs typeface="Times New Roman"/>
                <a:sym typeface="Times New Roman"/>
              </a:rPr>
              <a:t>    </a:t>
            </a:r>
            <a:r>
              <a:rPr b="1" i="1" lang="en-US" sz="2200">
                <a:latin typeface="Times New Roman"/>
                <a:ea typeface="Times New Roman"/>
                <a:cs typeface="Times New Roman"/>
                <a:sym typeface="Times New Roman"/>
              </a:rPr>
              <a:t> class_name  obj_name;</a:t>
            </a:r>
            <a:endParaRPr i="1"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4320" lvl="0" marL="274320" rtl="0" algn="just">
              <a:spcBef>
                <a:spcPts val="580"/>
              </a:spcBef>
              <a:spcAft>
                <a:spcPts val="0"/>
              </a:spcAft>
              <a:buSzPts val="2040"/>
              <a:buNone/>
            </a:pPr>
            <a:r>
              <a:rPr i="1" lang="en-US" sz="2200">
                <a:latin typeface="Times New Roman"/>
                <a:ea typeface="Times New Roman"/>
                <a:cs typeface="Times New Roman"/>
                <a:sym typeface="Times New Roman"/>
              </a:rPr>
              <a:t>     ex: Student st;</a:t>
            </a:r>
            <a:endParaRPr i="1"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4320" lvl="0" marL="274320" rtl="0" algn="just">
              <a:spcBef>
                <a:spcPts val="580"/>
              </a:spcBef>
              <a:spcAft>
                <a:spcPts val="0"/>
              </a:spcAft>
              <a:buSzPts val="2040"/>
              <a:buNone/>
            </a:pPr>
            <a:r>
              <a:rPr i="1" lang="en-US" sz="2200">
                <a:latin typeface="Times New Roman"/>
                <a:ea typeface="Times New Roman"/>
                <a:cs typeface="Times New Roman"/>
                <a:sym typeface="Times New Roman"/>
              </a:rPr>
              <a:t>           Student st1,st2,st3</a:t>
            </a: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;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4320" lvl="0" marL="274320" rtl="0" algn="just">
              <a:spcBef>
                <a:spcPts val="580"/>
              </a:spcBef>
              <a:spcAft>
                <a:spcPts val="0"/>
              </a:spcAft>
              <a:buSzPts val="2040"/>
              <a:buNone/>
            </a:pPr>
            <a:r>
              <a:t/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4480" lvl="0" marL="274320" rtl="0" algn="just">
              <a:spcBef>
                <a:spcPts val="580"/>
              </a:spcBef>
              <a:spcAft>
                <a:spcPts val="0"/>
              </a:spcAft>
              <a:buSzPts val="2200"/>
              <a:buFont typeface="Times New Roman"/>
              <a:buChar char="•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Each object will have its own instances of class data and functions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4320" lvl="0" marL="274320" rtl="0" algn="just">
              <a:spcBef>
                <a:spcPts val="580"/>
              </a:spcBef>
              <a:spcAft>
                <a:spcPts val="0"/>
              </a:spcAft>
              <a:buSzPts val="2040"/>
              <a:buNone/>
            </a:pPr>
            <a:r>
              <a:t/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4320" lvl="0" marL="274320" rtl="0" algn="just">
              <a:spcBef>
                <a:spcPts val="580"/>
              </a:spcBef>
              <a:spcAft>
                <a:spcPts val="0"/>
              </a:spcAft>
              <a:buSzPts val="2040"/>
              <a:buNone/>
            </a:pPr>
            <a:r>
              <a:t/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44780" lvl="0" marL="274320" rtl="0" algn="just">
              <a:spcBef>
                <a:spcPts val="580"/>
              </a:spcBef>
              <a:spcAft>
                <a:spcPts val="0"/>
              </a:spcAft>
              <a:buSzPts val="2040"/>
              <a:buNone/>
            </a:pPr>
            <a:r>
              <a:t/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55575" lvl="0" marL="274320" rtl="0" algn="just">
              <a:spcBef>
                <a:spcPts val="580"/>
              </a:spcBef>
              <a:spcAft>
                <a:spcPts val="0"/>
              </a:spcAft>
              <a:buSzPts val="1870"/>
              <a:buNone/>
            </a:pPr>
            <a:r>
              <a:t/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77165" lvl="0" marL="274320" rtl="0" algn="just">
              <a:spcBef>
                <a:spcPts val="580"/>
              </a:spcBef>
              <a:spcAft>
                <a:spcPts val="0"/>
              </a:spcAft>
              <a:buSzPts val="1530"/>
              <a:buNone/>
            </a:pPr>
            <a:r>
              <a:t/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77165" lvl="0" marL="274320" rtl="0" algn="just">
              <a:spcBef>
                <a:spcPts val="580"/>
              </a:spcBef>
              <a:spcAft>
                <a:spcPts val="0"/>
              </a:spcAft>
              <a:buSzPts val="1530"/>
              <a:buNone/>
            </a:pPr>
            <a:r>
              <a:t/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77165" lvl="0" marL="274320" rtl="0" algn="just">
              <a:spcBef>
                <a:spcPts val="580"/>
              </a:spcBef>
              <a:spcAft>
                <a:spcPts val="0"/>
              </a:spcAft>
              <a:buSzPts val="1530"/>
              <a:buNone/>
            </a:pPr>
            <a:r>
              <a:t/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44780" lvl="0" marL="274320" rtl="0" algn="just">
              <a:spcBef>
                <a:spcPts val="580"/>
              </a:spcBef>
              <a:spcAft>
                <a:spcPts val="0"/>
              </a:spcAft>
              <a:buSzPts val="2040"/>
              <a:buNone/>
            </a:pPr>
            <a:r>
              <a:t/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55575" lvl="0" marL="274320" rtl="0" algn="just">
              <a:spcBef>
                <a:spcPts val="580"/>
              </a:spcBef>
              <a:spcAft>
                <a:spcPts val="0"/>
              </a:spcAft>
              <a:buSzPts val="1870"/>
              <a:buNone/>
            </a:pPr>
            <a:r>
              <a:t/>
            </a:r>
            <a:endParaRPr sz="2200">
              <a:solidFill>
                <a:srgbClr val="DB53DE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1" name="Google Shape;261;g32fc423d0b5_0_126"/>
          <p:cNvSpPr txBox="1"/>
          <p:nvPr/>
        </p:nvSpPr>
        <p:spPr>
          <a:xfrm>
            <a:off x="5257800" y="3505200"/>
            <a:ext cx="3505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Creates a single object of the classtype Student!</a:t>
            </a:r>
            <a:endParaRPr b="1"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262" name="Google Shape;262;g32fc423d0b5_0_126"/>
          <p:cNvCxnSpPr/>
          <p:nvPr/>
        </p:nvCxnSpPr>
        <p:spPr>
          <a:xfrm flipH="1">
            <a:off x="4267200" y="3886200"/>
            <a:ext cx="990600" cy="76200"/>
          </a:xfrm>
          <a:prstGeom prst="straightConnector1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med" w="med" type="stealth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32fc423d0b5_0_133"/>
          <p:cNvSpPr txBox="1"/>
          <p:nvPr>
            <p:ph type="title"/>
          </p:nvPr>
        </p:nvSpPr>
        <p:spPr>
          <a:xfrm>
            <a:off x="457200" y="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Libre Franklin"/>
              <a:buNone/>
            </a:pP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Creating objects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8" name="Google Shape;268;g32fc423d0b5_0_133"/>
          <p:cNvSpPr txBox="1"/>
          <p:nvPr>
            <p:ph idx="1" type="body"/>
          </p:nvPr>
        </p:nvSpPr>
        <p:spPr>
          <a:xfrm>
            <a:off x="152400" y="1219200"/>
            <a:ext cx="8763000" cy="56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ts val="2040"/>
              <a:buNone/>
            </a:pPr>
            <a:r>
              <a:t/>
            </a:r>
            <a:endParaRPr sz="2400"/>
          </a:p>
          <a:p>
            <a:pPr indent="-274320" lvl="0" marL="274320" rtl="0" algn="l">
              <a:spcBef>
                <a:spcPts val="580"/>
              </a:spcBef>
              <a:spcAft>
                <a:spcPts val="0"/>
              </a:spcAft>
              <a:buSzPts val="2040"/>
              <a:buNone/>
            </a:pPr>
            <a:r>
              <a:t/>
            </a:r>
            <a:endParaRPr sz="2400"/>
          </a:p>
          <a:p>
            <a:pPr indent="-144780" lvl="0" marL="274320" rtl="0" algn="l">
              <a:spcBef>
                <a:spcPts val="580"/>
              </a:spcBef>
              <a:spcAft>
                <a:spcPts val="0"/>
              </a:spcAft>
              <a:buSzPts val="2040"/>
              <a:buNone/>
            </a:pPr>
            <a:r>
              <a:t/>
            </a:r>
            <a:endParaRPr sz="2400"/>
          </a:p>
          <a:p>
            <a:pPr indent="-155575" lvl="0" marL="274320" rtl="0" algn="l">
              <a:spcBef>
                <a:spcPts val="580"/>
              </a:spcBef>
              <a:spcAft>
                <a:spcPts val="0"/>
              </a:spcAft>
              <a:buSzPts val="1870"/>
              <a:buNone/>
            </a:pPr>
            <a:r>
              <a:t/>
            </a:r>
            <a:endParaRPr sz="2200"/>
          </a:p>
          <a:p>
            <a:pPr indent="-177165" lvl="0" marL="274320" rtl="0" algn="just">
              <a:spcBef>
                <a:spcPts val="580"/>
              </a:spcBef>
              <a:spcAft>
                <a:spcPts val="0"/>
              </a:spcAft>
              <a:buSzPts val="1530"/>
              <a:buNone/>
            </a:pPr>
            <a:r>
              <a:t/>
            </a:r>
            <a:endParaRPr sz="1800"/>
          </a:p>
          <a:p>
            <a:pPr indent="-177165" lvl="0" marL="274320" rtl="0" algn="just">
              <a:spcBef>
                <a:spcPts val="580"/>
              </a:spcBef>
              <a:spcAft>
                <a:spcPts val="0"/>
              </a:spcAft>
              <a:buSzPts val="1530"/>
              <a:buNone/>
            </a:pPr>
            <a:r>
              <a:t/>
            </a:r>
            <a:endParaRPr sz="1800"/>
          </a:p>
          <a:p>
            <a:pPr indent="-177165" lvl="0" marL="274320" rtl="0" algn="just">
              <a:spcBef>
                <a:spcPts val="580"/>
              </a:spcBef>
              <a:spcAft>
                <a:spcPts val="0"/>
              </a:spcAft>
              <a:buSzPts val="1530"/>
              <a:buNone/>
            </a:pPr>
            <a:r>
              <a:t/>
            </a:r>
            <a:endParaRPr sz="1800"/>
          </a:p>
          <a:p>
            <a:pPr indent="-144780" lvl="0" marL="274320" rtl="0" algn="l">
              <a:spcBef>
                <a:spcPts val="580"/>
              </a:spcBef>
              <a:spcAft>
                <a:spcPts val="0"/>
              </a:spcAft>
              <a:buSzPts val="2040"/>
              <a:buNone/>
            </a:pPr>
            <a:r>
              <a:t/>
            </a:r>
            <a:endParaRPr sz="2400"/>
          </a:p>
          <a:p>
            <a:pPr indent="-155575" lvl="0" marL="274320" rtl="0" algn="l">
              <a:spcBef>
                <a:spcPts val="580"/>
              </a:spcBef>
              <a:spcAft>
                <a:spcPts val="0"/>
              </a:spcAft>
              <a:buSzPts val="1870"/>
              <a:buNone/>
            </a:pPr>
            <a:r>
              <a:t/>
            </a:r>
            <a:endParaRPr sz="2200"/>
          </a:p>
        </p:txBody>
      </p:sp>
      <p:grpSp>
        <p:nvGrpSpPr>
          <p:cNvPr id="269" name="Google Shape;269;g32fc423d0b5_0_133"/>
          <p:cNvGrpSpPr/>
          <p:nvPr/>
        </p:nvGrpSpPr>
        <p:grpSpPr>
          <a:xfrm>
            <a:off x="380983" y="1624993"/>
            <a:ext cx="3505253" cy="2642432"/>
            <a:chOff x="533383" y="1676368"/>
            <a:chExt cx="3505253" cy="2642432"/>
          </a:xfrm>
        </p:grpSpPr>
        <p:grpSp>
          <p:nvGrpSpPr>
            <p:cNvPr id="270" name="Google Shape;270;g32fc423d0b5_0_133"/>
            <p:cNvGrpSpPr/>
            <p:nvPr/>
          </p:nvGrpSpPr>
          <p:grpSpPr>
            <a:xfrm>
              <a:off x="533383" y="1676368"/>
              <a:ext cx="3505253" cy="1981170"/>
              <a:chOff x="1523144" y="1752600"/>
              <a:chExt cx="1624156" cy="1676400"/>
            </a:xfrm>
          </p:grpSpPr>
          <p:sp>
            <p:nvSpPr>
              <p:cNvPr id="271" name="Google Shape;271;g32fc423d0b5_0_133"/>
              <p:cNvSpPr/>
              <p:nvPr/>
            </p:nvSpPr>
            <p:spPr>
              <a:xfrm>
                <a:off x="2133600" y="1752600"/>
                <a:ext cx="1013700" cy="1676400"/>
              </a:xfrm>
              <a:prstGeom prst="rect">
                <a:avLst/>
              </a:prstGeom>
              <a:noFill/>
              <a:ln cap="flat" cmpd="sng" w="12700">
                <a:solidFill>
                  <a:srgbClr val="99341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endParaRPr>
              </a:p>
            </p:txBody>
          </p:sp>
          <p:sp>
            <p:nvSpPr>
              <p:cNvPr id="272" name="Google Shape;272;g32fc423d0b5_0_133"/>
              <p:cNvSpPr/>
              <p:nvPr/>
            </p:nvSpPr>
            <p:spPr>
              <a:xfrm>
                <a:off x="1558451" y="1946031"/>
                <a:ext cx="1142100" cy="304800"/>
              </a:xfrm>
              <a:prstGeom prst="ellipse">
                <a:avLst/>
              </a:prstGeom>
              <a:solidFill>
                <a:srgbClr val="E1DFDF"/>
              </a:solidFill>
              <a:ln cap="flat" cmpd="sng" w="12700">
                <a:solidFill>
                  <a:srgbClr val="99341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800">
                    <a:solidFill>
                      <a:schemeClr val="dk1"/>
                    </a:solidFill>
                    <a:latin typeface="Libre Baskerville"/>
                    <a:ea typeface="Libre Baskerville"/>
                    <a:cs typeface="Libre Baskerville"/>
                    <a:sym typeface="Libre Baskerville"/>
                  </a:rPr>
                  <a:t>10,Rama</a:t>
                </a:r>
                <a:endParaRPr b="1" sz="1800">
                  <a:solidFill>
                    <a:schemeClr val="dk1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endParaRPr>
              </a:p>
            </p:txBody>
          </p:sp>
          <p:sp>
            <p:nvSpPr>
              <p:cNvPr id="273" name="Google Shape;273;g32fc423d0b5_0_133"/>
              <p:cNvSpPr/>
              <p:nvPr/>
            </p:nvSpPr>
            <p:spPr>
              <a:xfrm>
                <a:off x="1523144" y="2438400"/>
                <a:ext cx="1219200" cy="304800"/>
              </a:xfrm>
              <a:prstGeom prst="rect">
                <a:avLst/>
              </a:prstGeom>
              <a:solidFill>
                <a:srgbClr val="E1DFDF"/>
              </a:solidFill>
              <a:ln cap="flat" cmpd="sng" w="12700">
                <a:solidFill>
                  <a:srgbClr val="99341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800">
                    <a:solidFill>
                      <a:schemeClr val="dk1"/>
                    </a:solidFill>
                    <a:latin typeface="Libre Baskerville"/>
                    <a:ea typeface="Libre Baskerville"/>
                    <a:cs typeface="Libre Baskerville"/>
                    <a:sym typeface="Libre Baskerville"/>
                  </a:rPr>
                  <a:t>void read_data( )</a:t>
                </a:r>
                <a:endParaRPr b="1" sz="1800">
                  <a:solidFill>
                    <a:schemeClr val="dk1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endParaRPr>
              </a:p>
            </p:txBody>
          </p:sp>
          <p:sp>
            <p:nvSpPr>
              <p:cNvPr id="274" name="Google Shape;274;g32fc423d0b5_0_133"/>
              <p:cNvSpPr/>
              <p:nvPr/>
            </p:nvSpPr>
            <p:spPr>
              <a:xfrm>
                <a:off x="1523144" y="2895600"/>
                <a:ext cx="1219200" cy="304800"/>
              </a:xfrm>
              <a:prstGeom prst="rect">
                <a:avLst/>
              </a:prstGeom>
              <a:solidFill>
                <a:srgbClr val="E1DFDF"/>
              </a:solidFill>
              <a:ln cap="flat" cmpd="sng" w="12700">
                <a:solidFill>
                  <a:srgbClr val="99341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800">
                    <a:solidFill>
                      <a:schemeClr val="dk1"/>
                    </a:solidFill>
                    <a:latin typeface="Libre Baskerville"/>
                    <a:ea typeface="Libre Baskerville"/>
                    <a:cs typeface="Libre Baskerville"/>
                    <a:sym typeface="Libre Baskerville"/>
                  </a:rPr>
                  <a:t>void print_data( )</a:t>
                </a:r>
                <a:endParaRPr/>
              </a:p>
            </p:txBody>
          </p:sp>
        </p:grpSp>
        <p:sp>
          <p:nvSpPr>
            <p:cNvPr id="275" name="Google Shape;275;g32fc423d0b5_0_133"/>
            <p:cNvSpPr txBox="1"/>
            <p:nvPr/>
          </p:nvSpPr>
          <p:spPr>
            <a:xfrm>
              <a:off x="1828800" y="3733800"/>
              <a:ext cx="838200" cy="58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200">
                  <a:solidFill>
                    <a:schemeClr val="lt1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st1</a:t>
              </a:r>
              <a:endParaRPr b="1" sz="32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endParaRPr>
            </a:p>
          </p:txBody>
        </p:sp>
      </p:grpSp>
      <p:grpSp>
        <p:nvGrpSpPr>
          <p:cNvPr id="276" name="Google Shape;276;g32fc423d0b5_0_133"/>
          <p:cNvGrpSpPr/>
          <p:nvPr/>
        </p:nvGrpSpPr>
        <p:grpSpPr>
          <a:xfrm>
            <a:off x="5181583" y="1624993"/>
            <a:ext cx="3505253" cy="2642432"/>
            <a:chOff x="533383" y="1676368"/>
            <a:chExt cx="3505253" cy="2642432"/>
          </a:xfrm>
        </p:grpSpPr>
        <p:grpSp>
          <p:nvGrpSpPr>
            <p:cNvPr id="277" name="Google Shape;277;g32fc423d0b5_0_133"/>
            <p:cNvGrpSpPr/>
            <p:nvPr/>
          </p:nvGrpSpPr>
          <p:grpSpPr>
            <a:xfrm>
              <a:off x="533383" y="1676368"/>
              <a:ext cx="3505253" cy="1981170"/>
              <a:chOff x="1523144" y="1752600"/>
              <a:chExt cx="1624156" cy="1676400"/>
            </a:xfrm>
          </p:grpSpPr>
          <p:sp>
            <p:nvSpPr>
              <p:cNvPr id="278" name="Google Shape;278;g32fc423d0b5_0_133"/>
              <p:cNvSpPr/>
              <p:nvPr/>
            </p:nvSpPr>
            <p:spPr>
              <a:xfrm>
                <a:off x="2133600" y="1752600"/>
                <a:ext cx="1013700" cy="1676400"/>
              </a:xfrm>
              <a:prstGeom prst="rect">
                <a:avLst/>
              </a:prstGeom>
              <a:noFill/>
              <a:ln cap="flat" cmpd="sng" w="12700">
                <a:solidFill>
                  <a:srgbClr val="99341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endParaRPr>
              </a:p>
            </p:txBody>
          </p:sp>
          <p:sp>
            <p:nvSpPr>
              <p:cNvPr id="279" name="Google Shape;279;g32fc423d0b5_0_133"/>
              <p:cNvSpPr/>
              <p:nvPr/>
            </p:nvSpPr>
            <p:spPr>
              <a:xfrm>
                <a:off x="1558451" y="1946031"/>
                <a:ext cx="1142100" cy="304800"/>
              </a:xfrm>
              <a:prstGeom prst="ellipse">
                <a:avLst/>
              </a:prstGeom>
              <a:solidFill>
                <a:srgbClr val="BDB196"/>
              </a:solidFill>
              <a:ln cap="flat" cmpd="sng" w="12700">
                <a:solidFill>
                  <a:srgbClr val="99341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800">
                    <a:solidFill>
                      <a:schemeClr val="dk1"/>
                    </a:solidFill>
                    <a:latin typeface="Libre Baskerville"/>
                    <a:ea typeface="Libre Baskerville"/>
                    <a:cs typeface="Libre Baskerville"/>
                    <a:sym typeface="Libre Baskerville"/>
                  </a:rPr>
                  <a:t>20, Stephen</a:t>
                </a:r>
                <a:endParaRPr b="1" sz="1800">
                  <a:solidFill>
                    <a:schemeClr val="dk1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endParaRPr>
              </a:p>
            </p:txBody>
          </p:sp>
          <p:sp>
            <p:nvSpPr>
              <p:cNvPr id="280" name="Google Shape;280;g32fc423d0b5_0_133"/>
              <p:cNvSpPr/>
              <p:nvPr/>
            </p:nvSpPr>
            <p:spPr>
              <a:xfrm>
                <a:off x="1523144" y="2438400"/>
                <a:ext cx="1219200" cy="304800"/>
              </a:xfrm>
              <a:prstGeom prst="rect">
                <a:avLst/>
              </a:prstGeom>
              <a:solidFill>
                <a:srgbClr val="BDB196"/>
              </a:solidFill>
              <a:ln cap="flat" cmpd="sng" w="12700">
                <a:solidFill>
                  <a:srgbClr val="99341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800">
                    <a:solidFill>
                      <a:schemeClr val="dk1"/>
                    </a:solidFill>
                    <a:latin typeface="Libre Baskerville"/>
                    <a:ea typeface="Libre Baskerville"/>
                    <a:cs typeface="Libre Baskerville"/>
                    <a:sym typeface="Libre Baskerville"/>
                  </a:rPr>
                  <a:t>void read_data( )</a:t>
                </a:r>
                <a:endParaRPr b="1" sz="1800">
                  <a:solidFill>
                    <a:schemeClr val="dk1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endParaRPr>
              </a:p>
            </p:txBody>
          </p:sp>
          <p:sp>
            <p:nvSpPr>
              <p:cNvPr id="281" name="Google Shape;281;g32fc423d0b5_0_133"/>
              <p:cNvSpPr/>
              <p:nvPr/>
            </p:nvSpPr>
            <p:spPr>
              <a:xfrm>
                <a:off x="1523144" y="2895600"/>
                <a:ext cx="1219200" cy="304800"/>
              </a:xfrm>
              <a:prstGeom prst="rect">
                <a:avLst/>
              </a:prstGeom>
              <a:solidFill>
                <a:srgbClr val="BDB196"/>
              </a:solidFill>
              <a:ln cap="flat" cmpd="sng" w="12700">
                <a:solidFill>
                  <a:srgbClr val="99341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800">
                    <a:solidFill>
                      <a:schemeClr val="dk1"/>
                    </a:solidFill>
                    <a:latin typeface="Libre Baskerville"/>
                    <a:ea typeface="Libre Baskerville"/>
                    <a:cs typeface="Libre Baskerville"/>
                    <a:sym typeface="Libre Baskerville"/>
                  </a:rPr>
                  <a:t>void print_data( )</a:t>
                </a:r>
                <a:endParaRPr/>
              </a:p>
            </p:txBody>
          </p:sp>
        </p:grpSp>
        <p:sp>
          <p:nvSpPr>
            <p:cNvPr id="282" name="Google Shape;282;g32fc423d0b5_0_133"/>
            <p:cNvSpPr txBox="1"/>
            <p:nvPr/>
          </p:nvSpPr>
          <p:spPr>
            <a:xfrm>
              <a:off x="1828800" y="3733800"/>
              <a:ext cx="838200" cy="58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200">
                  <a:solidFill>
                    <a:schemeClr val="lt1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st2</a:t>
              </a:r>
              <a:endParaRPr b="1" sz="32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endParaRPr>
            </a:p>
          </p:txBody>
        </p:sp>
      </p:grpSp>
      <p:grpSp>
        <p:nvGrpSpPr>
          <p:cNvPr id="283" name="Google Shape;283;g32fc423d0b5_0_133"/>
          <p:cNvGrpSpPr/>
          <p:nvPr/>
        </p:nvGrpSpPr>
        <p:grpSpPr>
          <a:xfrm>
            <a:off x="2819383" y="4343368"/>
            <a:ext cx="3505253" cy="2642432"/>
            <a:chOff x="533383" y="1676368"/>
            <a:chExt cx="3505253" cy="2642432"/>
          </a:xfrm>
        </p:grpSpPr>
        <p:grpSp>
          <p:nvGrpSpPr>
            <p:cNvPr id="284" name="Google Shape;284;g32fc423d0b5_0_133"/>
            <p:cNvGrpSpPr/>
            <p:nvPr/>
          </p:nvGrpSpPr>
          <p:grpSpPr>
            <a:xfrm>
              <a:off x="533383" y="1676368"/>
              <a:ext cx="3505253" cy="1981170"/>
              <a:chOff x="1523144" y="1752600"/>
              <a:chExt cx="1624156" cy="1676400"/>
            </a:xfrm>
          </p:grpSpPr>
          <p:sp>
            <p:nvSpPr>
              <p:cNvPr id="285" name="Google Shape;285;g32fc423d0b5_0_133"/>
              <p:cNvSpPr/>
              <p:nvPr/>
            </p:nvSpPr>
            <p:spPr>
              <a:xfrm>
                <a:off x="2133600" y="1752600"/>
                <a:ext cx="1013700" cy="1676400"/>
              </a:xfrm>
              <a:prstGeom prst="rect">
                <a:avLst/>
              </a:prstGeom>
              <a:noFill/>
              <a:ln cap="flat" cmpd="sng" w="12700">
                <a:solidFill>
                  <a:srgbClr val="99341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endParaRPr>
              </a:p>
            </p:txBody>
          </p:sp>
          <p:sp>
            <p:nvSpPr>
              <p:cNvPr id="286" name="Google Shape;286;g32fc423d0b5_0_133"/>
              <p:cNvSpPr/>
              <p:nvPr/>
            </p:nvSpPr>
            <p:spPr>
              <a:xfrm>
                <a:off x="1558451" y="1946031"/>
                <a:ext cx="1142100" cy="304800"/>
              </a:xfrm>
              <a:prstGeom prst="ellipse">
                <a:avLst/>
              </a:prstGeom>
              <a:solidFill>
                <a:srgbClr val="E99A92"/>
              </a:solidFill>
              <a:ln cap="flat" cmpd="sng" w="12700">
                <a:solidFill>
                  <a:srgbClr val="99341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800">
                    <a:solidFill>
                      <a:schemeClr val="dk1"/>
                    </a:solidFill>
                    <a:latin typeface="Libre Baskerville"/>
                    <a:ea typeface="Libre Baskerville"/>
                    <a:cs typeface="Libre Baskerville"/>
                    <a:sym typeface="Libre Baskerville"/>
                  </a:rPr>
                  <a:t>55, Mary</a:t>
                </a:r>
                <a:endParaRPr b="1" sz="1800">
                  <a:solidFill>
                    <a:schemeClr val="dk1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endParaRPr>
              </a:p>
            </p:txBody>
          </p:sp>
          <p:sp>
            <p:nvSpPr>
              <p:cNvPr id="287" name="Google Shape;287;g32fc423d0b5_0_133"/>
              <p:cNvSpPr/>
              <p:nvPr/>
            </p:nvSpPr>
            <p:spPr>
              <a:xfrm>
                <a:off x="1523144" y="2438400"/>
                <a:ext cx="1219200" cy="304800"/>
              </a:xfrm>
              <a:prstGeom prst="rect">
                <a:avLst/>
              </a:prstGeom>
              <a:solidFill>
                <a:srgbClr val="E99A92"/>
              </a:solidFill>
              <a:ln cap="flat" cmpd="sng" w="12700">
                <a:solidFill>
                  <a:srgbClr val="99341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800">
                    <a:solidFill>
                      <a:schemeClr val="dk1"/>
                    </a:solidFill>
                    <a:latin typeface="Libre Baskerville"/>
                    <a:ea typeface="Libre Baskerville"/>
                    <a:cs typeface="Libre Baskerville"/>
                    <a:sym typeface="Libre Baskerville"/>
                  </a:rPr>
                  <a:t>void read_data( )</a:t>
                </a:r>
                <a:endParaRPr b="1" sz="1800">
                  <a:solidFill>
                    <a:schemeClr val="dk1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endParaRPr>
              </a:p>
            </p:txBody>
          </p:sp>
          <p:sp>
            <p:nvSpPr>
              <p:cNvPr id="288" name="Google Shape;288;g32fc423d0b5_0_133"/>
              <p:cNvSpPr/>
              <p:nvPr/>
            </p:nvSpPr>
            <p:spPr>
              <a:xfrm>
                <a:off x="1523144" y="2895600"/>
                <a:ext cx="1219200" cy="304800"/>
              </a:xfrm>
              <a:prstGeom prst="rect">
                <a:avLst/>
              </a:prstGeom>
              <a:solidFill>
                <a:srgbClr val="E99A92"/>
              </a:solidFill>
              <a:ln cap="flat" cmpd="sng" w="12700">
                <a:solidFill>
                  <a:srgbClr val="99341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800">
                    <a:solidFill>
                      <a:schemeClr val="dk1"/>
                    </a:solidFill>
                    <a:latin typeface="Libre Baskerville"/>
                    <a:ea typeface="Libre Baskerville"/>
                    <a:cs typeface="Libre Baskerville"/>
                    <a:sym typeface="Libre Baskerville"/>
                  </a:rPr>
                  <a:t>void print_data( )</a:t>
                </a:r>
                <a:endParaRPr/>
              </a:p>
            </p:txBody>
          </p:sp>
        </p:grpSp>
        <p:sp>
          <p:nvSpPr>
            <p:cNvPr id="289" name="Google Shape;289;g32fc423d0b5_0_133"/>
            <p:cNvSpPr txBox="1"/>
            <p:nvPr/>
          </p:nvSpPr>
          <p:spPr>
            <a:xfrm>
              <a:off x="1828800" y="3733800"/>
              <a:ext cx="838200" cy="58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200">
                  <a:solidFill>
                    <a:schemeClr val="lt1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st3</a:t>
              </a:r>
              <a:endParaRPr b="1" sz="32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endParaRPr>
            </a:p>
          </p:txBody>
        </p: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32fc423d0b5_0_159"/>
          <p:cNvSpPr txBox="1"/>
          <p:nvPr>
            <p:ph type="title"/>
          </p:nvPr>
        </p:nvSpPr>
        <p:spPr>
          <a:xfrm>
            <a:off x="457200" y="0"/>
            <a:ext cx="8229600" cy="969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Libre Franklin"/>
              <a:buNone/>
            </a:pP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Accessing Data Members &amp; functions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5" name="Google Shape;295;g32fc423d0b5_0_159"/>
          <p:cNvSpPr txBox="1"/>
          <p:nvPr>
            <p:ph idx="1" type="body"/>
          </p:nvPr>
        </p:nvSpPr>
        <p:spPr>
          <a:xfrm>
            <a:off x="152400" y="1219200"/>
            <a:ext cx="8763000" cy="56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4480" lvl="0" marL="274320" rtl="0" algn="l"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Char char="•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To access data members of class we use dot operator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4320" lvl="0" marL="274320" rtl="0" algn="l">
              <a:spcBef>
                <a:spcPts val="580"/>
              </a:spcBef>
              <a:spcAft>
                <a:spcPts val="0"/>
              </a:spcAft>
              <a:buSzPts val="2040"/>
              <a:buNone/>
            </a:pPr>
            <a:r>
              <a:t/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4320" lvl="0" marL="274320" rtl="0" algn="l">
              <a:spcBef>
                <a:spcPts val="580"/>
              </a:spcBef>
              <a:spcAft>
                <a:spcPts val="0"/>
              </a:spcAft>
              <a:buSzPts val="1530"/>
              <a:buNone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Syntax: (single object)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4320" lvl="0" marL="274320" rtl="0" algn="l">
              <a:spcBef>
                <a:spcPts val="580"/>
              </a:spcBef>
              <a:spcAft>
                <a:spcPts val="0"/>
              </a:spcAft>
              <a:buSzPts val="2040"/>
              <a:buNone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b="1" i="1" lang="en-US" sz="2200">
                <a:latin typeface="Times New Roman"/>
                <a:ea typeface="Times New Roman"/>
                <a:cs typeface="Times New Roman"/>
                <a:sym typeface="Times New Roman"/>
              </a:rPr>
              <a:t>obj_name.datamember; </a:t>
            </a:r>
            <a:endParaRPr i="1"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4320" lvl="0" marL="274320" rtl="0" algn="l">
              <a:spcBef>
                <a:spcPts val="580"/>
              </a:spcBef>
              <a:spcAft>
                <a:spcPts val="0"/>
              </a:spcAft>
              <a:buSzPts val="2040"/>
              <a:buNone/>
            </a:pPr>
            <a:r>
              <a:rPr b="1" lang="en-US" sz="2200"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b="1" i="1" lang="en-US" sz="2200">
                <a:latin typeface="Times New Roman"/>
                <a:ea typeface="Times New Roman"/>
                <a:cs typeface="Times New Roman"/>
                <a:sym typeface="Times New Roman"/>
              </a:rPr>
              <a:t>ex:  st.st_id;</a:t>
            </a:r>
            <a:endParaRPr b="1" i="1"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4320" lvl="0" marL="274320" rtl="0" algn="l">
              <a:spcBef>
                <a:spcPts val="580"/>
              </a:spcBef>
              <a:spcAft>
                <a:spcPts val="0"/>
              </a:spcAft>
              <a:buSzPts val="2040"/>
              <a:buNone/>
            </a:pPr>
            <a:r>
              <a:rPr b="1" i="1" lang="en-US" sz="2200">
                <a:latin typeface="Times New Roman"/>
                <a:ea typeface="Times New Roman"/>
                <a:cs typeface="Times New Roman"/>
                <a:sym typeface="Times New Roman"/>
              </a:rPr>
              <a:t>		st.st_name;</a:t>
            </a:r>
            <a:endParaRPr b="1" i="1"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4320" lvl="0" marL="274320" rtl="0" algn="l">
              <a:spcBef>
                <a:spcPts val="580"/>
              </a:spcBef>
              <a:spcAft>
                <a:spcPts val="0"/>
              </a:spcAft>
              <a:buSzPts val="2040"/>
              <a:buNone/>
            </a:pPr>
            <a:r>
              <a:rPr b="1" i="1" lang="en-US" sz="2200">
                <a:latin typeface="Times New Roman"/>
                <a:ea typeface="Times New Roman"/>
                <a:cs typeface="Times New Roman"/>
                <a:sym typeface="Times New Roman"/>
              </a:rPr>
              <a:t>		st.read_data();</a:t>
            </a:r>
            <a:endParaRPr b="1" i="1"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4320" lvl="0" marL="274320" rtl="0" algn="l">
              <a:spcBef>
                <a:spcPts val="580"/>
              </a:spcBef>
              <a:spcAft>
                <a:spcPts val="0"/>
              </a:spcAft>
              <a:buSzPts val="2040"/>
              <a:buNone/>
            </a:pPr>
            <a:r>
              <a:rPr b="1" i="1" lang="en-US" sz="2200">
                <a:latin typeface="Times New Roman"/>
                <a:ea typeface="Times New Roman"/>
                <a:cs typeface="Times New Roman"/>
                <a:sym typeface="Times New Roman"/>
              </a:rPr>
              <a:t> 		st.print_data();</a:t>
            </a:r>
            <a:endParaRPr b="1" i="1"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4320" lvl="0" marL="274320" rtl="0" algn="l">
              <a:spcBef>
                <a:spcPts val="580"/>
              </a:spcBef>
              <a:spcAft>
                <a:spcPts val="0"/>
              </a:spcAft>
              <a:buSzPts val="2040"/>
              <a:buNone/>
            </a:pPr>
            <a:r>
              <a:t/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4320" lvl="0" marL="274320" rtl="0" algn="l">
              <a:spcBef>
                <a:spcPts val="580"/>
              </a:spcBef>
              <a:spcAft>
                <a:spcPts val="0"/>
              </a:spcAft>
              <a:buSzPts val="2040"/>
              <a:buNone/>
            </a:pPr>
            <a:r>
              <a:t/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44780" lvl="0" marL="274320" rtl="0" algn="l">
              <a:spcBef>
                <a:spcPts val="580"/>
              </a:spcBef>
              <a:spcAft>
                <a:spcPts val="0"/>
              </a:spcAft>
              <a:buSzPts val="2040"/>
              <a:buNone/>
            </a:pPr>
            <a:r>
              <a:t/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55575" lvl="0" marL="274320" rtl="0" algn="l">
              <a:spcBef>
                <a:spcPts val="580"/>
              </a:spcBef>
              <a:spcAft>
                <a:spcPts val="0"/>
              </a:spcAft>
              <a:buSzPts val="1870"/>
              <a:buNone/>
            </a:pPr>
            <a:r>
              <a:t/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77165" lvl="0" marL="274320" rtl="0" algn="just">
              <a:spcBef>
                <a:spcPts val="580"/>
              </a:spcBef>
              <a:spcAft>
                <a:spcPts val="0"/>
              </a:spcAft>
              <a:buSzPts val="1530"/>
              <a:buNone/>
            </a:pPr>
            <a:r>
              <a:t/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77165" lvl="0" marL="274320" rtl="0" algn="just">
              <a:spcBef>
                <a:spcPts val="580"/>
              </a:spcBef>
              <a:spcAft>
                <a:spcPts val="0"/>
              </a:spcAft>
              <a:buSzPts val="1530"/>
              <a:buNone/>
            </a:pPr>
            <a:r>
              <a:t/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77165" lvl="0" marL="274320" rtl="0" algn="just">
              <a:spcBef>
                <a:spcPts val="580"/>
              </a:spcBef>
              <a:spcAft>
                <a:spcPts val="0"/>
              </a:spcAft>
              <a:buSzPts val="1530"/>
              <a:buNone/>
            </a:pPr>
            <a:r>
              <a:t/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44780" lvl="0" marL="274320" rtl="0" algn="l">
              <a:spcBef>
                <a:spcPts val="580"/>
              </a:spcBef>
              <a:spcAft>
                <a:spcPts val="0"/>
              </a:spcAft>
              <a:buSzPts val="2040"/>
              <a:buNone/>
            </a:pPr>
            <a:r>
              <a:t/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55575" lvl="0" marL="274320" rtl="0" algn="l">
              <a:spcBef>
                <a:spcPts val="580"/>
              </a:spcBef>
              <a:spcAft>
                <a:spcPts val="0"/>
              </a:spcAft>
              <a:buSzPts val="1870"/>
              <a:buNone/>
            </a:pPr>
            <a:r>
              <a:t/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32fc423d0b5_0_164"/>
          <p:cNvSpPr txBox="1"/>
          <p:nvPr>
            <p:ph type="title"/>
          </p:nvPr>
        </p:nvSpPr>
        <p:spPr>
          <a:xfrm>
            <a:off x="457200" y="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Libre Franklin"/>
              <a:buNone/>
            </a:pP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Scope resolution operator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1" name="Google Shape;301;g32fc423d0b5_0_164"/>
          <p:cNvSpPr txBox="1"/>
          <p:nvPr>
            <p:ph idx="1" type="body"/>
          </p:nvPr>
        </p:nvSpPr>
        <p:spPr>
          <a:xfrm>
            <a:off x="190500" y="1295400"/>
            <a:ext cx="8763000" cy="56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4480" lvl="0" marL="274320" rtl="0" algn="just">
              <a:spcBef>
                <a:spcPts val="0"/>
              </a:spcBef>
              <a:spcAft>
                <a:spcPts val="0"/>
              </a:spcAft>
              <a:buSzPts val="2200"/>
              <a:buChar char="•"/>
            </a:pPr>
            <a:r>
              <a:rPr lang="en-US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 </a:t>
            </a:r>
            <a:r>
              <a:rPr b="1" lang="en-US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scope resolution operator</a:t>
            </a:r>
            <a:r>
              <a:rPr lang="en-US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helps to identify and specify the context to which an identifier refers, particularly by specifying a namespace.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44780" lvl="0" marL="274320" rtl="0" algn="just">
              <a:spcBef>
                <a:spcPts val="580"/>
              </a:spcBef>
              <a:spcAft>
                <a:spcPts val="0"/>
              </a:spcAft>
              <a:buSzPts val="2040"/>
              <a:buNone/>
            </a:pPr>
            <a:r>
              <a:t/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4480" lvl="0" marL="274320" rtl="0" algn="just">
              <a:spcBef>
                <a:spcPts val="580"/>
              </a:spcBef>
              <a:spcAft>
                <a:spcPts val="0"/>
              </a:spcAft>
              <a:buSzPts val="2200"/>
              <a:buFont typeface="Times New Roman"/>
              <a:buChar char="•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Denoted by :: (double colons)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77165" lvl="0" marL="274320" rtl="0" algn="just">
              <a:spcBef>
                <a:spcPts val="580"/>
              </a:spcBef>
              <a:spcAft>
                <a:spcPts val="0"/>
              </a:spcAft>
              <a:buSzPts val="1530"/>
              <a:buNone/>
            </a:pPr>
            <a:r>
              <a:t/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6865" lvl="0" marL="274320" rtl="0" algn="just">
              <a:spcBef>
                <a:spcPts val="580"/>
              </a:spcBef>
              <a:spcAft>
                <a:spcPts val="0"/>
              </a:spcAft>
              <a:buSzPts val="2200"/>
              <a:buFont typeface="Times New Roman"/>
              <a:buChar char="•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Can be used to 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67360" lvl="0" marL="457200" rtl="0" algn="just">
              <a:spcBef>
                <a:spcPts val="580"/>
              </a:spcBef>
              <a:spcAft>
                <a:spcPts val="0"/>
              </a:spcAft>
              <a:buSzPts val="2200"/>
              <a:buFont typeface="Times New Roman"/>
              <a:buAutoNum type="arabicPeriod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To access a global variable when there is a local variable with same name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67360" lvl="0" marL="457200" rtl="0" algn="just">
              <a:spcBef>
                <a:spcPts val="580"/>
              </a:spcBef>
              <a:spcAft>
                <a:spcPts val="0"/>
              </a:spcAft>
              <a:buSzPts val="2200"/>
              <a:buFont typeface="Times New Roman"/>
              <a:buAutoNum type="arabicPeriod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To define a function outside a class.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67360" lvl="0" marL="457200" rtl="0" algn="just">
              <a:spcBef>
                <a:spcPts val="580"/>
              </a:spcBef>
              <a:spcAft>
                <a:spcPts val="0"/>
              </a:spcAft>
              <a:buSzPts val="2200"/>
              <a:buFont typeface="Times New Roman"/>
              <a:buAutoNum type="arabicPeriod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To access a class’s static variables.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67360" lvl="0" marL="457200" rtl="0" algn="just">
              <a:spcBef>
                <a:spcPts val="580"/>
              </a:spcBef>
              <a:spcAft>
                <a:spcPts val="0"/>
              </a:spcAft>
              <a:buSzPts val="2200"/>
              <a:buFont typeface="Times New Roman"/>
              <a:buAutoNum type="arabicPeriod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to qualify hidden names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44780" lvl="0" marL="274320" rtl="0" algn="just">
              <a:spcBef>
                <a:spcPts val="580"/>
              </a:spcBef>
              <a:spcAft>
                <a:spcPts val="0"/>
              </a:spcAft>
              <a:buSzPts val="2040"/>
              <a:buNone/>
            </a:pPr>
            <a:r>
              <a:t/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44780" lvl="0" marL="274320" rtl="0" algn="just">
              <a:spcBef>
                <a:spcPts val="580"/>
              </a:spcBef>
              <a:spcAft>
                <a:spcPts val="0"/>
              </a:spcAft>
              <a:buSzPts val="2040"/>
              <a:buNone/>
            </a:pPr>
            <a:r>
              <a:t/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55575" lvl="0" marL="274320" rtl="0" algn="just">
              <a:spcBef>
                <a:spcPts val="580"/>
              </a:spcBef>
              <a:spcAft>
                <a:spcPts val="0"/>
              </a:spcAft>
              <a:buSzPts val="1870"/>
              <a:buNone/>
            </a:pPr>
            <a:r>
              <a:t/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77165" lvl="0" marL="274320" rtl="0" algn="just">
              <a:spcBef>
                <a:spcPts val="580"/>
              </a:spcBef>
              <a:spcAft>
                <a:spcPts val="0"/>
              </a:spcAft>
              <a:buSzPts val="1530"/>
              <a:buNone/>
            </a:pPr>
            <a:r>
              <a:t/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77165" lvl="0" marL="274320" rtl="0" algn="just">
              <a:spcBef>
                <a:spcPts val="580"/>
              </a:spcBef>
              <a:spcAft>
                <a:spcPts val="0"/>
              </a:spcAft>
              <a:buSzPts val="1530"/>
              <a:buNone/>
            </a:pPr>
            <a:r>
              <a:t/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77165" lvl="0" marL="274320" rtl="0" algn="just">
              <a:spcBef>
                <a:spcPts val="580"/>
              </a:spcBef>
              <a:spcAft>
                <a:spcPts val="0"/>
              </a:spcAft>
              <a:buSzPts val="1530"/>
              <a:buNone/>
            </a:pPr>
            <a:r>
              <a:t/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44780" lvl="0" marL="274320" rtl="0" algn="just">
              <a:spcBef>
                <a:spcPts val="580"/>
              </a:spcBef>
              <a:spcAft>
                <a:spcPts val="0"/>
              </a:spcAft>
              <a:buSzPts val="2040"/>
              <a:buNone/>
            </a:pPr>
            <a:r>
              <a:t/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55575" lvl="0" marL="274320" rtl="0" algn="just">
              <a:spcBef>
                <a:spcPts val="580"/>
              </a:spcBef>
              <a:spcAft>
                <a:spcPts val="0"/>
              </a:spcAft>
              <a:buSzPts val="1870"/>
              <a:buNone/>
            </a:pPr>
            <a:r>
              <a:t/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32fc423d0b5_0_169"/>
          <p:cNvSpPr txBox="1"/>
          <p:nvPr>
            <p:ph type="title"/>
          </p:nvPr>
        </p:nvSpPr>
        <p:spPr>
          <a:xfrm>
            <a:off x="457200" y="840620"/>
            <a:ext cx="8229600" cy="625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25000"/>
              <a:buFont typeface="Libre Franklin"/>
              <a:buNone/>
            </a:pP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SCOPE </a:t>
            </a: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RESOLUTION</a:t>
            </a: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 OPERATOR</a:t>
            </a:r>
            <a:b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7" name="Google Shape;307;g32fc423d0b5_0_169"/>
          <p:cNvSpPr txBox="1"/>
          <p:nvPr>
            <p:ph idx="1" type="body"/>
          </p:nvPr>
        </p:nvSpPr>
        <p:spPr>
          <a:xfrm>
            <a:off x="457200" y="116595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02313" lvl="0" marL="274320" rtl="0" algn="just"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•"/>
            </a:pPr>
            <a:r>
              <a:rPr b="1" i="1" lang="en-US" sz="1800">
                <a:latin typeface="Times New Roman"/>
                <a:ea typeface="Times New Roman"/>
                <a:cs typeface="Times New Roman"/>
                <a:sym typeface="Times New Roman"/>
              </a:rPr>
              <a:t>Write a C++ program to demonstrate concept of scope resolution operator?</a:t>
            </a:r>
            <a:endParaRPr b="1" i="1"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580"/>
              </a:spcBef>
              <a:spcAft>
                <a:spcPts val="0"/>
              </a:spcAft>
              <a:buNone/>
            </a:pPr>
            <a:r>
              <a:rPr b="1" i="1" lang="en-US" sz="1800">
                <a:latin typeface="Times New Roman"/>
                <a:ea typeface="Times New Roman"/>
                <a:cs typeface="Times New Roman"/>
                <a:sym typeface="Times New Roman"/>
              </a:rPr>
              <a:t>#include&lt;iostream.h&gt;</a:t>
            </a:r>
            <a:endParaRPr b="1" i="1"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580"/>
              </a:spcBef>
              <a:spcAft>
                <a:spcPts val="0"/>
              </a:spcAft>
              <a:buNone/>
            </a:pPr>
            <a:r>
              <a:rPr b="1" i="1" lang="en-US" sz="1800">
                <a:latin typeface="Times New Roman"/>
                <a:ea typeface="Times New Roman"/>
                <a:cs typeface="Times New Roman"/>
                <a:sym typeface="Times New Roman"/>
              </a:rPr>
              <a:t>#include&lt;conio.h&gt;</a:t>
            </a:r>
            <a:endParaRPr b="1" i="1"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580"/>
              </a:spcBef>
              <a:spcAft>
                <a:spcPts val="0"/>
              </a:spcAft>
              <a:buNone/>
            </a:pPr>
            <a:r>
              <a:rPr b="1" i="1" lang="en-US" sz="1800">
                <a:latin typeface="Times New Roman"/>
                <a:ea typeface="Times New Roman"/>
                <a:cs typeface="Times New Roman"/>
                <a:sym typeface="Times New Roman"/>
              </a:rPr>
              <a:t>int num=20;</a:t>
            </a:r>
            <a:endParaRPr b="1" i="1"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580"/>
              </a:spcBef>
              <a:spcAft>
                <a:spcPts val="0"/>
              </a:spcAft>
              <a:buNone/>
            </a:pPr>
            <a:r>
              <a:rPr b="1" i="1" lang="en-US" sz="1800">
                <a:latin typeface="Times New Roman"/>
                <a:ea typeface="Times New Roman"/>
                <a:cs typeface="Times New Roman"/>
                <a:sym typeface="Times New Roman"/>
              </a:rPr>
              <a:t>void main()</a:t>
            </a:r>
            <a:endParaRPr b="1" i="1"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580"/>
              </a:spcBef>
              <a:spcAft>
                <a:spcPts val="0"/>
              </a:spcAft>
              <a:buNone/>
            </a:pPr>
            <a:r>
              <a:rPr b="1" i="1" lang="en-US" sz="1800"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endParaRPr b="1" i="1"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342900" rtl="0" algn="just">
              <a:spcBef>
                <a:spcPts val="580"/>
              </a:spcBef>
              <a:spcAft>
                <a:spcPts val="0"/>
              </a:spcAft>
              <a:buNone/>
            </a:pPr>
            <a:r>
              <a:rPr b="1" i="1" lang="en-US" sz="1800">
                <a:latin typeface="Times New Roman"/>
                <a:ea typeface="Times New Roman"/>
                <a:cs typeface="Times New Roman"/>
                <a:sym typeface="Times New Roman"/>
              </a:rPr>
              <a:t> int num=10;</a:t>
            </a:r>
            <a:endParaRPr b="1" i="1"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342900" rtl="0" algn="just">
              <a:spcBef>
                <a:spcPts val="580"/>
              </a:spcBef>
              <a:spcAft>
                <a:spcPts val="0"/>
              </a:spcAft>
              <a:buNone/>
            </a:pPr>
            <a:r>
              <a:rPr b="1" i="1" lang="en-US" sz="1800">
                <a:latin typeface="Times New Roman"/>
                <a:ea typeface="Times New Roman"/>
                <a:cs typeface="Times New Roman"/>
                <a:sym typeface="Times New Roman"/>
              </a:rPr>
              <a:t>clrscr();</a:t>
            </a:r>
            <a:endParaRPr b="1" i="1"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342900" rtl="0" algn="just">
              <a:spcBef>
                <a:spcPts val="580"/>
              </a:spcBef>
              <a:spcAft>
                <a:spcPts val="0"/>
              </a:spcAft>
              <a:buNone/>
            </a:pPr>
            <a:r>
              <a:rPr b="1" i="1" lang="en-US" sz="1800">
                <a:latin typeface="Times New Roman"/>
                <a:ea typeface="Times New Roman"/>
                <a:cs typeface="Times New Roman"/>
                <a:sym typeface="Times New Roman"/>
              </a:rPr>
              <a:t>cout&lt;&lt;"local="&lt;&lt;num;</a:t>
            </a:r>
            <a:endParaRPr b="1" i="1"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342900" rtl="0" algn="just">
              <a:spcBef>
                <a:spcPts val="580"/>
              </a:spcBef>
              <a:spcAft>
                <a:spcPts val="0"/>
              </a:spcAft>
              <a:buNone/>
            </a:pPr>
            <a:r>
              <a:rPr b="1" i="1" lang="en-US" sz="1800">
                <a:latin typeface="Times New Roman"/>
                <a:ea typeface="Times New Roman"/>
                <a:cs typeface="Times New Roman"/>
                <a:sym typeface="Times New Roman"/>
              </a:rPr>
              <a:t>cout&lt;&lt;endl&lt;&lt;"global="&lt;&lt;:: num;</a:t>
            </a:r>
            <a:endParaRPr b="1" i="1"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342900" rtl="0" algn="just">
              <a:spcBef>
                <a:spcPts val="580"/>
              </a:spcBef>
              <a:spcAft>
                <a:spcPts val="0"/>
              </a:spcAft>
              <a:buNone/>
            </a:pPr>
            <a:r>
              <a:rPr b="1" i="1" lang="en-US" sz="1800">
                <a:latin typeface="Times New Roman"/>
                <a:ea typeface="Times New Roman"/>
                <a:cs typeface="Times New Roman"/>
                <a:sym typeface="Times New Roman"/>
              </a:rPr>
              <a:t>cout&lt;&lt;"global+local="&lt;&lt;::num+num;</a:t>
            </a:r>
            <a:endParaRPr b="1" i="1"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580"/>
              </a:spcBef>
              <a:spcAft>
                <a:spcPts val="0"/>
              </a:spcAft>
              <a:buNone/>
            </a:pPr>
            <a:r>
              <a:rPr b="1" i="1" lang="en-US" sz="1800"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 b="1" i="1"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5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1" lang="en-US" sz="2000">
                <a:latin typeface="Times New Roman"/>
                <a:ea typeface="Times New Roman"/>
                <a:cs typeface="Times New Roman"/>
                <a:sym typeface="Times New Roman"/>
              </a:rPr>
              <a:t>Output:local=10</a:t>
            </a:r>
            <a:endParaRPr b="1" i="1"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5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1" lang="en-US" sz="2000">
                <a:latin typeface="Times New Roman"/>
                <a:ea typeface="Times New Roman"/>
                <a:cs typeface="Times New Roman"/>
                <a:sym typeface="Times New Roman"/>
              </a:rPr>
              <a:t>Global=20</a:t>
            </a:r>
            <a:endParaRPr b="1" i="1"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5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1" lang="en-US" sz="2000">
                <a:latin typeface="Times New Roman"/>
                <a:ea typeface="Times New Roman"/>
                <a:cs typeface="Times New Roman"/>
                <a:sym typeface="Times New Roman"/>
              </a:rPr>
              <a:t>Global+local=30</a:t>
            </a:r>
            <a:endParaRPr b="1" i="1"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88013" lvl="0" marL="274320" rtl="0" algn="just">
              <a:spcBef>
                <a:spcPts val="580"/>
              </a:spcBef>
              <a:spcAft>
                <a:spcPts val="0"/>
              </a:spcAft>
              <a:buSzPts val="2210"/>
              <a:buNone/>
            </a:pPr>
            <a:r>
              <a:t/>
            </a:r>
            <a:endParaRPr b="1" i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32fc423d0b5_0_174"/>
          <p:cNvSpPr txBox="1"/>
          <p:nvPr>
            <p:ph type="title"/>
          </p:nvPr>
        </p:nvSpPr>
        <p:spPr>
          <a:xfrm>
            <a:off x="457200" y="0"/>
            <a:ext cx="8229600" cy="941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Libre Franklin"/>
              <a:buNone/>
            </a:pP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Member functions 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3" name="Google Shape;313;g32fc423d0b5_0_174"/>
          <p:cNvSpPr txBox="1"/>
          <p:nvPr>
            <p:ph idx="1" type="body"/>
          </p:nvPr>
        </p:nvSpPr>
        <p:spPr>
          <a:xfrm>
            <a:off x="152400" y="1219200"/>
            <a:ext cx="8763000" cy="56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62890" lvl="0" marL="274320" rtl="0" algn="just"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Char char="•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Member functions can be defined 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38759" lvl="1" marL="548640" rtl="0" algn="just">
              <a:spcBef>
                <a:spcPts val="370"/>
              </a:spcBef>
              <a:spcAft>
                <a:spcPts val="0"/>
              </a:spcAft>
              <a:buSzPts val="2200"/>
              <a:buFont typeface="Times New Roman"/>
              <a:buChar char="–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within the class definition or 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38759" lvl="1" marL="548640" rtl="0" algn="just">
              <a:spcBef>
                <a:spcPts val="370"/>
              </a:spcBef>
              <a:spcAft>
                <a:spcPts val="0"/>
              </a:spcAft>
              <a:buSzPts val="2200"/>
              <a:buChar char="–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separately using </a:t>
            </a:r>
            <a:r>
              <a:rPr b="1" lang="en-US" sz="2200">
                <a:latin typeface="Times New Roman"/>
                <a:ea typeface="Times New Roman"/>
                <a:cs typeface="Times New Roman"/>
                <a:sym typeface="Times New Roman"/>
              </a:rPr>
              <a:t>scope resolution operator, ::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23190" lvl="0" marL="274320" rtl="0" algn="just">
              <a:spcBef>
                <a:spcPts val="580"/>
              </a:spcBef>
              <a:spcAft>
                <a:spcPts val="0"/>
              </a:spcAft>
              <a:buSzPts val="2380"/>
              <a:buNone/>
            </a:pPr>
            <a:r>
              <a:t/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62890" lvl="0" marL="274320" rtl="0" algn="just">
              <a:spcBef>
                <a:spcPts val="580"/>
              </a:spcBef>
              <a:spcAft>
                <a:spcPts val="0"/>
              </a:spcAft>
              <a:buSzPts val="2200"/>
              <a:buFont typeface="Times New Roman"/>
              <a:buChar char="•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To define a member function inside the class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38759" lvl="1" marL="548640" rtl="0" algn="just">
              <a:spcBef>
                <a:spcPts val="370"/>
              </a:spcBef>
              <a:spcAft>
                <a:spcPts val="0"/>
              </a:spcAft>
              <a:buSzPts val="2200"/>
              <a:buChar char="–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declares the function </a:t>
            </a:r>
            <a:r>
              <a:rPr b="1" lang="en-US" sz="2200">
                <a:latin typeface="Times New Roman"/>
                <a:ea typeface="Times New Roman"/>
                <a:cs typeface="Times New Roman"/>
                <a:sym typeface="Times New Roman"/>
              </a:rPr>
              <a:t>inline</a:t>
            </a: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, even if you do not use the inline specifier.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23190" lvl="0" marL="274320" rtl="0" algn="just">
              <a:spcBef>
                <a:spcPts val="580"/>
              </a:spcBef>
              <a:spcAft>
                <a:spcPts val="0"/>
              </a:spcAft>
              <a:buSzPts val="2380"/>
              <a:buNone/>
            </a:pPr>
            <a:r>
              <a:t/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62890" lvl="0" marL="274320" rtl="0" algn="just">
              <a:spcBef>
                <a:spcPts val="580"/>
              </a:spcBef>
              <a:spcAft>
                <a:spcPts val="0"/>
              </a:spcAft>
              <a:buSzPts val="2200"/>
              <a:buFont typeface="Times New Roman"/>
              <a:buChar char="•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If we define the function inside class then we don't not need to declare it first.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44780" lvl="0" marL="274320" rtl="0" algn="just">
              <a:spcBef>
                <a:spcPts val="580"/>
              </a:spcBef>
              <a:spcAft>
                <a:spcPts val="0"/>
              </a:spcAft>
              <a:buSzPts val="2040"/>
              <a:buNone/>
            </a:pPr>
            <a:r>
              <a:t/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44780" lvl="0" marL="274320" rtl="0" algn="just">
              <a:spcBef>
                <a:spcPts val="580"/>
              </a:spcBef>
              <a:spcAft>
                <a:spcPts val="0"/>
              </a:spcAft>
              <a:buSzPts val="2040"/>
              <a:buNone/>
            </a:pPr>
            <a:r>
              <a:t/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55575" lvl="0" marL="274320" rtl="0" algn="just">
              <a:spcBef>
                <a:spcPts val="580"/>
              </a:spcBef>
              <a:spcAft>
                <a:spcPts val="0"/>
              </a:spcAft>
              <a:buSzPts val="1870"/>
              <a:buNone/>
            </a:pPr>
            <a:r>
              <a:t/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77165" lvl="0" marL="274320" rtl="0" algn="just">
              <a:spcBef>
                <a:spcPts val="580"/>
              </a:spcBef>
              <a:spcAft>
                <a:spcPts val="0"/>
              </a:spcAft>
              <a:buSzPts val="1530"/>
              <a:buNone/>
            </a:pPr>
            <a:r>
              <a:t/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77165" lvl="0" marL="274320" rtl="0" algn="just">
              <a:spcBef>
                <a:spcPts val="580"/>
              </a:spcBef>
              <a:spcAft>
                <a:spcPts val="0"/>
              </a:spcAft>
              <a:buSzPts val="1530"/>
              <a:buNone/>
            </a:pPr>
            <a:r>
              <a:t/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77165" lvl="0" marL="274320" rtl="0" algn="just">
              <a:spcBef>
                <a:spcPts val="580"/>
              </a:spcBef>
              <a:spcAft>
                <a:spcPts val="0"/>
              </a:spcAft>
              <a:buSzPts val="1530"/>
              <a:buNone/>
            </a:pPr>
            <a:r>
              <a:t/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44780" lvl="0" marL="274320" rtl="0" algn="just">
              <a:spcBef>
                <a:spcPts val="580"/>
              </a:spcBef>
              <a:spcAft>
                <a:spcPts val="0"/>
              </a:spcAft>
              <a:buSzPts val="2040"/>
              <a:buNone/>
            </a:pPr>
            <a:r>
              <a:t/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55575" lvl="0" marL="274320" rtl="0" algn="just">
              <a:spcBef>
                <a:spcPts val="580"/>
              </a:spcBef>
              <a:spcAft>
                <a:spcPts val="0"/>
              </a:spcAft>
              <a:buSzPts val="1870"/>
              <a:buNone/>
            </a:pPr>
            <a:r>
              <a:t/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3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3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3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3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3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3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>
                                            <p:txEl>
                                              <p:pRg end="13" st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3">
                                            <p:txEl>
                                              <p:pRg end="13" st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>
                                            <p:txEl>
                                              <p:pRg end="14" st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3">
                                            <p:txEl>
                                              <p:pRg end="14" st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>
                                            <p:txEl>
                                              <p:pRg end="15" st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3">
                                            <p:txEl>
                                              <p:pRg end="15" st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32fc423d0b5_0_179"/>
          <p:cNvSpPr txBox="1"/>
          <p:nvPr>
            <p:ph type="title"/>
          </p:nvPr>
        </p:nvSpPr>
        <p:spPr>
          <a:xfrm>
            <a:off x="457200" y="0"/>
            <a:ext cx="8229600" cy="913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Libre Franklin"/>
              <a:buNone/>
            </a:pP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Member functions 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9" name="Google Shape;319;g32fc423d0b5_0_179"/>
          <p:cNvSpPr txBox="1"/>
          <p:nvPr>
            <p:ph idx="1" type="body"/>
          </p:nvPr>
        </p:nvSpPr>
        <p:spPr>
          <a:xfrm>
            <a:off x="152400" y="1219200"/>
            <a:ext cx="8763000" cy="56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4480" lvl="0" marL="274320" rtl="0" algn="just"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Char char="•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to define the member function outside the class definition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38759" lvl="1" marL="548640" rtl="0" algn="just">
              <a:spcBef>
                <a:spcPts val="370"/>
              </a:spcBef>
              <a:spcAft>
                <a:spcPts val="0"/>
              </a:spcAft>
              <a:buSzPts val="2200"/>
              <a:buFont typeface="Times New Roman"/>
              <a:buChar char="–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we must declare the function inside class definition and then define it outside.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44780" lvl="0" marL="274320" rtl="0" algn="just">
              <a:spcBef>
                <a:spcPts val="580"/>
              </a:spcBef>
              <a:spcAft>
                <a:spcPts val="0"/>
              </a:spcAft>
              <a:buSzPts val="2040"/>
              <a:buNone/>
            </a:pPr>
            <a:r>
              <a:t/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4480" lvl="0" marL="274320" rtl="0" algn="just">
              <a:spcBef>
                <a:spcPts val="580"/>
              </a:spcBef>
              <a:spcAft>
                <a:spcPts val="0"/>
              </a:spcAft>
              <a:buSzPts val="2200"/>
              <a:buFont typeface="Times New Roman"/>
              <a:buChar char="•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we have to use the scope resolution :: operator along with class name along with function name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44780" lvl="0" marL="274320" rtl="0" algn="just">
              <a:spcBef>
                <a:spcPts val="580"/>
              </a:spcBef>
              <a:spcAft>
                <a:spcPts val="0"/>
              </a:spcAft>
              <a:buSzPts val="2040"/>
              <a:buNone/>
            </a:pPr>
            <a:r>
              <a:t/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4320" lvl="0" marL="274320" rtl="0" algn="just">
              <a:spcBef>
                <a:spcPts val="580"/>
              </a:spcBef>
              <a:spcAft>
                <a:spcPts val="0"/>
              </a:spcAft>
              <a:buSzPts val="1530"/>
              <a:buNone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Syntax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4480" lvl="0" marL="274320" rtl="0" algn="just">
              <a:spcBef>
                <a:spcPts val="580"/>
              </a:spcBef>
              <a:spcAft>
                <a:spcPts val="0"/>
              </a:spcAft>
              <a:buSzPts val="2200"/>
              <a:buChar char="•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r>
              <a:rPr b="1" lang="en-US" sz="2200">
                <a:latin typeface="Times New Roman"/>
                <a:ea typeface="Times New Roman"/>
                <a:cs typeface="Times New Roman"/>
                <a:sym typeface="Times New Roman"/>
              </a:rPr>
              <a:t>return_type class_name::function_name() {…}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44780" lvl="0" marL="274320" rtl="0" algn="just">
              <a:spcBef>
                <a:spcPts val="580"/>
              </a:spcBef>
              <a:spcAft>
                <a:spcPts val="0"/>
              </a:spcAft>
              <a:buSzPts val="2040"/>
              <a:buNone/>
            </a:pPr>
            <a:r>
              <a:t/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4480" lvl="0" marL="274320" rtl="0" algn="just">
              <a:spcBef>
                <a:spcPts val="580"/>
              </a:spcBef>
              <a:spcAft>
                <a:spcPts val="0"/>
              </a:spcAft>
              <a:buSzPts val="2200"/>
              <a:buFont typeface="Times New Roman"/>
              <a:buChar char="•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The main function for both the function definition will be same.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77165" lvl="0" marL="274320" rtl="0" algn="just">
              <a:spcBef>
                <a:spcPts val="580"/>
              </a:spcBef>
              <a:spcAft>
                <a:spcPts val="0"/>
              </a:spcAft>
              <a:buSzPts val="1530"/>
              <a:buNone/>
            </a:pPr>
            <a:r>
              <a:t/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44780" lvl="0" marL="274320" rtl="0" algn="just">
              <a:spcBef>
                <a:spcPts val="580"/>
              </a:spcBef>
              <a:spcAft>
                <a:spcPts val="0"/>
              </a:spcAft>
              <a:buSzPts val="2040"/>
              <a:buNone/>
            </a:pPr>
            <a:r>
              <a:t/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55575" lvl="0" marL="274320" rtl="0" algn="just">
              <a:spcBef>
                <a:spcPts val="580"/>
              </a:spcBef>
              <a:spcAft>
                <a:spcPts val="0"/>
              </a:spcAft>
              <a:buSzPts val="1870"/>
              <a:buNone/>
            </a:pPr>
            <a:r>
              <a:t/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9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9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9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9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9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32fc423d0b5_0_184"/>
          <p:cNvSpPr txBox="1"/>
          <p:nvPr>
            <p:ph type="title"/>
          </p:nvPr>
        </p:nvSpPr>
        <p:spPr>
          <a:xfrm>
            <a:off x="457200" y="385070"/>
            <a:ext cx="8229600" cy="639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Libre Franklin"/>
              <a:buNone/>
            </a:pP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Friend Functions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5" name="Google Shape;325;g32fc423d0b5_0_184"/>
          <p:cNvSpPr txBox="1"/>
          <p:nvPr>
            <p:ph idx="1" type="body"/>
          </p:nvPr>
        </p:nvSpPr>
        <p:spPr>
          <a:xfrm>
            <a:off x="152400" y="899925"/>
            <a:ext cx="8763000" cy="55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66370" lvl="0" marL="274320" rtl="0" algn="just"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6070" lvl="0" marL="274320" rtl="0" algn="just">
              <a:spcBef>
                <a:spcPts val="580"/>
              </a:spcBef>
              <a:spcAft>
                <a:spcPts val="0"/>
              </a:spcAft>
              <a:buSzPts val="2200"/>
              <a:buChar char="•"/>
            </a:pPr>
            <a:r>
              <a:rPr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Friend function is a </a:t>
            </a:r>
            <a:r>
              <a:rPr b="1"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non-member function </a:t>
            </a:r>
            <a:r>
              <a:rPr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which can </a:t>
            </a:r>
            <a:r>
              <a:rPr b="1"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access </a:t>
            </a:r>
            <a:r>
              <a:rPr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the </a:t>
            </a:r>
            <a:r>
              <a:rPr b="1"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private</a:t>
            </a:r>
            <a:r>
              <a:rPr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&amp; protected </a:t>
            </a:r>
            <a:r>
              <a:rPr b="1"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members</a:t>
            </a:r>
            <a:r>
              <a:rPr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of a class”.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66370" lvl="0" marL="274320" rtl="0" algn="just">
              <a:spcBef>
                <a:spcPts val="58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 b="1"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6070" lvl="0" marL="274320" rtl="0" algn="just">
              <a:spcBef>
                <a:spcPts val="580"/>
              </a:spcBef>
              <a:spcAft>
                <a:spcPts val="0"/>
              </a:spcAft>
              <a:buSzPts val="2200"/>
              <a:buChar char="•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To declare a </a:t>
            </a:r>
            <a:r>
              <a:rPr b="1" lang="en-US" sz="2200">
                <a:latin typeface="Times New Roman"/>
                <a:ea typeface="Times New Roman"/>
                <a:cs typeface="Times New Roman"/>
                <a:sym typeface="Times New Roman"/>
              </a:rPr>
              <a:t>friend function, </a:t>
            </a: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its</a:t>
            </a:r>
            <a:r>
              <a:rPr b="1" lang="en-US" sz="2200">
                <a:latin typeface="Times New Roman"/>
                <a:ea typeface="Times New Roman"/>
                <a:cs typeface="Times New Roman"/>
                <a:sym typeface="Times New Roman"/>
              </a:rPr>
              <a:t> prototype </a:t>
            </a: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should be included within the class, preceding it with the keyword </a:t>
            </a:r>
            <a:r>
              <a:rPr b="1" lang="en-US" sz="2200">
                <a:latin typeface="Times New Roman"/>
                <a:ea typeface="Times New Roman"/>
                <a:cs typeface="Times New Roman"/>
                <a:sym typeface="Times New Roman"/>
              </a:rPr>
              <a:t>friend.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66370" lvl="0" marL="274320" rtl="0" algn="just">
              <a:spcBef>
                <a:spcPts val="58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 b="1"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4320" lvl="0" marL="274320" rtl="0" algn="just">
              <a:spcBef>
                <a:spcPts val="580"/>
              </a:spcBef>
              <a:spcAft>
                <a:spcPts val="0"/>
              </a:spcAft>
              <a:buSzPts val="1360"/>
              <a:buNone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Syntax: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4320" lvl="0" marL="274320" rtl="0" algn="just">
              <a:spcBef>
                <a:spcPts val="580"/>
              </a:spcBef>
              <a:spcAft>
                <a:spcPts val="0"/>
              </a:spcAft>
              <a:buSzPts val="1700"/>
              <a:buNone/>
            </a:pPr>
            <a:r>
              <a:rPr b="1" lang="en-US" sz="2200"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b="1" i="1" lang="en-US" sz="2200">
                <a:latin typeface="Times New Roman"/>
                <a:ea typeface="Times New Roman"/>
                <a:cs typeface="Times New Roman"/>
                <a:sym typeface="Times New Roman"/>
              </a:rPr>
              <a:t>class class_name </a:t>
            </a:r>
            <a:endParaRPr i="1"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4320" lvl="0" marL="274320" rtl="0" algn="just">
              <a:spcBef>
                <a:spcPts val="580"/>
              </a:spcBef>
              <a:spcAft>
                <a:spcPts val="0"/>
              </a:spcAft>
              <a:buSzPts val="1700"/>
              <a:buNone/>
            </a:pPr>
            <a:r>
              <a:rPr b="1" i="1" lang="en-US" sz="2200">
                <a:latin typeface="Times New Roman"/>
                <a:ea typeface="Times New Roman"/>
                <a:cs typeface="Times New Roman"/>
                <a:sym typeface="Times New Roman"/>
              </a:rPr>
              <a:t>	{</a:t>
            </a:r>
            <a:endParaRPr i="1"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4320" lvl="0" marL="274320" rtl="0" algn="just">
              <a:spcBef>
                <a:spcPts val="580"/>
              </a:spcBef>
              <a:spcAft>
                <a:spcPts val="0"/>
              </a:spcAft>
              <a:buSzPts val="1700"/>
              <a:buNone/>
            </a:pPr>
            <a:r>
              <a:rPr b="1" i="1" lang="en-US" sz="2200">
                <a:latin typeface="Times New Roman"/>
                <a:ea typeface="Times New Roman"/>
                <a:cs typeface="Times New Roman"/>
                <a:sym typeface="Times New Roman"/>
              </a:rPr>
              <a:t>	//class definition</a:t>
            </a:r>
            <a:endParaRPr i="1"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4320" lvl="0" marL="274320" rtl="0" algn="just">
              <a:spcBef>
                <a:spcPts val="580"/>
              </a:spcBef>
              <a:spcAft>
                <a:spcPts val="0"/>
              </a:spcAft>
              <a:buSzPts val="1700"/>
              <a:buNone/>
            </a:pPr>
            <a:r>
              <a:rPr b="1" i="1" lang="en-US" sz="2200">
                <a:latin typeface="Times New Roman"/>
                <a:ea typeface="Times New Roman"/>
                <a:cs typeface="Times New Roman"/>
                <a:sym typeface="Times New Roman"/>
              </a:rPr>
              <a:t>	public:</a:t>
            </a:r>
            <a:endParaRPr i="1"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4320" lvl="0" marL="274320" rtl="0" algn="just">
              <a:spcBef>
                <a:spcPts val="580"/>
              </a:spcBef>
              <a:spcAft>
                <a:spcPts val="0"/>
              </a:spcAft>
              <a:buSzPts val="1700"/>
              <a:buNone/>
            </a:pPr>
            <a:r>
              <a:rPr b="1" i="1" lang="en-US" sz="2200">
                <a:latin typeface="Times New Roman"/>
                <a:ea typeface="Times New Roman"/>
                <a:cs typeface="Times New Roman"/>
                <a:sym typeface="Times New Roman"/>
              </a:rPr>
              <a:t>	friend returntype fun_name(formal parameters);</a:t>
            </a:r>
            <a:endParaRPr i="1"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4320" lvl="0" marL="274320" rtl="0" algn="just">
              <a:spcBef>
                <a:spcPts val="580"/>
              </a:spcBef>
              <a:spcAft>
                <a:spcPts val="0"/>
              </a:spcAft>
              <a:buSzPts val="1700"/>
              <a:buNone/>
            </a:pPr>
            <a:r>
              <a:rPr b="1" i="1" lang="en-US" sz="2200">
                <a:latin typeface="Times New Roman"/>
                <a:ea typeface="Times New Roman"/>
                <a:cs typeface="Times New Roman"/>
                <a:sym typeface="Times New Roman"/>
              </a:rPr>
              <a:t>	};</a:t>
            </a:r>
            <a:endParaRPr i="1"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66370" lvl="0" marL="274320" rtl="0" algn="just">
              <a:spcBef>
                <a:spcPts val="58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 b="1" sz="2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32fc423d0b5_0_189"/>
          <p:cNvSpPr txBox="1"/>
          <p:nvPr>
            <p:ph type="title"/>
          </p:nvPr>
        </p:nvSpPr>
        <p:spPr>
          <a:xfrm>
            <a:off x="457200" y="274646"/>
            <a:ext cx="8229600" cy="763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Libre Franklin"/>
              <a:buNone/>
            </a:pP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Friend function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1" name="Google Shape;331;g32fc423d0b5_0_189"/>
          <p:cNvSpPr txBox="1"/>
          <p:nvPr/>
        </p:nvSpPr>
        <p:spPr>
          <a:xfrm>
            <a:off x="953800" y="1120825"/>
            <a:ext cx="7932000" cy="53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#include&lt;iostream.h&gt;</a:t>
            </a:r>
            <a:endParaRPr b="1" i="1"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 base</a:t>
            </a:r>
            <a:endParaRPr b="1" i="1"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endParaRPr b="1" i="1"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int val1, val2;</a:t>
            </a:r>
            <a:endParaRPr b="1" i="1"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public:</a:t>
            </a:r>
            <a:endParaRPr b="1" i="1"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void get()</a:t>
            </a:r>
            <a:endParaRPr b="1" i="1"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{	</a:t>
            </a:r>
            <a:endParaRPr b="1" i="1"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	cout&lt;&lt;”enter two values”&lt;&lt;endl;</a:t>
            </a:r>
            <a:endParaRPr b="1" i="1"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	cin&gt;&gt;val1&gt;&gt;val2;</a:t>
            </a:r>
            <a:endParaRPr b="1" i="1"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}</a:t>
            </a:r>
            <a:endParaRPr b="1" i="1"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friend float mean(base ob);</a:t>
            </a:r>
            <a:endParaRPr b="1" i="1"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};</a:t>
            </a:r>
            <a:endParaRPr b="1" i="1"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float mean(base ob)</a:t>
            </a:r>
            <a:endParaRPr b="1" i="1"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	</a:t>
            </a:r>
            <a:endParaRPr b="1" i="1"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return float((ob.val1+ob.val2)/2);</a:t>
            </a:r>
            <a:endParaRPr b="1" i="1"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 b="1" i="1"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 main()</a:t>
            </a:r>
            <a:endParaRPr b="1" i="1"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endParaRPr b="1" i="1"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base obj;</a:t>
            </a:r>
            <a:endParaRPr b="1" i="1"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obj.get();</a:t>
            </a:r>
            <a:endParaRPr b="1" i="1"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cout&lt;&lt;”Mean Value is:”&lt;&lt;mean(obj);</a:t>
            </a:r>
            <a:endParaRPr b="1" i="1"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return 0;</a:t>
            </a:r>
            <a:endParaRPr b="1" i="1"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 b="1" i="1"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Output: 	enter two numbers: 10 20</a:t>
            </a:r>
            <a:endParaRPr b="1" i="1"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	Mean value is: 15</a:t>
            </a:r>
            <a:endParaRPr b="1" i="1"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32fc423d0b5_0_194"/>
          <p:cNvSpPr txBox="1"/>
          <p:nvPr>
            <p:ph type="title"/>
          </p:nvPr>
        </p:nvSpPr>
        <p:spPr>
          <a:xfrm>
            <a:off x="457200" y="481693"/>
            <a:ext cx="8229600" cy="432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Libre Franklin"/>
              <a:buNone/>
            </a:pP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Friend class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7" name="Google Shape;337;g32fc423d0b5_0_194"/>
          <p:cNvSpPr txBox="1"/>
          <p:nvPr>
            <p:ph idx="1" type="body"/>
          </p:nvPr>
        </p:nvSpPr>
        <p:spPr>
          <a:xfrm>
            <a:off x="228600" y="1371600"/>
            <a:ext cx="86868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4480" lvl="0" marL="274320" rtl="0" algn="just">
              <a:spcBef>
                <a:spcPts val="0"/>
              </a:spcBef>
              <a:spcAft>
                <a:spcPts val="0"/>
              </a:spcAft>
              <a:buSzPts val="2200"/>
              <a:buChar char="•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A class can also be a friend of another class, allowing access to the </a:t>
            </a:r>
            <a:r>
              <a:rPr b="1" lang="en-US" sz="2200">
                <a:latin typeface="Times New Roman"/>
                <a:ea typeface="Times New Roman"/>
                <a:cs typeface="Times New Roman"/>
                <a:sym typeface="Times New Roman"/>
              </a:rPr>
              <a:t>protected </a:t>
            </a: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and</a:t>
            </a:r>
            <a:r>
              <a:rPr b="1" lang="en-US" sz="2200">
                <a:latin typeface="Times New Roman"/>
                <a:ea typeface="Times New Roman"/>
                <a:cs typeface="Times New Roman"/>
                <a:sym typeface="Times New Roman"/>
              </a:rPr>
              <a:t> private </a:t>
            </a: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members of the class in which is defined.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44780" lvl="0" marL="274320" rtl="0" algn="just">
              <a:spcBef>
                <a:spcPts val="580"/>
              </a:spcBef>
              <a:spcAft>
                <a:spcPts val="0"/>
              </a:spcAft>
              <a:buSzPts val="2040"/>
              <a:buNone/>
            </a:pPr>
            <a:r>
              <a:t/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4480" lvl="0" marL="274320" rtl="0" algn="just">
              <a:spcBef>
                <a:spcPts val="580"/>
              </a:spcBef>
              <a:spcAft>
                <a:spcPts val="0"/>
              </a:spcAft>
              <a:buSzPts val="2200"/>
              <a:buFont typeface="Times New Roman"/>
              <a:buChar char="•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Friend class and all of its member functions have access to the private members defined within the that class.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44780" lvl="0" marL="274320" rtl="0" algn="just">
              <a:spcBef>
                <a:spcPts val="580"/>
              </a:spcBef>
              <a:spcAft>
                <a:spcPts val="0"/>
              </a:spcAft>
              <a:buSzPts val="2040"/>
              <a:buNone/>
            </a:pPr>
            <a:r>
              <a:t/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4480" lvl="0" marL="274320" rtl="0" algn="just">
              <a:spcBef>
                <a:spcPts val="580"/>
              </a:spcBef>
              <a:spcAft>
                <a:spcPts val="0"/>
              </a:spcAft>
              <a:buSzPts val="2200"/>
              <a:buFont typeface="Times New Roman"/>
              <a:buChar char="•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When a class is made a friend class, all the member functions of that class becomes friend functions.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4480" lvl="0" marL="274320" rtl="0" algn="just">
              <a:spcBef>
                <a:spcPts val="580"/>
              </a:spcBef>
              <a:spcAft>
                <a:spcPts val="0"/>
              </a:spcAft>
              <a:buSzPts val="2200"/>
              <a:buFont typeface="Times New Roman"/>
              <a:buChar char="•"/>
            </a:pPr>
            <a:r>
              <a:t/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3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3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3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3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3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3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32fc423d0b5_0_199"/>
          <p:cNvSpPr txBox="1"/>
          <p:nvPr>
            <p:ph type="title"/>
          </p:nvPr>
        </p:nvSpPr>
        <p:spPr>
          <a:xfrm>
            <a:off x="457200" y="274646"/>
            <a:ext cx="8229600" cy="763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Libre Franklin"/>
              <a:buNone/>
            </a:pP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Friend class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3" name="Google Shape;343;g32fc423d0b5_0_199"/>
          <p:cNvSpPr txBox="1"/>
          <p:nvPr>
            <p:ph idx="1" type="body"/>
          </p:nvPr>
        </p:nvSpPr>
        <p:spPr>
          <a:xfrm>
            <a:off x="228600" y="1371600"/>
            <a:ext cx="86868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06070" lvl="0" marL="274320" rtl="0" algn="l"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Char char="•"/>
            </a:pPr>
            <a:r>
              <a:rPr i="1" lang="en-US" sz="2200">
                <a:latin typeface="Times New Roman"/>
                <a:ea typeface="Times New Roman"/>
                <a:cs typeface="Times New Roman"/>
                <a:sym typeface="Times New Roman"/>
              </a:rPr>
              <a:t>Ex</a:t>
            </a:r>
            <a:endParaRPr i="1"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4320" lvl="0" marL="274320" rtl="0" algn="l">
              <a:spcBef>
                <a:spcPts val="580"/>
              </a:spcBef>
              <a:spcAft>
                <a:spcPts val="0"/>
              </a:spcAft>
              <a:buSzPts val="2040"/>
              <a:buNone/>
            </a:pPr>
            <a:r>
              <a:rPr b="1" i="1" lang="en-US" sz="2200">
                <a:latin typeface="Times New Roman"/>
                <a:ea typeface="Times New Roman"/>
                <a:cs typeface="Times New Roman"/>
                <a:sym typeface="Times New Roman"/>
              </a:rPr>
              <a:t>... .. ...</a:t>
            </a:r>
            <a:endParaRPr i="1"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4320" lvl="0" marL="274320" rtl="0" algn="l">
              <a:spcBef>
                <a:spcPts val="580"/>
              </a:spcBef>
              <a:spcAft>
                <a:spcPts val="0"/>
              </a:spcAft>
              <a:buSzPts val="2040"/>
              <a:buNone/>
            </a:pPr>
            <a:r>
              <a:rPr b="1" i="1" lang="en-US" sz="2200">
                <a:latin typeface="Times New Roman"/>
                <a:ea typeface="Times New Roman"/>
                <a:cs typeface="Times New Roman"/>
                <a:sym typeface="Times New Roman"/>
              </a:rPr>
              <a:t> class B;</a:t>
            </a:r>
            <a:endParaRPr i="1"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4320" lvl="0" marL="274320" rtl="0" algn="l">
              <a:spcBef>
                <a:spcPts val="580"/>
              </a:spcBef>
              <a:spcAft>
                <a:spcPts val="0"/>
              </a:spcAft>
              <a:buSzPts val="2040"/>
              <a:buNone/>
            </a:pPr>
            <a:r>
              <a:rPr b="1" i="1" lang="en-US" sz="2200">
                <a:latin typeface="Times New Roman"/>
                <a:ea typeface="Times New Roman"/>
                <a:cs typeface="Times New Roman"/>
                <a:sym typeface="Times New Roman"/>
              </a:rPr>
              <a:t> class A { </a:t>
            </a:r>
            <a:endParaRPr i="1"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4320" lvl="0" marL="274320" rtl="0" algn="l">
              <a:spcBef>
                <a:spcPts val="580"/>
              </a:spcBef>
              <a:spcAft>
                <a:spcPts val="0"/>
              </a:spcAft>
              <a:buSzPts val="2040"/>
              <a:buNone/>
            </a:pPr>
            <a:r>
              <a:rPr b="1" i="1" lang="en-US" sz="2200">
                <a:latin typeface="Times New Roman"/>
                <a:ea typeface="Times New Roman"/>
                <a:cs typeface="Times New Roman"/>
                <a:sym typeface="Times New Roman"/>
              </a:rPr>
              <a:t>             // class B is a friend class of class A </a:t>
            </a:r>
            <a:endParaRPr b="1" i="1"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4320" lvl="0" marL="274320" rtl="0" algn="l">
              <a:spcBef>
                <a:spcPts val="580"/>
              </a:spcBef>
              <a:spcAft>
                <a:spcPts val="0"/>
              </a:spcAft>
              <a:buSzPts val="2040"/>
              <a:buNone/>
            </a:pPr>
            <a:r>
              <a:rPr b="1" i="1" lang="en-US" sz="2200">
                <a:latin typeface="Times New Roman"/>
                <a:ea typeface="Times New Roman"/>
                <a:cs typeface="Times New Roman"/>
                <a:sym typeface="Times New Roman"/>
              </a:rPr>
              <a:t>                 friend class B;</a:t>
            </a:r>
            <a:endParaRPr i="1"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4320" lvl="0" marL="274320" rtl="0" algn="l">
              <a:spcBef>
                <a:spcPts val="580"/>
              </a:spcBef>
              <a:spcAft>
                <a:spcPts val="0"/>
              </a:spcAft>
              <a:buSzPts val="2040"/>
              <a:buNone/>
            </a:pPr>
            <a:r>
              <a:rPr b="1" i="1" lang="en-US" sz="2200">
                <a:latin typeface="Times New Roman"/>
                <a:ea typeface="Times New Roman"/>
                <a:cs typeface="Times New Roman"/>
                <a:sym typeface="Times New Roman"/>
              </a:rPr>
              <a:t>               ... .. ...</a:t>
            </a:r>
            <a:endParaRPr i="1"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4320" lvl="0" marL="274320" rtl="0" algn="l">
              <a:spcBef>
                <a:spcPts val="580"/>
              </a:spcBef>
              <a:spcAft>
                <a:spcPts val="0"/>
              </a:spcAft>
              <a:buSzPts val="2040"/>
              <a:buNone/>
            </a:pPr>
            <a:r>
              <a:rPr b="1" i="1" lang="en-US" sz="2200">
                <a:latin typeface="Times New Roman"/>
                <a:ea typeface="Times New Roman"/>
                <a:cs typeface="Times New Roman"/>
                <a:sym typeface="Times New Roman"/>
              </a:rPr>
              <a:t>              } ;</a:t>
            </a:r>
            <a:endParaRPr i="1"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4320" lvl="0" marL="274320" rtl="0" algn="l">
              <a:spcBef>
                <a:spcPts val="580"/>
              </a:spcBef>
              <a:spcAft>
                <a:spcPts val="0"/>
              </a:spcAft>
              <a:buSzPts val="2040"/>
              <a:buNone/>
            </a:pPr>
            <a:r>
              <a:rPr b="1" i="1" lang="en-US" sz="2200">
                <a:latin typeface="Times New Roman"/>
                <a:ea typeface="Times New Roman"/>
                <a:cs typeface="Times New Roman"/>
                <a:sym typeface="Times New Roman"/>
              </a:rPr>
              <a:t>class B</a:t>
            </a:r>
            <a:endParaRPr i="1"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4320" lvl="0" marL="274320" rtl="0" algn="l">
              <a:spcBef>
                <a:spcPts val="580"/>
              </a:spcBef>
              <a:spcAft>
                <a:spcPts val="0"/>
              </a:spcAft>
              <a:buSzPts val="2040"/>
              <a:buNone/>
            </a:pPr>
            <a:r>
              <a:rPr b="1" i="1" lang="en-US" sz="2200">
                <a:latin typeface="Times New Roman"/>
                <a:ea typeface="Times New Roman"/>
                <a:cs typeface="Times New Roman"/>
                <a:sym typeface="Times New Roman"/>
              </a:rPr>
              <a:t> { ... ..// Now class B can access all members of A... };</a:t>
            </a:r>
            <a:endParaRPr i="1" sz="2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32fc423d0b5_0_204"/>
          <p:cNvSpPr txBox="1"/>
          <p:nvPr>
            <p:ph type="title"/>
          </p:nvPr>
        </p:nvSpPr>
        <p:spPr>
          <a:xfrm>
            <a:off x="457200" y="274645"/>
            <a:ext cx="8229600" cy="694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Libre Franklin"/>
              <a:buNone/>
            </a:pP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Inline function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9" name="Google Shape;349;g32fc423d0b5_0_204"/>
          <p:cNvSpPr txBox="1"/>
          <p:nvPr/>
        </p:nvSpPr>
        <p:spPr>
          <a:xfrm>
            <a:off x="346400" y="1383075"/>
            <a:ext cx="7932000" cy="469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84480" lvl="0" marL="27432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b="1"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inline</a:t>
            </a:r>
            <a:r>
              <a:rPr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function is powerful concept that is commonly used with classes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44780" lvl="0" marL="274320" rtl="0" algn="just">
              <a:spcBef>
                <a:spcPts val="580"/>
              </a:spcBef>
              <a:spcAft>
                <a:spcPts val="0"/>
              </a:spcAft>
              <a:buClr>
                <a:schemeClr val="dk1"/>
              </a:buClr>
              <a:buSzPts val="2040"/>
              <a:buFont typeface="Arial"/>
              <a:buNone/>
            </a:pPr>
            <a:r>
              <a:t/>
            </a:r>
            <a:endParaRPr b="1"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4480" lvl="0" marL="274320" rtl="0" algn="just">
              <a:spcBef>
                <a:spcPts val="58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a function is inline, the compiler </a:t>
            </a:r>
            <a:r>
              <a:rPr b="1"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places a copy </a:t>
            </a:r>
            <a:r>
              <a:rPr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 the code of that function at</a:t>
            </a:r>
            <a:r>
              <a:rPr b="1"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each </a:t>
            </a:r>
            <a:r>
              <a:rPr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point where the function is called at</a:t>
            </a:r>
            <a:r>
              <a:rPr b="1"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compile </a:t>
            </a:r>
            <a:r>
              <a:rPr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time.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44780" lvl="0" marL="274320" rtl="0" algn="just">
              <a:spcBef>
                <a:spcPts val="580"/>
              </a:spcBef>
              <a:spcAft>
                <a:spcPts val="0"/>
              </a:spcAft>
              <a:buClr>
                <a:schemeClr val="dk1"/>
              </a:buClr>
              <a:buSzPts val="2040"/>
              <a:buFont typeface="Arial"/>
              <a:buNone/>
            </a:pPr>
            <a:r>
              <a:t/>
            </a:r>
            <a:endParaRPr b="1"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4480" lvl="0" marL="274320" rtl="0" algn="just">
              <a:spcBef>
                <a:spcPts val="58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Char char="•"/>
            </a:pPr>
            <a:r>
              <a:rPr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Any change to an inline function could require all clients of the function to be recompiled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44780" lvl="0" marL="274320" rtl="0" algn="just">
              <a:spcBef>
                <a:spcPts val="580"/>
              </a:spcBef>
              <a:spcAft>
                <a:spcPts val="0"/>
              </a:spcAft>
              <a:buClr>
                <a:schemeClr val="dk1"/>
              </a:buClr>
              <a:buSzPts val="2040"/>
              <a:buFont typeface="Arial"/>
              <a:buNone/>
            </a:pPr>
            <a:r>
              <a:t/>
            </a:r>
            <a:endParaRPr b="1"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6070" lvl="0" marL="274320" rtl="0" algn="just">
              <a:spcBef>
                <a:spcPts val="58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inline a function, place the keyword </a:t>
            </a:r>
            <a:r>
              <a:rPr b="1"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inline</a:t>
            </a:r>
            <a:r>
              <a:rPr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before the function name 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g32fc423d0b5_0_210"/>
          <p:cNvSpPr txBox="1"/>
          <p:nvPr>
            <p:ph type="title"/>
          </p:nvPr>
        </p:nvSpPr>
        <p:spPr>
          <a:xfrm>
            <a:off x="457200" y="274646"/>
            <a:ext cx="8229600" cy="735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Libre Franklin"/>
              <a:buNone/>
            </a:pP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Inline function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5" name="Google Shape;355;g32fc423d0b5_0_210"/>
          <p:cNvSpPr txBox="1"/>
          <p:nvPr>
            <p:ph idx="1" type="body"/>
          </p:nvPr>
        </p:nvSpPr>
        <p:spPr>
          <a:xfrm>
            <a:off x="228600" y="1371600"/>
            <a:ext cx="86868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47500" lnSpcReduction="20000"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ct val="85000"/>
              <a:buNone/>
            </a:pPr>
            <a:r>
              <a:rPr b="1" i="1" lang="en-US" sz="3200">
                <a:latin typeface="Times New Roman"/>
                <a:ea typeface="Times New Roman"/>
                <a:cs typeface="Times New Roman"/>
                <a:sym typeface="Times New Roman"/>
              </a:rPr>
              <a:t>Write a C++ program to demonstrate concept of scope resolution operator?</a:t>
            </a:r>
            <a:endParaRPr b="1" i="1"/>
          </a:p>
          <a:p>
            <a:pPr indent="-274320" lvl="0" marL="274320" rtl="0" algn="l">
              <a:spcBef>
                <a:spcPts val="580"/>
              </a:spcBef>
              <a:spcAft>
                <a:spcPts val="0"/>
              </a:spcAft>
              <a:buSzPct val="85000"/>
              <a:buNone/>
            </a:pPr>
            <a:r>
              <a:rPr b="1" i="1" lang="en-US" sz="3200"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endParaRPr b="1" i="1"/>
          </a:p>
          <a:p>
            <a:pPr indent="-274320" lvl="0" marL="274320" rtl="0" algn="l">
              <a:spcBef>
                <a:spcPts val="580"/>
              </a:spcBef>
              <a:spcAft>
                <a:spcPts val="0"/>
              </a:spcAft>
              <a:buSzPct val="85000"/>
              <a:buNone/>
            </a:pPr>
            <a:r>
              <a:rPr b="1" i="1" lang="en-US" sz="3200">
                <a:latin typeface="Times New Roman"/>
                <a:ea typeface="Times New Roman"/>
                <a:cs typeface="Times New Roman"/>
                <a:sym typeface="Times New Roman"/>
              </a:rPr>
              <a:t>#include&lt;iostream.h&gt;</a:t>
            </a:r>
            <a:endParaRPr b="1" i="1"/>
          </a:p>
          <a:p>
            <a:pPr indent="-274320" lvl="0" marL="274320" rtl="0" algn="l">
              <a:spcBef>
                <a:spcPts val="580"/>
              </a:spcBef>
              <a:spcAft>
                <a:spcPts val="0"/>
              </a:spcAft>
              <a:buSzPct val="85000"/>
              <a:buNone/>
            </a:pPr>
            <a:r>
              <a:rPr b="1" i="1" lang="en-US" sz="3200">
                <a:latin typeface="Times New Roman"/>
                <a:ea typeface="Times New Roman"/>
                <a:cs typeface="Times New Roman"/>
                <a:sym typeface="Times New Roman"/>
              </a:rPr>
              <a:t>#include&lt;conio.h&gt;</a:t>
            </a:r>
            <a:endParaRPr b="1" i="1"/>
          </a:p>
          <a:p>
            <a:pPr indent="-274320" lvl="0" marL="274320" rtl="0" algn="l">
              <a:spcBef>
                <a:spcPts val="580"/>
              </a:spcBef>
              <a:spcAft>
                <a:spcPts val="0"/>
              </a:spcAft>
              <a:buSzPct val="85000"/>
              <a:buNone/>
            </a:pPr>
            <a:r>
              <a:rPr b="1" i="1" lang="en-US" sz="3200">
                <a:latin typeface="Times New Roman"/>
                <a:ea typeface="Times New Roman"/>
                <a:cs typeface="Times New Roman"/>
                <a:sym typeface="Times New Roman"/>
              </a:rPr>
              <a:t>int num=20;</a:t>
            </a:r>
            <a:endParaRPr b="1" i="1"/>
          </a:p>
          <a:p>
            <a:pPr indent="-274320" lvl="0" marL="274320" rtl="0" algn="l">
              <a:spcBef>
                <a:spcPts val="580"/>
              </a:spcBef>
              <a:spcAft>
                <a:spcPts val="0"/>
              </a:spcAft>
              <a:buSzPct val="85000"/>
              <a:buNone/>
            </a:pPr>
            <a:r>
              <a:rPr b="1" i="1" lang="en-US" sz="3200">
                <a:latin typeface="Times New Roman"/>
                <a:ea typeface="Times New Roman"/>
                <a:cs typeface="Times New Roman"/>
                <a:sym typeface="Times New Roman"/>
              </a:rPr>
              <a:t>void main()</a:t>
            </a:r>
            <a:endParaRPr b="1" i="1"/>
          </a:p>
          <a:p>
            <a:pPr indent="-274320" lvl="0" marL="274320" rtl="0" algn="l">
              <a:spcBef>
                <a:spcPts val="580"/>
              </a:spcBef>
              <a:spcAft>
                <a:spcPts val="0"/>
              </a:spcAft>
              <a:buSzPct val="85000"/>
              <a:buNone/>
            </a:pPr>
            <a:r>
              <a:rPr b="1" i="1" lang="en-US" sz="3200"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endParaRPr b="1" i="1"/>
          </a:p>
          <a:p>
            <a:pPr indent="-274320" lvl="0" marL="274320" rtl="0" algn="l">
              <a:spcBef>
                <a:spcPts val="580"/>
              </a:spcBef>
              <a:spcAft>
                <a:spcPts val="0"/>
              </a:spcAft>
              <a:buSzPct val="85000"/>
              <a:buNone/>
            </a:pPr>
            <a:r>
              <a:rPr b="1" i="1" lang="en-US" sz="3200">
                <a:latin typeface="Times New Roman"/>
                <a:ea typeface="Times New Roman"/>
                <a:cs typeface="Times New Roman"/>
                <a:sym typeface="Times New Roman"/>
              </a:rPr>
              <a:t> int num=10;</a:t>
            </a:r>
            <a:endParaRPr b="1" i="1"/>
          </a:p>
          <a:p>
            <a:pPr indent="-274320" lvl="0" marL="274320" rtl="0" algn="l">
              <a:spcBef>
                <a:spcPts val="580"/>
              </a:spcBef>
              <a:spcAft>
                <a:spcPts val="0"/>
              </a:spcAft>
              <a:buSzPct val="85000"/>
              <a:buNone/>
            </a:pPr>
            <a:r>
              <a:rPr b="1" i="1" lang="en-US" sz="3200">
                <a:latin typeface="Times New Roman"/>
                <a:ea typeface="Times New Roman"/>
                <a:cs typeface="Times New Roman"/>
                <a:sym typeface="Times New Roman"/>
              </a:rPr>
              <a:t> clrscr();</a:t>
            </a:r>
            <a:endParaRPr b="1" i="1"/>
          </a:p>
          <a:p>
            <a:pPr indent="-274320" lvl="0" marL="274320" rtl="0" algn="l">
              <a:spcBef>
                <a:spcPts val="580"/>
              </a:spcBef>
              <a:spcAft>
                <a:spcPts val="0"/>
              </a:spcAft>
              <a:buSzPct val="85000"/>
              <a:buNone/>
            </a:pPr>
            <a:r>
              <a:rPr b="1" i="1" lang="en-US" sz="3200">
                <a:latin typeface="Times New Roman"/>
                <a:ea typeface="Times New Roman"/>
                <a:cs typeface="Times New Roman"/>
                <a:sym typeface="Times New Roman"/>
              </a:rPr>
              <a:t> cout&lt;&lt;"local="&lt;&lt;num;</a:t>
            </a:r>
            <a:endParaRPr b="1" i="1"/>
          </a:p>
          <a:p>
            <a:pPr indent="-274320" lvl="0" marL="274320" rtl="0" algn="l">
              <a:spcBef>
                <a:spcPts val="580"/>
              </a:spcBef>
              <a:spcAft>
                <a:spcPts val="0"/>
              </a:spcAft>
              <a:buSzPct val="85000"/>
              <a:buNone/>
            </a:pPr>
            <a:r>
              <a:rPr b="1" i="1" lang="en-US" sz="3200">
                <a:latin typeface="Times New Roman"/>
                <a:ea typeface="Times New Roman"/>
                <a:cs typeface="Times New Roman"/>
                <a:sym typeface="Times New Roman"/>
              </a:rPr>
              <a:t> cout&lt;&lt;endl&lt;&lt;"global="&lt;&lt;:: num;</a:t>
            </a:r>
            <a:endParaRPr b="1" i="1"/>
          </a:p>
          <a:p>
            <a:pPr indent="-274320" lvl="0" marL="274320" rtl="0" algn="l">
              <a:spcBef>
                <a:spcPts val="580"/>
              </a:spcBef>
              <a:spcAft>
                <a:spcPts val="0"/>
              </a:spcAft>
              <a:buSzPct val="85000"/>
              <a:buNone/>
            </a:pPr>
            <a:r>
              <a:rPr b="1" i="1" lang="en-US" sz="3200">
                <a:latin typeface="Times New Roman"/>
                <a:ea typeface="Times New Roman"/>
                <a:cs typeface="Times New Roman"/>
                <a:sym typeface="Times New Roman"/>
              </a:rPr>
              <a:t> cout&lt;&lt;"global+local="&lt;&lt;::num+num;</a:t>
            </a:r>
            <a:endParaRPr b="1" i="1"/>
          </a:p>
          <a:p>
            <a:pPr indent="-274320" lvl="0" marL="274320" rtl="0" algn="l">
              <a:spcBef>
                <a:spcPts val="580"/>
              </a:spcBef>
              <a:spcAft>
                <a:spcPts val="0"/>
              </a:spcAft>
              <a:buSzPct val="85000"/>
              <a:buNone/>
            </a:pPr>
            <a:r>
              <a:rPr b="1" i="1" lang="en-US" sz="3200">
                <a:latin typeface="Times New Roman"/>
                <a:ea typeface="Times New Roman"/>
                <a:cs typeface="Times New Roman"/>
                <a:sym typeface="Times New Roman"/>
              </a:rPr>
              <a:t> getch();</a:t>
            </a:r>
            <a:endParaRPr b="1" i="1"/>
          </a:p>
          <a:p>
            <a:pPr indent="-274320" lvl="0" marL="274320" rtl="0" algn="l">
              <a:spcBef>
                <a:spcPts val="580"/>
              </a:spcBef>
              <a:spcAft>
                <a:spcPts val="0"/>
              </a:spcAft>
              <a:buSzPct val="85000"/>
              <a:buNone/>
            </a:pPr>
            <a:r>
              <a:rPr b="1" i="1" lang="en-US" sz="3200">
                <a:latin typeface="Times New Roman"/>
                <a:ea typeface="Times New Roman"/>
                <a:cs typeface="Times New Roman"/>
                <a:sym typeface="Times New Roman"/>
              </a:rPr>
              <a:t> }</a:t>
            </a:r>
            <a:endParaRPr b="1" i="1"/>
          </a:p>
          <a:p>
            <a:pPr indent="-274320" lvl="0" marL="274320" rtl="0" algn="l">
              <a:spcBef>
                <a:spcPts val="580"/>
              </a:spcBef>
              <a:spcAft>
                <a:spcPts val="0"/>
              </a:spcAft>
              <a:buSzPct val="85000"/>
              <a:buNone/>
            </a:pPr>
            <a:r>
              <a:rPr b="1" i="1" lang="en-US" sz="3200"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endParaRPr b="1" i="1"/>
          </a:p>
          <a:p>
            <a:pPr indent="-274320" lvl="0" marL="274320" rtl="0" algn="l">
              <a:spcBef>
                <a:spcPts val="580"/>
              </a:spcBef>
              <a:spcAft>
                <a:spcPts val="0"/>
              </a:spcAft>
              <a:buSzPct val="85000"/>
              <a:buNone/>
            </a:pPr>
            <a:r>
              <a:rPr b="1" i="1" lang="en-US" sz="3200"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endParaRPr b="1" i="1"/>
          </a:p>
          <a:p>
            <a:pPr indent="-274320" lvl="0" marL="274320" rtl="0" algn="l">
              <a:spcBef>
                <a:spcPts val="580"/>
              </a:spcBef>
              <a:spcAft>
                <a:spcPts val="0"/>
              </a:spcAft>
              <a:buSzPct val="85000"/>
              <a:buNone/>
            </a:pPr>
            <a:r>
              <a:rPr b="1" i="1" lang="en-US" sz="3200">
                <a:latin typeface="Times New Roman"/>
                <a:ea typeface="Times New Roman"/>
                <a:cs typeface="Times New Roman"/>
                <a:sym typeface="Times New Roman"/>
              </a:rPr>
              <a:t>Output:local=10</a:t>
            </a:r>
            <a:endParaRPr b="1" i="1"/>
          </a:p>
          <a:p>
            <a:pPr indent="-274320" lvl="0" marL="274320" rtl="0" algn="l">
              <a:spcBef>
                <a:spcPts val="580"/>
              </a:spcBef>
              <a:spcAft>
                <a:spcPts val="0"/>
              </a:spcAft>
              <a:buSzPct val="85000"/>
              <a:buNone/>
            </a:pPr>
            <a:r>
              <a:rPr b="1" i="1" lang="en-US" sz="3200">
                <a:latin typeface="Times New Roman"/>
                <a:ea typeface="Times New Roman"/>
                <a:cs typeface="Times New Roman"/>
                <a:sym typeface="Times New Roman"/>
              </a:rPr>
              <a:t>Global=20</a:t>
            </a:r>
            <a:endParaRPr b="1" i="1"/>
          </a:p>
          <a:p>
            <a:pPr indent="-274320" lvl="0" marL="274320" rtl="0" algn="l">
              <a:spcBef>
                <a:spcPts val="580"/>
              </a:spcBef>
              <a:spcAft>
                <a:spcPts val="0"/>
              </a:spcAft>
              <a:buSzPct val="85000"/>
              <a:buNone/>
            </a:pPr>
            <a:r>
              <a:rPr b="1" i="1" lang="en-US" sz="3200">
                <a:latin typeface="Times New Roman"/>
                <a:ea typeface="Times New Roman"/>
                <a:cs typeface="Times New Roman"/>
                <a:sym typeface="Times New Roman"/>
              </a:rPr>
              <a:t>Global+local=30</a:t>
            </a:r>
            <a:endParaRPr b="1" i="1"/>
          </a:p>
          <a:p>
            <a:pPr indent="-274320" lvl="0" marL="274320" rtl="0" algn="l">
              <a:spcBef>
                <a:spcPts val="580"/>
              </a:spcBef>
              <a:spcAft>
                <a:spcPts val="0"/>
              </a:spcAft>
              <a:buSzPct val="85000"/>
              <a:buNone/>
            </a:pPr>
            <a:r>
              <a:t/>
            </a:r>
            <a:endParaRPr b="1" i="1" sz="2400">
              <a:solidFill>
                <a:srgbClr val="558ED5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5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5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5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5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5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5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5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55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55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55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55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55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55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">
                                            <p:txEl>
                                              <p:pRg end="13" st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55">
                                            <p:txEl>
                                              <p:pRg end="13" st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">
                                            <p:txEl>
                                              <p:pRg end="14" st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55">
                                            <p:txEl>
                                              <p:pRg end="14" st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">
                                            <p:txEl>
                                              <p:pRg end="15" st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55">
                                            <p:txEl>
                                              <p:pRg end="15" st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">
                                            <p:txEl>
                                              <p:pRg end="16" st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55">
                                            <p:txEl>
                                              <p:pRg end="16" st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">
                                            <p:txEl>
                                              <p:pRg end="17" st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55">
                                            <p:txEl>
                                              <p:pRg end="17" st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">
                                            <p:txEl>
                                              <p:pRg end="18" st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55">
                                            <p:txEl>
                                              <p:pRg end="18" st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">
                                            <p:txEl>
                                              <p:pRg end="19" st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55">
                                            <p:txEl>
                                              <p:pRg end="19" st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32fc423d0b5_0_215"/>
          <p:cNvSpPr txBox="1"/>
          <p:nvPr>
            <p:ph type="title"/>
          </p:nvPr>
        </p:nvSpPr>
        <p:spPr>
          <a:xfrm>
            <a:off x="457200" y="274645"/>
            <a:ext cx="8229600" cy="694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Libre Franklin"/>
              <a:buNone/>
            </a:pP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This pointer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1" name="Google Shape;361;g32fc423d0b5_0_215"/>
          <p:cNvSpPr txBox="1"/>
          <p:nvPr/>
        </p:nvSpPr>
        <p:spPr>
          <a:xfrm>
            <a:off x="360175" y="1410700"/>
            <a:ext cx="7932000" cy="52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84480" lvl="0" marL="27432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 </a:t>
            </a:r>
            <a:r>
              <a:rPr b="1"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</a:t>
            </a:r>
            <a:r>
              <a:rPr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pointer is an implicit parameter to all member functions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44780" lvl="0" marL="274320" rtl="0" algn="just">
              <a:spcBef>
                <a:spcPts val="580"/>
              </a:spcBef>
              <a:spcAft>
                <a:spcPts val="0"/>
              </a:spcAft>
              <a:buClr>
                <a:schemeClr val="dk1"/>
              </a:buClr>
              <a:buSzPts val="2040"/>
              <a:buFont typeface="Arial"/>
              <a:buNone/>
            </a:pPr>
            <a:r>
              <a:t/>
            </a:r>
            <a:endParaRPr b="1"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4480" lvl="0" marL="274320" rtl="0" algn="just">
              <a:spcBef>
                <a:spcPts val="58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Every object in C++ has access to its own address through an important pointer called </a:t>
            </a:r>
            <a:r>
              <a:rPr b="1"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</a:t>
            </a:r>
            <a:r>
              <a:rPr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pointer.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44780" lvl="0" marL="274320" rtl="0" algn="just">
              <a:spcBef>
                <a:spcPts val="580"/>
              </a:spcBef>
              <a:spcAft>
                <a:spcPts val="0"/>
              </a:spcAft>
              <a:buClr>
                <a:schemeClr val="dk1"/>
              </a:buClr>
              <a:buSzPts val="2040"/>
              <a:buFont typeface="Arial"/>
              <a:buNone/>
            </a:pPr>
            <a:r>
              <a:t/>
            </a:r>
            <a:endParaRPr b="1"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4480" lvl="0" marL="274320" rtl="0" algn="just">
              <a:spcBef>
                <a:spcPts val="58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</a:t>
            </a:r>
            <a:r>
              <a:rPr b="1"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</a:t>
            </a:r>
            <a:r>
              <a:rPr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pointer points to the object that invoked the function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44780" lvl="0" marL="274320" rtl="0" algn="just">
              <a:spcBef>
                <a:spcPts val="580"/>
              </a:spcBef>
              <a:spcAft>
                <a:spcPts val="0"/>
              </a:spcAft>
              <a:buClr>
                <a:schemeClr val="dk1"/>
              </a:buClr>
              <a:buSzPts val="2040"/>
              <a:buFont typeface="Arial"/>
              <a:buNone/>
            </a:pPr>
            <a:r>
              <a:t/>
            </a:r>
            <a:endParaRPr b="1"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4480" lvl="0" marL="274320" rtl="0" algn="just">
              <a:spcBef>
                <a:spcPts val="58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When a member function is called </a:t>
            </a:r>
            <a:r>
              <a:rPr b="1"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with</a:t>
            </a:r>
            <a:r>
              <a:rPr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 </a:t>
            </a:r>
            <a:r>
              <a:rPr b="1"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</a:t>
            </a:r>
            <a:r>
              <a:rPr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 it is </a:t>
            </a:r>
            <a:r>
              <a:rPr b="1"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automatically passed </a:t>
            </a:r>
            <a:r>
              <a:rPr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 implicit argument that is a </a:t>
            </a:r>
            <a:r>
              <a:rPr b="1"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pointer</a:t>
            </a:r>
            <a:r>
              <a:rPr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to the invoking object (that is, the object on which the function is called).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44780" lvl="0" marL="274320" rtl="0" algn="just">
              <a:spcBef>
                <a:spcPts val="580"/>
              </a:spcBef>
              <a:spcAft>
                <a:spcPts val="0"/>
              </a:spcAft>
              <a:buClr>
                <a:schemeClr val="dk1"/>
              </a:buClr>
              <a:buSzPts val="2040"/>
              <a:buFont typeface="Arial"/>
              <a:buNone/>
            </a:pPr>
            <a:r>
              <a:t/>
            </a:r>
            <a:endParaRPr b="1"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32fc423d0b5_0_221"/>
          <p:cNvSpPr txBox="1"/>
          <p:nvPr>
            <p:ph type="title"/>
          </p:nvPr>
        </p:nvSpPr>
        <p:spPr>
          <a:xfrm>
            <a:off x="457200" y="274646"/>
            <a:ext cx="8229600" cy="738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Libre Franklin"/>
              <a:buNone/>
            </a:pP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This pointer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7" name="Google Shape;367;g32fc423d0b5_0_221"/>
          <p:cNvSpPr txBox="1"/>
          <p:nvPr>
            <p:ph idx="1" type="body"/>
          </p:nvPr>
        </p:nvSpPr>
        <p:spPr>
          <a:xfrm>
            <a:off x="228600" y="1178350"/>
            <a:ext cx="86868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1780" lvl="0" marL="274320" rtl="0" algn="just"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•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‘this’ pointer is also used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47650" lvl="1" marL="548640" rtl="0" algn="just">
              <a:spcBef>
                <a:spcPts val="370"/>
              </a:spcBef>
              <a:spcAft>
                <a:spcPts val="0"/>
              </a:spcAft>
              <a:buSzPts val="2000"/>
              <a:buFont typeface="Times New Roman"/>
              <a:buChar char="–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When local variable’s name is same as member’s name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47650" lvl="1" marL="548640" rtl="0" algn="just">
              <a:spcBef>
                <a:spcPts val="370"/>
              </a:spcBef>
              <a:spcAft>
                <a:spcPts val="0"/>
              </a:spcAft>
              <a:buSzPts val="2000"/>
              <a:buFont typeface="Times New Roman"/>
              <a:buChar char="–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To return reference to the calling object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1780" lvl="0" marL="274320" rtl="0" algn="just">
              <a:spcBef>
                <a:spcPts val="580"/>
              </a:spcBef>
              <a:spcAft>
                <a:spcPts val="0"/>
              </a:spcAft>
              <a:buSzPts val="2000"/>
              <a:buFont typeface="Times New Roman"/>
              <a:buChar char="•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It also prevents an object from being assigned to itself. 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580"/>
              </a:spcBef>
              <a:spcAft>
                <a:spcPts val="0"/>
              </a:spcAft>
              <a:buNone/>
            </a:pPr>
            <a:r>
              <a:rPr b="1" i="1" lang="en-US" sz="1900">
                <a:latin typeface="Times New Roman"/>
                <a:ea typeface="Times New Roman"/>
                <a:cs typeface="Times New Roman"/>
                <a:sym typeface="Times New Roman"/>
              </a:rPr>
              <a:t>#include&lt;iostream.h&gt;</a:t>
            </a:r>
            <a:endParaRPr b="1" i="1"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580"/>
              </a:spcBef>
              <a:spcAft>
                <a:spcPts val="0"/>
              </a:spcAft>
              <a:buNone/>
            </a:pPr>
            <a:r>
              <a:rPr b="1" i="1" lang="en-US" sz="1900">
                <a:latin typeface="Times New Roman"/>
                <a:ea typeface="Times New Roman"/>
                <a:cs typeface="Times New Roman"/>
                <a:sym typeface="Times New Roman"/>
              </a:rPr>
              <a:t>class something</a:t>
            </a:r>
            <a:endParaRPr b="1" i="1"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580"/>
              </a:spcBef>
              <a:spcAft>
                <a:spcPts val="0"/>
              </a:spcAft>
              <a:buNone/>
            </a:pPr>
            <a:r>
              <a:rPr b="1" i="1" lang="en-US" sz="1900"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endParaRPr b="1" i="1"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580"/>
              </a:spcBef>
              <a:spcAft>
                <a:spcPts val="0"/>
              </a:spcAft>
              <a:buNone/>
            </a:pPr>
            <a:r>
              <a:rPr b="1" i="1" lang="en-US" sz="1900">
                <a:latin typeface="Times New Roman"/>
                <a:ea typeface="Times New Roman"/>
                <a:cs typeface="Times New Roman"/>
                <a:sym typeface="Times New Roman"/>
              </a:rPr>
              <a:t>	private:</a:t>
            </a:r>
            <a:endParaRPr b="1" i="1"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580"/>
              </a:spcBef>
              <a:spcAft>
                <a:spcPts val="0"/>
              </a:spcAft>
              <a:buNone/>
            </a:pPr>
            <a:r>
              <a:rPr b="1" i="1" lang="en-US" sz="1900">
                <a:latin typeface="Times New Roman"/>
                <a:ea typeface="Times New Roman"/>
                <a:cs typeface="Times New Roman"/>
                <a:sym typeface="Times New Roman"/>
              </a:rPr>
              <a:t>			int data;</a:t>
            </a:r>
            <a:endParaRPr b="1" i="1"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580"/>
              </a:spcBef>
              <a:spcAft>
                <a:spcPts val="0"/>
              </a:spcAft>
              <a:buNone/>
            </a:pPr>
            <a:r>
              <a:rPr b="1" i="1" lang="en-US" sz="1900">
                <a:latin typeface="Times New Roman"/>
                <a:ea typeface="Times New Roman"/>
                <a:cs typeface="Times New Roman"/>
                <a:sym typeface="Times New Roman"/>
              </a:rPr>
              <a:t>	public:</a:t>
            </a:r>
            <a:endParaRPr b="1" i="1"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580"/>
              </a:spcBef>
              <a:spcAft>
                <a:spcPts val="0"/>
              </a:spcAft>
              <a:buNone/>
            </a:pPr>
            <a:r>
              <a:rPr b="1" i="1" lang="en-US" sz="1900">
                <a:latin typeface="Times New Roman"/>
                <a:ea typeface="Times New Roman"/>
                <a:cs typeface="Times New Roman"/>
                <a:sym typeface="Times New Roman"/>
              </a:rPr>
              <a:t>			something(int data)</a:t>
            </a:r>
            <a:endParaRPr b="1" i="1"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580"/>
              </a:spcBef>
              <a:spcAft>
                <a:spcPts val="0"/>
              </a:spcAft>
              <a:buNone/>
            </a:pPr>
            <a:r>
              <a:rPr b="1" i="1" lang="en-US" sz="1900">
                <a:latin typeface="Times New Roman"/>
                <a:ea typeface="Times New Roman"/>
                <a:cs typeface="Times New Roman"/>
                <a:sym typeface="Times New Roman"/>
              </a:rPr>
              <a:t>			{</a:t>
            </a:r>
            <a:endParaRPr b="1" i="1"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580"/>
              </a:spcBef>
              <a:spcAft>
                <a:spcPts val="0"/>
              </a:spcAft>
              <a:buNone/>
            </a:pPr>
            <a:r>
              <a:rPr b="1" i="1" lang="en-US" sz="1900">
                <a:latin typeface="Times New Roman"/>
                <a:ea typeface="Times New Roman"/>
                <a:cs typeface="Times New Roman"/>
                <a:sym typeface="Times New Roman"/>
              </a:rPr>
              <a:t>				tis-&gt;data=data;</a:t>
            </a:r>
            <a:endParaRPr b="1" i="1"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580"/>
              </a:spcBef>
              <a:spcAft>
                <a:spcPts val="0"/>
              </a:spcAft>
              <a:buNone/>
            </a:pPr>
            <a:r>
              <a:rPr b="1" i="1" lang="en-US" sz="1900">
                <a:latin typeface="Times New Roman"/>
                <a:ea typeface="Times New Roman"/>
                <a:cs typeface="Times New Roman"/>
                <a:sym typeface="Times New Roman"/>
              </a:rPr>
              <a:t>			}</a:t>
            </a:r>
            <a:endParaRPr b="1" i="1"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580"/>
              </a:spcBef>
              <a:spcAft>
                <a:spcPts val="0"/>
              </a:spcAft>
              <a:buNone/>
            </a:pPr>
            <a:r>
              <a:rPr b="1" i="1" lang="en-US" sz="1900">
                <a:latin typeface="Times New Roman"/>
                <a:ea typeface="Times New Roman"/>
                <a:cs typeface="Times New Roman"/>
                <a:sym typeface="Times New Roman"/>
              </a:rPr>
              <a:t>};</a:t>
            </a:r>
            <a:endParaRPr b="1" sz="19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g32fc423d0b5_0_227"/>
          <p:cNvSpPr txBox="1"/>
          <p:nvPr>
            <p:ph type="title"/>
          </p:nvPr>
        </p:nvSpPr>
        <p:spPr>
          <a:xfrm>
            <a:off x="457200" y="274646"/>
            <a:ext cx="82296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Libre Franklin"/>
              <a:buNone/>
            </a:pP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Dynamic Objects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3" name="Google Shape;373;g32fc423d0b5_0_227"/>
          <p:cNvSpPr txBox="1"/>
          <p:nvPr>
            <p:ph idx="1" type="body"/>
          </p:nvPr>
        </p:nvSpPr>
        <p:spPr>
          <a:xfrm>
            <a:off x="228600" y="1371600"/>
            <a:ext cx="86868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4480" lvl="0" marL="274320" rtl="0" algn="just">
              <a:spcBef>
                <a:spcPts val="0"/>
              </a:spcBef>
              <a:spcAft>
                <a:spcPts val="0"/>
              </a:spcAft>
              <a:buSzPts val="2200"/>
              <a:buChar char="•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Dynamic objects are objects that are </a:t>
            </a:r>
            <a:r>
              <a:rPr b="1" lang="en-US" sz="2200">
                <a:latin typeface="Times New Roman"/>
                <a:ea typeface="Times New Roman"/>
                <a:cs typeface="Times New Roman"/>
                <a:sym typeface="Times New Roman"/>
              </a:rPr>
              <a:t>created</a:t>
            </a: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 / </a:t>
            </a:r>
            <a:r>
              <a:rPr b="1" lang="en-US" sz="2200">
                <a:latin typeface="Times New Roman"/>
                <a:ea typeface="Times New Roman"/>
                <a:cs typeface="Times New Roman"/>
                <a:sym typeface="Times New Roman"/>
              </a:rPr>
              <a:t>Instantiated</a:t>
            </a: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 at the </a:t>
            </a:r>
            <a:r>
              <a:rPr b="1" lang="en-US" sz="2200">
                <a:latin typeface="Times New Roman"/>
                <a:ea typeface="Times New Roman"/>
                <a:cs typeface="Times New Roman"/>
                <a:sym typeface="Times New Roman"/>
              </a:rPr>
              <a:t>run time </a:t>
            </a: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by the class”.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44780" lvl="0" marL="274320" rtl="0" algn="just">
              <a:spcBef>
                <a:spcPts val="580"/>
              </a:spcBef>
              <a:spcAft>
                <a:spcPts val="0"/>
              </a:spcAft>
              <a:buSzPts val="2040"/>
              <a:buNone/>
            </a:pPr>
            <a:r>
              <a:t/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4480" lvl="0" marL="274320" rtl="0" algn="just">
              <a:spcBef>
                <a:spcPts val="580"/>
              </a:spcBef>
              <a:spcAft>
                <a:spcPts val="0"/>
              </a:spcAft>
              <a:buSzPts val="2200"/>
              <a:buChar char="•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They are </a:t>
            </a:r>
            <a:r>
              <a:rPr b="1" lang="en-US" sz="2200">
                <a:latin typeface="Times New Roman"/>
                <a:ea typeface="Times New Roman"/>
                <a:cs typeface="Times New Roman"/>
                <a:sym typeface="Times New Roman"/>
              </a:rPr>
              <a:t>Live Objects</a:t>
            </a: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, initialized with necessary data at run time.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44780" lvl="0" marL="274320" rtl="0" algn="just">
              <a:spcBef>
                <a:spcPts val="580"/>
              </a:spcBef>
              <a:spcAft>
                <a:spcPts val="0"/>
              </a:spcAft>
              <a:buSzPts val="2040"/>
              <a:buNone/>
            </a:pPr>
            <a:r>
              <a:t/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4480" lvl="0" marL="274320" rtl="0" algn="just">
              <a:spcBef>
                <a:spcPts val="580"/>
              </a:spcBef>
              <a:spcAft>
                <a:spcPts val="0"/>
              </a:spcAft>
              <a:buSzPts val="2200"/>
              <a:buFont typeface="Times New Roman"/>
              <a:buChar char="•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Its life time is explicitly managed by the program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44780" lvl="0" marL="274320" rtl="0" algn="just">
              <a:spcBef>
                <a:spcPts val="580"/>
              </a:spcBef>
              <a:spcAft>
                <a:spcPts val="0"/>
              </a:spcAft>
              <a:buSzPts val="2040"/>
              <a:buNone/>
            </a:pPr>
            <a:r>
              <a:t/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4480" lvl="0" marL="274320" rtl="0" algn="just">
              <a:spcBef>
                <a:spcPts val="580"/>
              </a:spcBef>
              <a:spcAft>
                <a:spcPts val="0"/>
              </a:spcAft>
              <a:buSzPts val="2200"/>
              <a:buChar char="•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It can be done by </a:t>
            </a:r>
            <a:r>
              <a:rPr b="1" lang="en-US" sz="2200">
                <a:latin typeface="Times New Roman"/>
                <a:ea typeface="Times New Roman"/>
                <a:cs typeface="Times New Roman"/>
                <a:sym typeface="Times New Roman"/>
              </a:rPr>
              <a:t>new</a:t>
            </a: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 &amp; </a:t>
            </a:r>
            <a:r>
              <a:rPr b="1" lang="en-US" sz="2200">
                <a:latin typeface="Times New Roman"/>
                <a:ea typeface="Times New Roman"/>
                <a:cs typeface="Times New Roman"/>
                <a:sym typeface="Times New Roman"/>
              </a:rPr>
              <a:t>delete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20650" lvl="1" marL="548640" rtl="0" algn="just">
              <a:spcBef>
                <a:spcPts val="37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20650" lvl="1" marL="548640" rtl="0" algn="just">
              <a:spcBef>
                <a:spcPts val="37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44780" lvl="0" marL="274320" rtl="0" algn="just">
              <a:spcBef>
                <a:spcPts val="580"/>
              </a:spcBef>
              <a:spcAft>
                <a:spcPts val="0"/>
              </a:spcAft>
              <a:buSzPts val="2040"/>
              <a:buNone/>
            </a:pPr>
            <a:r>
              <a:t/>
            </a:r>
            <a:endParaRPr b="1" sz="2200">
              <a:solidFill>
                <a:srgbClr val="FFFF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7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7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7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7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7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7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7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73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73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73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7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7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7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500"/>
                            </p:stCondLst>
                            <p:childTnLst>
                              <p:par>
                                <p:cTn fill="hold" nodeType="after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7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000"/>
                            </p:stCondLst>
                            <p:childTnLst>
                              <p:par>
                                <p:cTn fill="hold" nodeType="after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7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500"/>
                            </p:stCondLst>
                            <p:childTnLst>
                              <p:par>
                                <p:cTn fill="hold" nodeType="after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7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000"/>
                            </p:stCondLst>
                            <p:childTnLst>
                              <p:par>
                                <p:cTn fill="hold" nodeType="after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7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500"/>
                            </p:stCondLst>
                            <p:childTnLst>
                              <p:par>
                                <p:cTn fill="hold" nodeType="after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73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0"/>
                            </p:stCondLst>
                            <p:childTnLst>
                              <p:par>
                                <p:cTn fill="hold" nodeType="after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73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500"/>
                            </p:stCondLst>
                            <p:childTnLst>
                              <p:par>
                                <p:cTn fill="hold" nodeType="after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73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g32fc423d0b5_0_232"/>
          <p:cNvSpPr txBox="1"/>
          <p:nvPr>
            <p:ph type="title"/>
          </p:nvPr>
        </p:nvSpPr>
        <p:spPr>
          <a:xfrm>
            <a:off x="457200" y="274647"/>
            <a:ext cx="8229600" cy="818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Libre Franklin"/>
              <a:buNone/>
            </a:pP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New Operator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9" name="Google Shape;379;g32fc423d0b5_0_232"/>
          <p:cNvSpPr txBox="1"/>
          <p:nvPr>
            <p:ph idx="1" type="body"/>
          </p:nvPr>
        </p:nvSpPr>
        <p:spPr>
          <a:xfrm>
            <a:off x="10886" y="1524000"/>
            <a:ext cx="86868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4480" lvl="0" marL="274320" rtl="0" algn="l">
              <a:spcBef>
                <a:spcPts val="0"/>
              </a:spcBef>
              <a:spcAft>
                <a:spcPts val="0"/>
              </a:spcAft>
              <a:buSzPts val="2200"/>
              <a:buChar char="•"/>
            </a:pPr>
            <a:r>
              <a:rPr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</a:t>
            </a:r>
            <a:r>
              <a:rPr b="1"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new</a:t>
            </a:r>
            <a:r>
              <a:rPr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operator is used to create dynamic objects.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44780" lvl="0" marL="274320" rtl="0" algn="l">
              <a:spcBef>
                <a:spcPts val="580"/>
              </a:spcBef>
              <a:spcAft>
                <a:spcPts val="0"/>
              </a:spcAft>
              <a:buSzPts val="2040"/>
              <a:buNone/>
            </a:pPr>
            <a:r>
              <a:t/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4480" lvl="0" marL="274320" rtl="0" algn="l">
              <a:spcBef>
                <a:spcPts val="580"/>
              </a:spcBef>
              <a:spcAft>
                <a:spcPts val="0"/>
              </a:spcAft>
              <a:buSzPts val="2200"/>
              <a:buFont typeface="Times New Roman"/>
              <a:buChar char="•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We can allocate memory at run time within the heap using new operator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44780" lvl="0" marL="274320" rtl="0" algn="l">
              <a:spcBef>
                <a:spcPts val="580"/>
              </a:spcBef>
              <a:spcAft>
                <a:spcPts val="0"/>
              </a:spcAft>
              <a:buSzPts val="2040"/>
              <a:buNone/>
            </a:pPr>
            <a:r>
              <a:t/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4480" lvl="0" marL="274320" rtl="0" algn="l">
              <a:spcBef>
                <a:spcPts val="580"/>
              </a:spcBef>
              <a:spcAft>
                <a:spcPts val="0"/>
              </a:spcAft>
              <a:buSzPts val="2200"/>
              <a:buFont typeface="Times New Roman"/>
              <a:buChar char="•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It returns the address of the space allocated.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44780" lvl="0" marL="274320" rtl="0" algn="l">
              <a:spcBef>
                <a:spcPts val="580"/>
              </a:spcBef>
              <a:spcAft>
                <a:spcPts val="0"/>
              </a:spcAft>
              <a:buSzPts val="2040"/>
              <a:buNone/>
            </a:pPr>
            <a:r>
              <a:t/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4320" lvl="0" marL="274320" rtl="0" algn="l">
              <a:spcBef>
                <a:spcPts val="580"/>
              </a:spcBef>
              <a:spcAft>
                <a:spcPts val="0"/>
              </a:spcAft>
              <a:buSzPts val="1530"/>
              <a:buNone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Syntax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4480" lvl="0" marL="274320" rtl="0" algn="l">
              <a:spcBef>
                <a:spcPts val="580"/>
              </a:spcBef>
              <a:spcAft>
                <a:spcPts val="0"/>
              </a:spcAft>
              <a:buSzPts val="2200"/>
              <a:buFont typeface="Times New Roman"/>
              <a:buChar char="•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new data-type;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60350" lvl="1" marL="548640" rtl="0" algn="l">
              <a:spcBef>
                <a:spcPts val="370"/>
              </a:spcBef>
              <a:spcAft>
                <a:spcPts val="0"/>
              </a:spcAft>
              <a:buSzPts val="2200"/>
              <a:buChar char="–"/>
            </a:pPr>
            <a:r>
              <a:rPr b="1" lang="en-US" sz="2200">
                <a:latin typeface="Times New Roman"/>
                <a:ea typeface="Times New Roman"/>
                <a:cs typeface="Times New Roman"/>
                <a:sym typeface="Times New Roman"/>
              </a:rPr>
              <a:t>data-type</a:t>
            </a: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 could be any built-in data type including an array or any user defined data types include class or structure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44780" lvl="0" marL="274320" rtl="0" algn="l">
              <a:spcBef>
                <a:spcPts val="580"/>
              </a:spcBef>
              <a:spcAft>
                <a:spcPts val="0"/>
              </a:spcAft>
              <a:buSzPts val="2040"/>
              <a:buNone/>
            </a:pPr>
            <a:r>
              <a:t/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44780" lvl="0" marL="274320" rtl="0" algn="l">
              <a:spcBef>
                <a:spcPts val="580"/>
              </a:spcBef>
              <a:spcAft>
                <a:spcPts val="0"/>
              </a:spcAft>
              <a:buSzPts val="2040"/>
              <a:buNone/>
            </a:pPr>
            <a:r>
              <a:t/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20650" lvl="1" marL="548640" rtl="0" algn="l">
              <a:spcBef>
                <a:spcPts val="37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44780" lvl="0" marL="274320" rtl="0" algn="l">
              <a:spcBef>
                <a:spcPts val="580"/>
              </a:spcBef>
              <a:spcAft>
                <a:spcPts val="0"/>
              </a:spcAft>
              <a:buSzPts val="2040"/>
              <a:buNone/>
            </a:pPr>
            <a:r>
              <a:t/>
            </a:r>
            <a:endParaRPr b="1" sz="2200">
              <a:solidFill>
                <a:srgbClr val="FFFF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32fc423d0b5_0_237"/>
          <p:cNvSpPr txBox="1"/>
          <p:nvPr>
            <p:ph type="title"/>
          </p:nvPr>
        </p:nvSpPr>
        <p:spPr>
          <a:xfrm>
            <a:off x="457200" y="274646"/>
            <a:ext cx="8229600" cy="735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Times New Roman"/>
              <a:buNone/>
            </a:pP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Delete Operator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85" name="Google Shape;385;g32fc423d0b5_0_237"/>
          <p:cNvSpPr txBox="1"/>
          <p:nvPr>
            <p:ph idx="1" type="body"/>
          </p:nvPr>
        </p:nvSpPr>
        <p:spPr>
          <a:xfrm>
            <a:off x="228600" y="1371600"/>
            <a:ext cx="86868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4480" lvl="0" marL="274320" rtl="0" algn="l">
              <a:spcBef>
                <a:spcPts val="0"/>
              </a:spcBef>
              <a:spcAft>
                <a:spcPts val="0"/>
              </a:spcAft>
              <a:buSzPts val="2200"/>
              <a:buChar char="•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The </a:t>
            </a:r>
            <a:r>
              <a:rPr b="1" lang="en-US" sz="2200">
                <a:latin typeface="Times New Roman"/>
                <a:ea typeface="Times New Roman"/>
                <a:cs typeface="Times New Roman"/>
                <a:sym typeface="Times New Roman"/>
              </a:rPr>
              <a:t>delete</a:t>
            </a: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 operator is used to release the memory allocated to the dynamic objects.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44780" lvl="0" marL="274320" rtl="0" algn="l">
              <a:spcBef>
                <a:spcPts val="580"/>
              </a:spcBef>
              <a:spcAft>
                <a:spcPts val="0"/>
              </a:spcAft>
              <a:buSzPts val="2040"/>
              <a:buNone/>
            </a:pPr>
            <a:r>
              <a:t/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4480" lvl="0" marL="274320" rtl="0" algn="l">
              <a:spcBef>
                <a:spcPts val="580"/>
              </a:spcBef>
              <a:spcAft>
                <a:spcPts val="0"/>
              </a:spcAft>
              <a:buSzPts val="2200"/>
              <a:buFont typeface="Times New Roman"/>
              <a:buChar char="•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which de-allocates memory previously allocated by new operator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44780" lvl="0" marL="274320" rtl="0" algn="l">
              <a:spcBef>
                <a:spcPts val="580"/>
              </a:spcBef>
              <a:spcAft>
                <a:spcPts val="0"/>
              </a:spcAft>
              <a:buSzPts val="2040"/>
              <a:buNone/>
            </a:pPr>
            <a:r>
              <a:t/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4480" lvl="0" marL="274320" rtl="0" algn="l">
              <a:spcBef>
                <a:spcPts val="580"/>
              </a:spcBef>
              <a:spcAft>
                <a:spcPts val="0"/>
              </a:spcAft>
              <a:buSzPts val="2200"/>
              <a:buFont typeface="Times New Roman"/>
              <a:buChar char="•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delete operator does not </a:t>
            </a:r>
            <a:r>
              <a:rPr i="1" lang="en-US" sz="2200">
                <a:latin typeface="Times New Roman"/>
                <a:ea typeface="Times New Roman"/>
                <a:cs typeface="Times New Roman"/>
                <a:sym typeface="Times New Roman"/>
              </a:rPr>
              <a:t>actually</a:t>
            </a: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 delete anything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60350" lvl="1" marL="548640" rtl="0" algn="l">
              <a:spcBef>
                <a:spcPts val="370"/>
              </a:spcBef>
              <a:spcAft>
                <a:spcPts val="0"/>
              </a:spcAft>
              <a:buSzPts val="2200"/>
              <a:buFont typeface="Times New Roman"/>
              <a:buChar char="–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It simply returns the memory being pointed to back to the operating system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20650" lvl="1" marL="548640" rtl="0" algn="l">
              <a:spcBef>
                <a:spcPts val="37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7660" lvl="0" marL="274320" rtl="0" algn="l">
              <a:spcBef>
                <a:spcPts val="580"/>
              </a:spcBef>
              <a:spcAft>
                <a:spcPts val="0"/>
              </a:spcAft>
              <a:buSzPts val="2200"/>
              <a:buFont typeface="Times New Roman"/>
              <a:buChar char="•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Syntax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6070" lvl="0" marL="274320" rtl="0" algn="l">
              <a:spcBef>
                <a:spcPts val="580"/>
              </a:spcBef>
              <a:spcAft>
                <a:spcPts val="0"/>
              </a:spcAft>
              <a:buSzPts val="2200"/>
              <a:buFont typeface="Times New Roman"/>
              <a:buChar char="•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Delete pointer;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44780" lvl="0" marL="274320" rtl="0" algn="l">
              <a:spcBef>
                <a:spcPts val="580"/>
              </a:spcBef>
              <a:spcAft>
                <a:spcPts val="0"/>
              </a:spcAft>
              <a:buSzPts val="2040"/>
              <a:buNone/>
            </a:pPr>
            <a:r>
              <a:t/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4320" lvl="0" marL="274320" rtl="0" algn="l">
              <a:spcBef>
                <a:spcPts val="580"/>
              </a:spcBef>
              <a:spcAft>
                <a:spcPts val="0"/>
              </a:spcAft>
              <a:buSzPts val="2040"/>
              <a:buNone/>
            </a:pPr>
            <a:r>
              <a:t/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44780" lvl="0" marL="274320" rtl="0" algn="l">
              <a:spcBef>
                <a:spcPts val="580"/>
              </a:spcBef>
              <a:spcAft>
                <a:spcPts val="0"/>
              </a:spcAft>
              <a:buSzPts val="2040"/>
              <a:buNone/>
            </a:pPr>
            <a:r>
              <a:t/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44780" lvl="0" marL="274320" rtl="0" algn="l">
              <a:spcBef>
                <a:spcPts val="580"/>
              </a:spcBef>
              <a:spcAft>
                <a:spcPts val="0"/>
              </a:spcAft>
              <a:buSzPts val="2040"/>
              <a:buNone/>
            </a:pPr>
            <a:r>
              <a:t/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20650" lvl="1" marL="548640" rtl="0" algn="l">
              <a:spcBef>
                <a:spcPts val="37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44780" lvl="0" marL="274320" rtl="0" algn="l">
              <a:spcBef>
                <a:spcPts val="580"/>
              </a:spcBef>
              <a:spcAft>
                <a:spcPts val="0"/>
              </a:spcAft>
              <a:buSzPts val="2040"/>
              <a:buNone/>
            </a:pPr>
            <a:r>
              <a:t/>
            </a:r>
            <a:endParaRPr b="1" sz="2200">
              <a:solidFill>
                <a:srgbClr val="FFFF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8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8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8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8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8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8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8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85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85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85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85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85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85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">
                                            <p:txEl>
                                              <p:pRg end="13" st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85">
                                            <p:txEl>
                                              <p:pRg end="13" st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">
                                            <p:txEl>
                                              <p:pRg end="14" st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85">
                                            <p:txEl>
                                              <p:pRg end="14" st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heme1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2013-04-03T07:38:34Z</dcterms:created>
  <dc:creator>Admin</dc:creator>
</cp:coreProperties>
</file>