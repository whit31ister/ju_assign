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427" r:id="rId2"/>
    <p:sldId id="299" r:id="rId3"/>
    <p:sldId id="300" r:id="rId4"/>
    <p:sldId id="301" r:id="rId5"/>
    <p:sldId id="302" r:id="rId6"/>
    <p:sldId id="303" r:id="rId7"/>
    <p:sldId id="304" r:id="rId8"/>
    <p:sldId id="305" r:id="rId9"/>
    <p:sldId id="306" r:id="rId10"/>
    <p:sldId id="307" r:id="rId11"/>
    <p:sldId id="309" r:id="rId12"/>
    <p:sldId id="310" r:id="rId13"/>
    <p:sldId id="311" r:id="rId14"/>
    <p:sldId id="312" r:id="rId15"/>
    <p:sldId id="313" r:id="rId16"/>
    <p:sldId id="314" r:id="rId17"/>
    <p:sldId id="315" r:id="rId1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Untitled Section" id="{B117C868-A110-4BFF-A20D-30741F4096E8}">
          <p14:sldIdLst>
            <p14:sldId id="427"/>
            <p14:sldId id="299"/>
            <p14:sldId id="300"/>
            <p14:sldId id="301"/>
            <p14:sldId id="302"/>
            <p14:sldId id="303"/>
            <p14:sldId id="304"/>
            <p14:sldId id="305"/>
            <p14:sldId id="306"/>
            <p14:sldId id="307"/>
            <p14:sldId id="309"/>
            <p14:sldId id="310"/>
            <p14:sldId id="311"/>
            <p14:sldId id="312"/>
            <p14:sldId id="313"/>
            <p14:sldId id="314"/>
            <p14:sldId id="31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85" autoAdjust="0"/>
    <p:restoredTop sz="95374" autoAdjust="0"/>
  </p:normalViewPr>
  <p:slideViewPr>
    <p:cSldViewPr>
      <p:cViewPr varScale="1">
        <p:scale>
          <a:sx n="85" d="100"/>
          <a:sy n="85" d="100"/>
        </p:scale>
        <p:origin x="1152" y="62"/>
      </p:cViewPr>
      <p:guideLst>
        <p:guide orient="horz" pos="2160"/>
        <p:guide pos="2880"/>
      </p:guideLst>
    </p:cSldViewPr>
  </p:slideViewPr>
  <p:outlineViewPr>
    <p:cViewPr>
      <p:scale>
        <a:sx n="33" d="100"/>
        <a:sy n="33" d="100"/>
      </p:scale>
      <p:origin x="0" y="79026"/>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56" d="100"/>
          <a:sy n="56" d="100"/>
        </p:scale>
        <p:origin x="-257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6D730B81-CCF4-4854-854F-31AEB350B70F}" type="datetimeFigureOut">
              <a:rPr lang="en-US"/>
              <a:pPr>
                <a:defRPr/>
              </a:pPr>
              <a:t>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pPr>
              <a:defRPr/>
            </a:pPr>
            <a:fld id="{C21B9914-C22F-4F4B-A422-06F4E317A55B}" type="slidenum">
              <a:rPr lang="en-US" altLang="en-US"/>
              <a:pPr>
                <a:defRPr/>
              </a:pPr>
              <a:t>‹#›</a:t>
            </a:fld>
            <a:endParaRPr lang="en-US" altLang="en-US"/>
          </a:p>
        </p:txBody>
      </p:sp>
    </p:spTree>
    <p:extLst>
      <p:ext uri="{BB962C8B-B14F-4D97-AF65-F5344CB8AC3E}">
        <p14:creationId xmlns:p14="http://schemas.microsoft.com/office/powerpoint/2010/main" val="16685847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21B9914-C22F-4F4B-A422-06F4E317A55B}" type="slidenum">
              <a:rPr lang="en-US" altLang="en-US" smtClean="0"/>
              <a:pPr>
                <a:defRPr/>
              </a:pPr>
              <a:t>1</a:t>
            </a:fld>
            <a:endParaRPr lang="en-US" altLang="en-US"/>
          </a:p>
        </p:txBody>
      </p:sp>
    </p:spTree>
    <p:extLst>
      <p:ext uri="{BB962C8B-B14F-4D97-AF65-F5344CB8AC3E}">
        <p14:creationId xmlns:p14="http://schemas.microsoft.com/office/powerpoint/2010/main" val="296249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Rectangle 7"/>
          <p:cNvSpPr>
            <a:spLocks noGrp="1" noChangeArrowheads="1"/>
          </p:cNvSpPr>
          <p:nvPr>
            <p:ph type="sldNum" sz="quarter" idx="5"/>
          </p:nvPr>
        </p:nvSpPr>
        <p:spPr/>
        <p:txBody>
          <a:bodyPr/>
          <a:lstStyle/>
          <a:p>
            <a:fld id="{65E92367-0C79-4126-AB06-3FD267FBF7DE}" type="slidenum">
              <a:rPr lang="en-US"/>
              <a:t>9</a:t>
            </a:fld>
            <a:endParaRPr lang="en-US"/>
          </a:p>
        </p:txBody>
      </p:sp>
      <p:sp>
        <p:nvSpPr>
          <p:cNvPr id="1048613" name="Rectangle 2"/>
          <p:cNvSpPr>
            <a:spLocks noGrp="1" noRot="1" noChangeAspect="1" noChangeArrowheads="1" noTextEdit="1"/>
          </p:cNvSpPr>
          <p:nvPr>
            <p:ph type="sldImg"/>
          </p:nvPr>
        </p:nvSpPr>
        <p:spPr/>
      </p:sp>
      <p:sp>
        <p:nvSpPr>
          <p:cNvPr id="1048614"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Rectangle 7"/>
          <p:cNvSpPr>
            <a:spLocks noGrp="1" noChangeArrowheads="1"/>
          </p:cNvSpPr>
          <p:nvPr>
            <p:ph type="sldNum" sz="quarter" idx="5"/>
          </p:nvPr>
        </p:nvSpPr>
        <p:spPr/>
        <p:txBody>
          <a:bodyPr/>
          <a:lstStyle/>
          <a:p>
            <a:fld id="{CD446D5C-DC07-41D0-9DC7-CEDF20FE9B17}" type="slidenum">
              <a:rPr lang="en-US"/>
              <a:t>10</a:t>
            </a:fld>
            <a:endParaRPr lang="en-US"/>
          </a:p>
        </p:txBody>
      </p:sp>
      <p:sp>
        <p:nvSpPr>
          <p:cNvPr id="1048618" name="Rectangle 2"/>
          <p:cNvSpPr>
            <a:spLocks noGrp="1" noRot="1" noChangeAspect="1" noChangeArrowheads="1" noTextEdit="1"/>
          </p:cNvSpPr>
          <p:nvPr>
            <p:ph type="sldImg"/>
          </p:nvPr>
        </p:nvSpPr>
        <p:spPr/>
      </p:sp>
      <p:sp>
        <p:nvSpPr>
          <p:cNvPr id="1048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Rectangle 7"/>
          <p:cNvSpPr>
            <a:spLocks noGrp="1" noChangeArrowheads="1"/>
          </p:cNvSpPr>
          <p:nvPr>
            <p:ph type="sldNum" sz="quarter" idx="5"/>
          </p:nvPr>
        </p:nvSpPr>
        <p:spPr/>
        <p:txBody>
          <a:bodyPr/>
          <a:lstStyle/>
          <a:p>
            <a:fld id="{DD69D36B-4FA7-41D1-8E40-86C5ED4064D7}" type="slidenum">
              <a:rPr lang="en-US"/>
              <a:t>11</a:t>
            </a:fld>
            <a:endParaRPr lang="en-US"/>
          </a:p>
        </p:txBody>
      </p:sp>
      <p:sp>
        <p:nvSpPr>
          <p:cNvPr id="1048623" name="Rectangle 2"/>
          <p:cNvSpPr>
            <a:spLocks noGrp="1" noRot="1" noChangeAspect="1" noChangeArrowheads="1" noTextEdit="1"/>
          </p:cNvSpPr>
          <p:nvPr>
            <p:ph type="sldImg"/>
          </p:nvPr>
        </p:nvSpPr>
        <p:spPr/>
      </p:sp>
      <p:sp>
        <p:nvSpPr>
          <p:cNvPr id="1048624"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Rectangle 7"/>
          <p:cNvSpPr>
            <a:spLocks noGrp="1" noChangeArrowheads="1"/>
          </p:cNvSpPr>
          <p:nvPr>
            <p:ph type="sldNum" sz="quarter" idx="5"/>
          </p:nvPr>
        </p:nvSpPr>
        <p:spPr/>
        <p:txBody>
          <a:bodyPr/>
          <a:lstStyle/>
          <a:p>
            <a:fld id="{45E0D23A-797F-49C9-BE13-D32F917B2B19}" type="slidenum">
              <a:rPr lang="en-US"/>
              <a:t>16</a:t>
            </a:fld>
            <a:endParaRPr lang="en-US"/>
          </a:p>
        </p:txBody>
      </p:sp>
      <p:sp>
        <p:nvSpPr>
          <p:cNvPr id="1048637" name="Rectangle 2"/>
          <p:cNvSpPr>
            <a:spLocks noGrp="1" noRot="1" noChangeAspect="1" noChangeArrowheads="1" noTextEdit="1"/>
          </p:cNvSpPr>
          <p:nvPr>
            <p:ph type="sldImg"/>
          </p:nvPr>
        </p:nvSpPr>
        <p:spPr/>
      </p:sp>
      <p:sp>
        <p:nvSpPr>
          <p:cNvPr id="1048638"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26FDF3D0-4F3D-4370-9FB4-9F007D605733}" type="datetime1">
              <a:rPr lang="en-US"/>
              <a:pPr>
                <a:defRPr/>
              </a:pPr>
              <a:t>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36917F3-A0AB-482F-ABAB-E3E061703D3C}"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C935AF04-8834-4AFD-8BDA-A567B15A4C2A}" type="datetime1">
              <a:rPr lang="en-US"/>
              <a:pPr>
                <a:defRPr/>
              </a:pPr>
              <a:t>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49A9BE2-09D0-4C78-BCCA-0303771CFE73}"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AD27BF5-C31C-45C1-A811-4CBA89E81D1A}" type="datetime1">
              <a:rPr lang="en-US"/>
              <a:pPr>
                <a:defRPr/>
              </a:pPr>
              <a:t>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CE0C2D0-5562-4BEA-9C3B-F2CDC0C04EA5}"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2484E2FC-D752-49B4-A7D4-601987077196}" type="datetime1">
              <a:rPr lang="en-US"/>
              <a:pPr>
                <a:defRPr/>
              </a:pPr>
              <a:t>2/9/2025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615B300-4326-4085-BCC7-47F45BE5BC37}"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8B1E661C-29C8-4554-9F41-577D3578D433}" type="datetime1">
              <a:rPr lang="en-US"/>
              <a:pPr>
                <a:defRPr/>
              </a:pPr>
              <a:t>2/9/2025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A690EF90-B7A9-4BAE-8407-734010CE9AC9}"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8CDF309E-7C9C-4327-B556-9D5CA05E54C3}" type="datetime1">
              <a:rPr lang="en-US"/>
              <a:pPr>
                <a:defRPr/>
              </a:pPr>
              <a:t>2/9/2025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F6EA278-A375-4944-84BC-E69E9DF1AA29}"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BB45AD9-DC6C-46B1-879E-7C1DE11B2F8E}" type="datetime1">
              <a:rPr lang="en-US"/>
              <a:pPr>
                <a:defRPr/>
              </a:pPr>
              <a:t>2/9/2025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AD19E56-B2A8-44E6-9EB1-7F3B620C717E}"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980025E-AED6-4C18-A6F2-F33699740AAF}" type="datetime1">
              <a:rPr lang="en-US"/>
              <a:pPr>
                <a:defRPr/>
              </a:pPr>
              <a:t>2/9/2025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E57DAA0-B288-46DF-9985-A0A570F0BB0E}"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EF57624-2E07-404B-BA1E-5B048FDBE898}" type="datetime1">
              <a:rPr lang="en-US"/>
              <a:pPr>
                <a:defRPr/>
              </a:pPr>
              <a:t>2/9/2025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9035EFF-C70C-4A2B-89BC-C44D2F9F2B11}"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471B2C68-844F-452F-88B8-EE332765955B}" type="datetime1">
              <a:rPr lang="en-US"/>
              <a:pPr>
                <a:defRPr/>
              </a:pPr>
              <a:t>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96EC127-A435-4018-89EF-73B69E257091}"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BF59184C-0196-44E7-B817-6FC808AB4C78}" type="datetime1">
              <a:rPr lang="en-US"/>
              <a:pPr>
                <a:defRPr/>
              </a:pPr>
              <a:t>2/9/2025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1C07E2-B070-4280-9D71-488FAF5BEA3C}"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B0D39536-A66D-425C-BB5E-3E67C766DA75}" type="datetime1">
              <a:rPr lang="en-US"/>
              <a:pPr>
                <a:defRPr/>
              </a:pPr>
              <a:t>2/9/2025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2D297353-BB2B-4452-93B9-F598793B6CB0}"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69303BCC-FF32-42AA-9B7C-518EBD8574A7}" type="datetime1">
              <a:rPr lang="en-US"/>
              <a:pPr>
                <a:defRPr/>
              </a:pPr>
              <a:t>2/9/2025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61A3176A-3206-427F-97D9-00F2A926BC84}" type="slidenum">
              <a:rPr lang="en-US" altLang="en-US"/>
              <a:pPr>
                <a:defRPr/>
              </a:pPr>
              <a:t>‹#›</a:t>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E0FAF17-3FB2-4ADB-A1D9-54B114DA4B49}" type="datetime1">
              <a:rPr lang="en-US"/>
              <a:pPr>
                <a:defRPr/>
              </a:pPr>
              <a:t>2/9/2025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42D7BC-AA32-406E-B62D-8F4E22891742}"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mn-cs"/>
              </a:defRPr>
            </a:lvl1pPr>
          </a:lstStyle>
          <a:p>
            <a:pPr>
              <a:defRPr/>
            </a:pPr>
            <a:fld id="{DC549545-92E0-4FD5-B191-3AD0CC755FEC}" type="datetime1">
              <a:rPr lang="en-US"/>
              <a:pPr>
                <a:defRPr/>
              </a:pPr>
              <a:t>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368D2B1E-A564-496C-BBA5-C9B2282F1917}" type="slidenum">
              <a:rPr lang="en-US" altLang="en-US"/>
              <a:pPr>
                <a:defRPr/>
              </a:pPr>
              <a:t>‹#›</a:t>
            </a:fld>
            <a:endParaRPr lang="en-US" altLang="en-US"/>
          </a:p>
        </p:txBody>
      </p:sp>
      <p:pic>
        <p:nvPicPr>
          <p:cNvPr id="1031" name="Picture 6" descr="JU_PPT-template_option1b.jpg"/>
          <p:cNvPicPr>
            <a:picLocks noChangeAspect="1"/>
          </p:cNvPicPr>
          <p:nvPr/>
        </p:nvPicPr>
        <p:blipFill>
          <a:blip r:embed="rId16" cstate="print"/>
          <a:srcRect/>
          <a:stretch>
            <a:fillRect/>
          </a:stretch>
        </p:blipFill>
        <p:spPr bwMode="auto">
          <a:xfrm>
            <a:off x="0" y="0"/>
            <a:ext cx="9144000" cy="6858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p:fade/>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389188" y="620688"/>
            <a:ext cx="6526212" cy="5932512"/>
          </a:xfrm>
        </p:spPr>
        <p:txBody>
          <a:bodyPr>
            <a:normAutofit/>
          </a:bodyPr>
          <a:lstStyle/>
          <a:p>
            <a:r>
              <a:rPr lang="en-US" sz="4400" dirty="0">
                <a:solidFill>
                  <a:schemeClr val="tx1"/>
                </a:solidFill>
                <a:latin typeface="Times New Roman" pitchFamily="18" charset="0"/>
                <a:cs typeface="Times New Roman" pitchFamily="18" charset="0"/>
              </a:rPr>
              <a:t>Computer Programming in C++</a:t>
            </a:r>
            <a:br>
              <a:rPr lang="en-US" sz="4400" dirty="0">
                <a:solidFill>
                  <a:schemeClr val="tx1"/>
                </a:solidFill>
                <a:latin typeface="Times New Roman" pitchFamily="18" charset="0"/>
                <a:cs typeface="Times New Roman" pitchFamily="18" charset="0"/>
              </a:rPr>
            </a:br>
            <a:br>
              <a:rPr lang="en-US" sz="4400" dirty="0">
                <a:solidFill>
                  <a:schemeClr val="tx1"/>
                </a:solidFill>
                <a:latin typeface="Times New Roman" pitchFamily="18" charset="0"/>
                <a:cs typeface="Times New Roman" pitchFamily="18" charset="0"/>
              </a:rPr>
            </a:br>
            <a:r>
              <a:rPr lang="en-US" sz="4400" dirty="0">
                <a:solidFill>
                  <a:schemeClr val="tx1"/>
                </a:solidFill>
                <a:latin typeface="Times New Roman" pitchFamily="18" charset="0"/>
                <a:cs typeface="Times New Roman" pitchFamily="18" charset="0"/>
              </a:rPr>
              <a:t>Unit-I</a:t>
            </a:r>
            <a:br>
              <a:rPr lang="en-US" sz="4400" dirty="0">
                <a:solidFill>
                  <a:schemeClr val="tx1"/>
                </a:solidFill>
                <a:latin typeface="Times New Roman" pitchFamily="18" charset="0"/>
                <a:cs typeface="Times New Roman" pitchFamily="18" charset="0"/>
              </a:rPr>
            </a:br>
            <a:r>
              <a:rPr lang="en-US" sz="2400" dirty="0">
                <a:solidFill>
                  <a:schemeClr val="tx1"/>
                </a:solidFill>
                <a:latin typeface="Times New Roman" pitchFamily="18" charset="0"/>
                <a:cs typeface="Times New Roman" pitchFamily="18" charset="0"/>
              </a:rPr>
              <a:t>C++ Overview</a:t>
            </a:r>
            <a:br>
              <a:rPr lang="en-US" sz="2400" dirty="0">
                <a:solidFill>
                  <a:schemeClr val="tx1"/>
                </a:solidFill>
                <a:latin typeface="Times New Roman" pitchFamily="18" charset="0"/>
                <a:cs typeface="Times New Roman" pitchFamily="18" charset="0"/>
              </a:rPr>
            </a:br>
            <a:endParaRPr lang="en-US" dirty="0"/>
          </a:p>
        </p:txBody>
      </p:sp>
      <p:pic>
        <p:nvPicPr>
          <p:cNvPr id="6" name="Picture 5" descr="logoHome.png"/>
          <p:cNvPicPr>
            <a:picLocks noChangeAspect="1"/>
          </p:cNvPicPr>
          <p:nvPr/>
        </p:nvPicPr>
        <p:blipFill>
          <a:blip r:embed="rId3"/>
          <a:stretch>
            <a:fillRect/>
          </a:stretch>
        </p:blipFill>
        <p:spPr>
          <a:xfrm>
            <a:off x="-1" y="0"/>
            <a:ext cx="2209801" cy="6858000"/>
          </a:xfrm>
          <a:prstGeom prst="rect">
            <a:avLst/>
          </a:prstGeom>
        </p:spPr>
      </p:pic>
    </p:spTree>
    <p:extLst>
      <p:ext uri="{BB962C8B-B14F-4D97-AF65-F5344CB8AC3E}">
        <p14:creationId xmlns:p14="http://schemas.microsoft.com/office/powerpoint/2010/main" val="93588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
          <p:cNvSpPr>
            <a:spLocks noGrp="1"/>
          </p:cNvSpPr>
          <p:nvPr>
            <p:ph type="title"/>
          </p:nvPr>
        </p:nvSpPr>
        <p:spPr>
          <a:xfrm>
            <a:off x="107504" y="173328"/>
            <a:ext cx="8339949" cy="1133693"/>
          </a:xfrm>
        </p:spPr>
        <p:txBody>
          <a:bodyPr>
            <a:noAutofit/>
          </a:bodyPr>
          <a:lstStyle/>
          <a:p>
            <a:r>
              <a:rPr lang="en-US" sz="3200" b="1" u="sng" dirty="0">
                <a:solidFill>
                  <a:srgbClr val="FF0000"/>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INTRODUCTION TO PROCEDURE ORIENTED</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PROGRAMMING</a:t>
            </a:r>
          </a:p>
        </p:txBody>
      </p:sp>
      <p:sp>
        <p:nvSpPr>
          <p:cNvPr id="1048597" name="Content Placeholder 2"/>
          <p:cNvSpPr>
            <a:spLocks noGrp="1"/>
          </p:cNvSpPr>
          <p:nvPr>
            <p:ph idx="1"/>
          </p:nvPr>
        </p:nvSpPr>
        <p:spPr>
          <a:xfrm>
            <a:off x="408394" y="1412776"/>
            <a:ext cx="8052037" cy="3809082"/>
          </a:xfrm>
        </p:spPr>
        <p:txBody>
          <a:bodyPr>
            <a:normAutofit fontScale="93750"/>
          </a:bodyPr>
          <a:lstStyle/>
          <a:p>
            <a:pPr algn="just">
              <a:buFont typeface="Wingdings" panose="05000000000000000000" pitchFamily="2" charset="2"/>
              <a:buChar char="Ø"/>
            </a:pPr>
            <a:r>
              <a:rPr lang="en-US" sz="1900" dirty="0">
                <a:latin typeface="Times New Roman" panose="02020603050405020304" pitchFamily="18" charset="0"/>
              </a:rPr>
              <a:t>In the procedure oriented approach, the problem is viewed as the sequence of things to be done such as reading, calculating and printing such as Cobol, Fortran and c. </a:t>
            </a:r>
          </a:p>
          <a:p>
            <a:pPr algn="just">
              <a:buFont typeface="Wingdings" panose="05000000000000000000" pitchFamily="2" charset="2"/>
              <a:buChar char="Ø"/>
            </a:pPr>
            <a:endParaRPr lang="en-US" sz="1900" dirty="0">
              <a:latin typeface="Times New Roman" panose="02020603050405020304" pitchFamily="18" charset="0"/>
            </a:endParaRPr>
          </a:p>
          <a:p>
            <a:pPr algn="just">
              <a:buFont typeface="Wingdings" panose="05000000000000000000" pitchFamily="2" charset="2"/>
              <a:buChar char="Ø"/>
            </a:pPr>
            <a:endParaRPr lang="en-US" sz="1900" dirty="0">
              <a:latin typeface="Times New Roman" panose="02020603050405020304" pitchFamily="18" charset="0"/>
            </a:endParaRPr>
          </a:p>
          <a:p>
            <a:pPr algn="just">
              <a:buFont typeface="Wingdings" panose="05000000000000000000" pitchFamily="2" charset="2"/>
              <a:buChar char="Ø"/>
            </a:pPr>
            <a:endParaRPr lang="en-US" sz="1900" dirty="0">
              <a:latin typeface="Times New Roman" panose="02020603050405020304" pitchFamily="18" charset="0"/>
            </a:endParaRPr>
          </a:p>
          <a:p>
            <a:pPr algn="just">
              <a:buFont typeface="Wingdings" panose="05000000000000000000" pitchFamily="2" charset="2"/>
              <a:buChar char="Ø"/>
            </a:pPr>
            <a:r>
              <a:rPr lang="en-US" sz="1900" dirty="0">
                <a:latin typeface="Times New Roman" panose="02020603050405020304" pitchFamily="18" charset="0"/>
              </a:rPr>
              <a:t>The primary focus is on functions. The technique of hierarchical decomposition has been used to specify the tasks to be completed for solving a problem. </a:t>
            </a:r>
          </a:p>
          <a:p>
            <a:endParaRPr lang="en-US" dirty="0"/>
          </a:p>
        </p:txBody>
      </p:sp>
      <p:pic>
        <p:nvPicPr>
          <p:cNvPr id="2097153" name="Picture 3"/>
          <p:cNvPicPr>
            <a:picLocks noChangeAspect="1"/>
          </p:cNvPicPr>
          <p:nvPr/>
        </p:nvPicPr>
        <p:blipFill>
          <a:blip r:embed="rId2"/>
          <a:stretch>
            <a:fillRect/>
          </a:stretch>
        </p:blipFill>
        <p:spPr>
          <a:xfrm>
            <a:off x="2843808" y="5085183"/>
            <a:ext cx="4247003" cy="13761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a:xfrm>
            <a:off x="179512" y="0"/>
            <a:ext cx="8448947" cy="1379029"/>
          </a:xfrm>
        </p:spPr>
        <p:txBody>
          <a:bodyPr>
            <a:noAutofit/>
          </a:bodyPr>
          <a:lstStyle/>
          <a:p>
            <a:r>
              <a:rPr lang="en-US" sz="2800" b="1" dirty="0">
                <a:latin typeface="Times New Roman" panose="02020603050405020304" pitchFamily="18" charset="0"/>
                <a:cs typeface="Times New Roman" panose="02020603050405020304" pitchFamily="18" charset="0"/>
              </a:rPr>
              <a:t>CHARACTERISTICS OF PROCEDURE ORIENTED PROGRAMMING</a:t>
            </a:r>
          </a:p>
        </p:txBody>
      </p:sp>
      <p:sp>
        <p:nvSpPr>
          <p:cNvPr id="1048599" name="Content Placeholder 2"/>
          <p:cNvSpPr>
            <a:spLocks noGrp="1"/>
          </p:cNvSpPr>
          <p:nvPr>
            <p:ph idx="1"/>
          </p:nvPr>
        </p:nvSpPr>
        <p:spPr>
          <a:xfrm>
            <a:off x="611560" y="1873556"/>
            <a:ext cx="8019684" cy="3809082"/>
          </a:xfrm>
        </p:spPr>
        <p:txBody>
          <a:bodyPr>
            <a:normAutofit fontScale="99375"/>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Emphasis is on doing things (algorithms).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Large programs are divided into smaller programs known as functions.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Most of the functions share global data.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move openly around the system from function to function.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Functions transform data from one form to another.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Employs top-down approach in program design. </a:t>
            </a:r>
          </a:p>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179513" y="260648"/>
            <a:ext cx="6912768" cy="720080"/>
          </a:xfrm>
        </p:spPr>
        <p:txBody>
          <a:bodyPr>
            <a:noAutofit/>
          </a:bodyPr>
          <a:lstStyle/>
          <a:p>
            <a:r>
              <a:rPr lang="en-US" sz="2800" b="1" dirty="0">
                <a:latin typeface="Times New Roman" panose="02020603050405020304" pitchFamily="18" charset="0"/>
                <a:cs typeface="Times New Roman" panose="02020603050405020304" pitchFamily="18" charset="0"/>
              </a:rPr>
              <a:t>INTRODUCTION TO OBJECT</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ORIENTED PROGRAMMING</a:t>
            </a:r>
          </a:p>
        </p:txBody>
      </p:sp>
      <p:sp>
        <p:nvSpPr>
          <p:cNvPr id="1048601" name="Content Placeholder 2"/>
          <p:cNvSpPr>
            <a:spLocks noGrp="1"/>
          </p:cNvSpPr>
          <p:nvPr>
            <p:ph idx="1"/>
          </p:nvPr>
        </p:nvSpPr>
        <p:spPr>
          <a:xfrm>
            <a:off x="683568" y="1268760"/>
            <a:ext cx="7947676" cy="4244999"/>
          </a:xfrm>
        </p:spPr>
        <p:txBody>
          <a:bodyPr>
            <a:normAutofit fontScale="90000" lnSpcReduction="20000"/>
          </a:bodyPr>
          <a:lstStyle/>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major motivating factor in the invention of object-oriented approach is to remove some of the flaws encountered in the procedural approach.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OOP treats data as a critical element in the program development and does not allow it to flow freely around the system.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ties data more closely to the function that operate on it, and protects it from accidental modification from outside function.</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OOP allows decomposition of a problem into a number of entities called objects and then builds data and function around these objects.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data of an object can be accessed only by the function associated with that object. However, function of one object can access the function of other objects.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a:xfrm>
            <a:off x="251521" y="188641"/>
            <a:ext cx="6624736" cy="720080"/>
          </a:xfrm>
        </p:spPr>
        <p:txBody>
          <a:bodyPr>
            <a:noAutofit/>
          </a:bodyPr>
          <a:lstStyle/>
          <a:p>
            <a:r>
              <a:rPr lang="en-US" sz="2800" b="1" dirty="0">
                <a:latin typeface="Times New Roman" panose="02020603050405020304" pitchFamily="18" charset="0"/>
                <a:cs typeface="Times New Roman" panose="02020603050405020304" pitchFamily="18" charset="0"/>
              </a:rPr>
              <a:t>FEATURES OF OBJECT ORIENTED PROGRAMMING</a:t>
            </a:r>
          </a:p>
        </p:txBody>
      </p:sp>
      <p:sp>
        <p:nvSpPr>
          <p:cNvPr id="1048603" name="Content Placeholder 2"/>
          <p:cNvSpPr>
            <a:spLocks noGrp="1"/>
          </p:cNvSpPr>
          <p:nvPr>
            <p:ph idx="1"/>
          </p:nvPr>
        </p:nvSpPr>
        <p:spPr>
          <a:xfrm>
            <a:off x="539552" y="2030546"/>
            <a:ext cx="8091692" cy="4522653"/>
          </a:xfrm>
        </p:spPr>
        <p:txBody>
          <a:bodyPr>
            <a:normAutofit fontScale="98750"/>
          </a:bodyPr>
          <a:lstStyle/>
          <a:p>
            <a:pPr algn="just">
              <a:buFont typeface="Wingdings" panose="05000000000000000000" pitchFamily="2" charset="2"/>
              <a:buChar char="Ø"/>
            </a:pPr>
            <a:r>
              <a:rPr lang="en-US" sz="2200" dirty="0">
                <a:latin typeface="Times New Roman" pitchFamily="18" charset="0"/>
                <a:cs typeface="Times New Roman" pitchFamily="18" charset="0"/>
              </a:rPr>
              <a:t>Emphasis is on data rather than procedure. </a:t>
            </a:r>
          </a:p>
          <a:p>
            <a:pPr algn="just">
              <a:buFont typeface="Wingdings" panose="05000000000000000000" pitchFamily="2" charset="2"/>
              <a:buChar char="Ø"/>
            </a:pPr>
            <a:r>
              <a:rPr lang="en-US" sz="2200" dirty="0">
                <a:latin typeface="Times New Roman" pitchFamily="18" charset="0"/>
                <a:cs typeface="Times New Roman" pitchFamily="18" charset="0"/>
              </a:rPr>
              <a:t>Programs are divided into what are known as objects. </a:t>
            </a:r>
          </a:p>
          <a:p>
            <a:pPr algn="just">
              <a:buFont typeface="Wingdings" panose="05000000000000000000" pitchFamily="2" charset="2"/>
              <a:buChar char="Ø"/>
            </a:pPr>
            <a:r>
              <a:rPr lang="en-US" sz="2200" dirty="0">
                <a:latin typeface="Times New Roman" pitchFamily="18" charset="0"/>
                <a:cs typeface="Times New Roman" pitchFamily="18" charset="0"/>
              </a:rPr>
              <a:t>Data structures are designed such that they characterize the objects. </a:t>
            </a:r>
          </a:p>
          <a:p>
            <a:pPr algn="just">
              <a:buFont typeface="Wingdings" panose="05000000000000000000" pitchFamily="2" charset="2"/>
              <a:buChar char="Ø"/>
            </a:pPr>
            <a:r>
              <a:rPr lang="en-US" sz="2200" dirty="0">
                <a:latin typeface="Times New Roman" pitchFamily="18" charset="0"/>
                <a:cs typeface="Times New Roman" pitchFamily="18" charset="0"/>
              </a:rPr>
              <a:t>Functions that operate on the data of an object are ties together in the data structure. </a:t>
            </a:r>
          </a:p>
          <a:p>
            <a:pPr algn="just">
              <a:buFont typeface="Wingdings" panose="05000000000000000000" pitchFamily="2" charset="2"/>
              <a:buChar char="Ø"/>
            </a:pPr>
            <a:r>
              <a:rPr lang="en-US" sz="2200" dirty="0">
                <a:latin typeface="Times New Roman" pitchFamily="18" charset="0"/>
                <a:cs typeface="Times New Roman" pitchFamily="18" charset="0"/>
              </a:rPr>
              <a:t>Data is hidden and cannot be accessed by external function. </a:t>
            </a:r>
          </a:p>
          <a:p>
            <a:pPr algn="just">
              <a:buFont typeface="Wingdings" panose="05000000000000000000" pitchFamily="2" charset="2"/>
              <a:buChar char="Ø"/>
            </a:pPr>
            <a:r>
              <a:rPr lang="en-US" sz="2200" dirty="0">
                <a:latin typeface="Times New Roman" pitchFamily="18" charset="0"/>
                <a:cs typeface="Times New Roman" pitchFamily="18" charset="0"/>
              </a:rPr>
              <a:t>Objects may communicate with each other through function. </a:t>
            </a:r>
          </a:p>
          <a:p>
            <a:pPr algn="just">
              <a:buFont typeface="Wingdings" panose="05000000000000000000" pitchFamily="2" charset="2"/>
              <a:buChar char="Ø"/>
            </a:pPr>
            <a:r>
              <a:rPr lang="en-US" sz="2200" dirty="0">
                <a:latin typeface="Times New Roman" pitchFamily="18" charset="0"/>
                <a:cs typeface="Times New Roman" pitchFamily="18" charset="0"/>
              </a:rPr>
              <a:t>New data and functions can be easily added whenever necessary. </a:t>
            </a:r>
          </a:p>
          <a:p>
            <a:pPr algn="just">
              <a:buFont typeface="Wingdings" panose="05000000000000000000" pitchFamily="2" charset="2"/>
              <a:buChar char="Ø"/>
            </a:pPr>
            <a:r>
              <a:rPr lang="en-US" sz="2200" dirty="0">
                <a:latin typeface="Times New Roman" pitchFamily="18" charset="0"/>
                <a:cs typeface="Times New Roman" pitchFamily="18" charset="0"/>
              </a:rPr>
              <a:t>Follows bottom up approach in program design.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a:xfrm>
            <a:off x="611560" y="332657"/>
            <a:ext cx="8016899" cy="648072"/>
          </a:xfrm>
        </p:spPr>
        <p:txBody>
          <a:bodyPr>
            <a:normAutofit fontScale="90000"/>
          </a:bodyPr>
          <a:lstStyle/>
          <a:p>
            <a:r>
              <a:rPr lang="en-US" sz="2800" b="1" dirty="0">
                <a:latin typeface="Times New Roman" panose="02020603050405020304" pitchFamily="18" charset="0"/>
                <a:cs typeface="Times New Roman" panose="02020603050405020304" pitchFamily="18" charset="0"/>
              </a:rPr>
              <a:t>OBJECT ORIENTED PROGRAMMING</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PARADIGM</a:t>
            </a:r>
          </a:p>
        </p:txBody>
      </p:sp>
      <p:sp>
        <p:nvSpPr>
          <p:cNvPr id="1048605" name="Content Placeholder 2"/>
          <p:cNvSpPr>
            <a:spLocks noGrp="1"/>
          </p:cNvSpPr>
          <p:nvPr>
            <p:ph idx="1"/>
          </p:nvPr>
        </p:nvSpPr>
        <p:spPr>
          <a:xfrm>
            <a:off x="251520" y="1196752"/>
            <a:ext cx="8379724" cy="4317007"/>
          </a:xfrm>
        </p:spPr>
        <p:txBody>
          <a:bodyPr>
            <a:normAutofit fontScale="91250" lnSpcReduction="10000"/>
          </a:bodyPr>
          <a:lstStyle/>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major motivating factor in the invention of object-oriented approach is to remove some of the flaws encountered in the procedural approach. </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OOP treats data as a critical element in the program development and does not allow it to flow freely around the system.</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It ties data more closely to the function that operate on it, and protects it from accidental modification from outside function.</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OOP allows decomposition of a problem into a number of entities called objects and then builds data and function around these objects. </a:t>
            </a:r>
          </a:p>
          <a:p>
            <a:endParaRPr lang="en-US" dirty="0"/>
          </a:p>
        </p:txBody>
      </p:sp>
      <p:pic>
        <p:nvPicPr>
          <p:cNvPr id="2097154" name="Picture 3"/>
          <p:cNvPicPr>
            <a:picLocks noChangeAspect="1"/>
          </p:cNvPicPr>
          <p:nvPr/>
        </p:nvPicPr>
        <p:blipFill>
          <a:blip r:embed="rId2"/>
          <a:stretch>
            <a:fillRect/>
          </a:stretch>
        </p:blipFill>
        <p:spPr>
          <a:xfrm>
            <a:off x="2612582" y="5038358"/>
            <a:ext cx="3657600" cy="18186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itle 1"/>
          <p:cNvSpPr>
            <a:spLocks noGrp="1"/>
          </p:cNvSpPr>
          <p:nvPr>
            <p:ph type="title"/>
          </p:nvPr>
        </p:nvSpPr>
        <p:spPr>
          <a:xfrm>
            <a:off x="390346" y="404664"/>
            <a:ext cx="6683765" cy="614325"/>
          </a:xfrm>
        </p:spPr>
        <p:txBody>
          <a:bodyPr>
            <a:noAutofit/>
          </a:bodyPr>
          <a:lstStyle/>
          <a:p>
            <a:r>
              <a:rPr lang="en-US" sz="2800" b="1" dirty="0">
                <a:latin typeface="Times New Roman" panose="02020603050405020304" pitchFamily="18" charset="0"/>
                <a:cs typeface="Times New Roman" panose="02020603050405020304" pitchFamily="18" charset="0"/>
              </a:rPr>
              <a:t>TERMINOLOGY OF OBJECT ORIENTED PROGRAMMING</a:t>
            </a:r>
          </a:p>
        </p:txBody>
      </p:sp>
      <p:sp>
        <p:nvSpPr>
          <p:cNvPr id="1048607" name="Content Placeholder 2"/>
          <p:cNvSpPr>
            <a:spLocks noGrp="1"/>
          </p:cNvSpPr>
          <p:nvPr>
            <p:ph idx="1"/>
          </p:nvPr>
        </p:nvSpPr>
        <p:spPr>
          <a:xfrm>
            <a:off x="395536" y="1268760"/>
            <a:ext cx="8235708" cy="4608511"/>
          </a:xfrm>
        </p:spPr>
        <p:txBody>
          <a:bodyPr>
            <a:normAutofit fontScale="56250" lnSpcReduction="20000"/>
          </a:bodyPr>
          <a:lstStyle/>
          <a:p>
            <a:pPr algn="just">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Object:- </a:t>
            </a:r>
            <a:r>
              <a:rPr lang="en-US" sz="3600" dirty="0">
                <a:latin typeface="Times New Roman" panose="02020603050405020304" pitchFamily="18" charset="0"/>
                <a:cs typeface="Times New Roman" panose="02020603050405020304" pitchFamily="18" charset="0"/>
              </a:rPr>
              <a:t>Objects are the basic run time entities in an object-oriented system. They may represent a person, a place, a bank account, a table of data or any item that the program has to handle. They may also represent user-defined data such as vectors, time and lists. </a:t>
            </a:r>
          </a:p>
          <a:p>
            <a:pPr algn="just">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Classes:- </a:t>
            </a:r>
            <a:r>
              <a:rPr lang="en-US" sz="3600" dirty="0">
                <a:latin typeface="Times New Roman" panose="02020603050405020304" pitchFamily="18" charset="0"/>
                <a:cs typeface="Times New Roman" panose="02020603050405020304" pitchFamily="18" charset="0"/>
              </a:rPr>
              <a:t>We just mentioned that objects contain data, and code to manipulate that data. The entire set of data and code of an object can be made a user-defined data type with the help of class. In fact, objects are variables of the type class. </a:t>
            </a:r>
          </a:p>
          <a:p>
            <a:pPr>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Data Abstraction:- </a:t>
            </a:r>
            <a:r>
              <a:rPr lang="en-US" sz="3600" dirty="0">
                <a:latin typeface="Times New Roman" panose="02020603050405020304" pitchFamily="18" charset="0"/>
                <a:cs typeface="Times New Roman" panose="02020603050405020304" pitchFamily="18" charset="0"/>
              </a:rPr>
              <a:t>Abstraction refers to the act of representing essential features without including the background details or explanation.</a:t>
            </a:r>
          </a:p>
          <a:p>
            <a:pPr>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Data Encapsulation:- </a:t>
            </a:r>
            <a:r>
              <a:rPr lang="en-US" sz="3600" dirty="0">
                <a:latin typeface="Times New Roman" panose="02020603050405020304" pitchFamily="18" charset="0"/>
                <a:cs typeface="Times New Roman" panose="02020603050405020304" pitchFamily="18" charset="0"/>
              </a:rPr>
              <a:t>The wrapping up of data and function into a single unit (called class) is known as encapsulation. Data and encapsulation is the most striking feature of a class.</a:t>
            </a:r>
          </a:p>
          <a:p>
            <a:pPr>
              <a:buFont typeface="Wingdings" panose="05000000000000000000" pitchFamily="2" charset="2"/>
              <a:buChar char="Ø"/>
            </a:pPr>
            <a:r>
              <a:rPr lang="en-US" sz="3600" b="1" dirty="0">
                <a:latin typeface="Times New Roman" panose="02020603050405020304" pitchFamily="18" charset="0"/>
                <a:cs typeface="Times New Roman" panose="02020603050405020304" pitchFamily="18" charset="0"/>
              </a:rPr>
              <a:t>Data Hiding:- </a:t>
            </a:r>
            <a:r>
              <a:rPr lang="en-US" sz="3600" dirty="0">
                <a:latin typeface="Times New Roman" panose="02020603050405020304" pitchFamily="18" charset="0"/>
                <a:cs typeface="Times New Roman" panose="02020603050405020304" pitchFamily="18" charset="0"/>
              </a:rPr>
              <a:t>This insulation of the data from direct access by the program is called data hiding or information hiding </a:t>
            </a:r>
          </a:p>
          <a:p>
            <a:endParaRPr lang="en-US" b="1" dirty="0">
              <a:solidFill>
                <a:srgbClr val="FF0000"/>
              </a:solidFill>
              <a:latin typeface="Times New Roman" panose="02020603050405020304" pitchFamily="18" charset="0"/>
              <a:cs typeface="Times New Roman" panose="02020603050405020304" pitchFamily="18" charset="0"/>
            </a:endParaRPr>
          </a:p>
          <a:p>
            <a:endParaRPr lang="en-US"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Title 1"/>
          <p:cNvSpPr>
            <a:spLocks noGrp="1"/>
          </p:cNvSpPr>
          <p:nvPr>
            <p:ph type="title"/>
          </p:nvPr>
        </p:nvSpPr>
        <p:spPr>
          <a:xfrm>
            <a:off x="395536" y="313526"/>
            <a:ext cx="6683765" cy="614325"/>
          </a:xfrm>
        </p:spPr>
        <p:txBody>
          <a:bodyPr>
            <a:noAutofit/>
          </a:bodyPr>
          <a:lstStyle/>
          <a:p>
            <a:r>
              <a:rPr lang="en-US" sz="2400" b="1" dirty="0">
                <a:latin typeface="Times New Roman" panose="02020603050405020304" pitchFamily="18" charset="0"/>
                <a:cs typeface="Times New Roman" panose="02020603050405020304" pitchFamily="18" charset="0"/>
              </a:rPr>
              <a:t>TERMINOLOGY OF OBJECT ORIENTED PROGRAMMING</a:t>
            </a:r>
          </a:p>
        </p:txBody>
      </p:sp>
      <p:sp>
        <p:nvSpPr>
          <p:cNvPr id="1048609" name="Content Placeholder 2"/>
          <p:cNvSpPr>
            <a:spLocks noGrp="1"/>
          </p:cNvSpPr>
          <p:nvPr>
            <p:ph idx="1"/>
          </p:nvPr>
        </p:nvSpPr>
        <p:spPr>
          <a:xfrm>
            <a:off x="755576" y="1412776"/>
            <a:ext cx="7875668" cy="4824535"/>
          </a:xfrm>
        </p:spPr>
        <p:txBody>
          <a:bodyPr>
            <a:normAutofit fontScale="63750" lnSpcReduction="20000"/>
          </a:bodyPr>
          <a:lstStyle/>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Inheritance:- </a:t>
            </a:r>
            <a:r>
              <a:rPr lang="en-US" dirty="0">
                <a:latin typeface="Times New Roman" panose="02020603050405020304" pitchFamily="18" charset="0"/>
                <a:cs typeface="Times New Roman" panose="02020603050405020304" pitchFamily="18" charset="0"/>
              </a:rPr>
              <a:t>Inheritance is the process by which objects of one class acquired the properties of objects of another classes. It supports the concept of hierarchical classification. In OOP, the concept of inheritance provides the idea of reusability. This means that we can add additional features to an existing class without modifying it</a:t>
            </a: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Polymorphism:- </a:t>
            </a:r>
            <a:r>
              <a:rPr lang="en-US" dirty="0">
                <a:latin typeface="Times New Roman" panose="02020603050405020304" pitchFamily="18" charset="0"/>
                <a:cs typeface="Times New Roman" panose="02020603050405020304" pitchFamily="18" charset="0"/>
              </a:rPr>
              <a:t>Polymorphism is another important OOP concept. Polymorphism, a Greek term, means the ability to take more than on form. An operation may exhibit different behavior is different instances. </a:t>
            </a: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Dynamic binding:- </a:t>
            </a:r>
            <a:r>
              <a:rPr lang="en-US" dirty="0">
                <a:latin typeface="Times New Roman" panose="02020603050405020304" pitchFamily="18" charset="0"/>
                <a:cs typeface="Times New Roman" panose="02020603050405020304" pitchFamily="18" charset="0"/>
              </a:rPr>
              <a:t>Dynamic binding means that the code associated with a given procedure call is not known until the time of the call at run time. It is associated with polymorphism and inheritance. </a:t>
            </a: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Message passing:- </a:t>
            </a:r>
            <a:r>
              <a:rPr lang="en-US" dirty="0">
                <a:latin typeface="Times New Roman" panose="02020603050405020304" pitchFamily="18" charset="0"/>
                <a:cs typeface="Times New Roman" panose="02020603050405020304" pitchFamily="18" charset="0"/>
              </a:rPr>
              <a:t>Objects communicate with one another by sending and receiving information much the same way as people pass messages to one another. The concept of message passing makes it easier to talk about building systems that directly model or simulate their real-world counterparts. </a:t>
            </a:r>
          </a:p>
          <a:p>
            <a:endParaRPr lang="en-US" b="1" dirty="0">
              <a:solidFill>
                <a:srgbClr val="FF0000"/>
              </a:solidFill>
              <a:latin typeface="Times New Roman" panose="02020603050405020304" pitchFamily="18" charset="0"/>
              <a:cs typeface="Times New Roman" panose="02020603050405020304" pitchFamily="18" charset="0"/>
            </a:endParaRPr>
          </a:p>
          <a:p>
            <a:endParaRPr lang="en-US" dirty="0"/>
          </a:p>
          <a:p>
            <a:pPr algn="just"/>
            <a:endParaRPr lang="en-US" b="1" dirty="0">
              <a:solidFill>
                <a:srgbClr val="FF0000"/>
              </a:solidFill>
              <a:latin typeface="Times New Roman" panose="02020603050405020304" pitchFamily="18" charset="0"/>
              <a:cs typeface="Times New Roman" panose="02020603050405020304" pitchFamily="18" charset="0"/>
            </a:endParaRPr>
          </a:p>
          <a:p>
            <a:endParaRPr lang="en-US"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Rectangle 2"/>
          <p:cNvSpPr>
            <a:spLocks noGrp="1" noChangeArrowheads="1"/>
          </p:cNvSpPr>
          <p:nvPr>
            <p:ph type="title"/>
          </p:nvPr>
        </p:nvSpPr>
        <p:spPr/>
        <p:txBody>
          <a:bodyPr>
            <a:normAutofit/>
          </a:bodyPr>
          <a:lstStyle/>
          <a:p>
            <a:r>
              <a:rPr lang="en-US" sz="2800" b="1" dirty="0">
                <a:latin typeface="Times New Roman" pitchFamily="18" charset="0"/>
                <a:cs typeface="Times New Roman" pitchFamily="18" charset="0"/>
              </a:rPr>
              <a:t>THE C++ LANGUAGE</a:t>
            </a:r>
          </a:p>
        </p:txBody>
      </p:sp>
      <p:sp>
        <p:nvSpPr>
          <p:cNvPr id="1048611" name="Rectangle 3"/>
          <p:cNvSpPr>
            <a:spLocks noGrp="1" noChangeArrowheads="1"/>
          </p:cNvSpPr>
          <p:nvPr>
            <p:ph idx="1"/>
          </p:nvPr>
        </p:nvSpPr>
        <p:spPr/>
        <p:txBody>
          <a:bodyPr/>
          <a:lstStyle/>
          <a:p>
            <a:pPr>
              <a:buFont typeface="Wingdings" panose="05000000000000000000" pitchFamily="2" charset="2"/>
              <a:buChar char="Ø"/>
            </a:pPr>
            <a:r>
              <a:rPr lang="en-US" sz="2200" dirty="0"/>
              <a:t>An object-oriented, general-purpose programming language, derived from C (C++ = C plus classes).</a:t>
            </a:r>
          </a:p>
          <a:p>
            <a:pPr>
              <a:buFont typeface="Wingdings" panose="05000000000000000000" pitchFamily="2" charset="2"/>
              <a:buChar char="Ø"/>
            </a:pPr>
            <a:endParaRPr lang="en-US" sz="1000" dirty="0"/>
          </a:p>
          <a:p>
            <a:pPr>
              <a:buFont typeface="Wingdings" panose="05000000000000000000" pitchFamily="2" charset="2"/>
              <a:buChar char="Ø"/>
            </a:pPr>
            <a:r>
              <a:rPr lang="en-US" sz="2200" dirty="0"/>
              <a:t>C++ adds the following to C:</a:t>
            </a:r>
          </a:p>
          <a:p>
            <a:pPr>
              <a:buFont typeface="Wingdings" panose="05000000000000000000" pitchFamily="2" charset="2"/>
              <a:buChar char="Ø"/>
            </a:pPr>
            <a:endParaRPr lang="en-US" sz="1000" dirty="0"/>
          </a:p>
          <a:p>
            <a:pPr lvl="1">
              <a:buFont typeface="Wingdings" panose="05000000000000000000" pitchFamily="2" charset="2"/>
              <a:buChar char="Ø"/>
            </a:pPr>
            <a:r>
              <a:rPr lang="en-US" sz="2200" dirty="0"/>
              <a:t>Inlining and overloading of functions.</a:t>
            </a:r>
          </a:p>
          <a:p>
            <a:pPr lvl="1">
              <a:buFont typeface="Wingdings" panose="05000000000000000000" pitchFamily="2" charset="2"/>
              <a:buChar char="Ø"/>
            </a:pPr>
            <a:r>
              <a:rPr lang="en-US" sz="2200" dirty="0"/>
              <a:t>Default argument values.</a:t>
            </a:r>
          </a:p>
          <a:p>
            <a:pPr lvl="1">
              <a:buFont typeface="Wingdings" panose="05000000000000000000" pitchFamily="2" charset="2"/>
              <a:buChar char="Ø"/>
            </a:pPr>
            <a:r>
              <a:rPr lang="en-US" sz="2200" dirty="0"/>
              <a:t>Argument pass-by-reference.</a:t>
            </a:r>
          </a:p>
          <a:p>
            <a:pPr lvl="1">
              <a:buFont typeface="Wingdings" panose="05000000000000000000" pitchFamily="2" charset="2"/>
              <a:buChar char="Ø"/>
            </a:pPr>
            <a:r>
              <a:rPr lang="en-US" sz="2200" dirty="0"/>
              <a:t>Free store operators </a:t>
            </a:r>
            <a:r>
              <a:rPr lang="en-US" sz="2200" b="1" dirty="0">
                <a:latin typeface="Courier New" pitchFamily="49" charset="0"/>
              </a:rPr>
              <a:t>new</a:t>
            </a:r>
            <a:r>
              <a:rPr lang="en-US" sz="2200" dirty="0"/>
              <a:t> and </a:t>
            </a:r>
            <a:r>
              <a:rPr lang="en-US" sz="2200" b="1" dirty="0">
                <a:latin typeface="Courier New" pitchFamily="49" charset="0"/>
              </a:rPr>
              <a:t>delete</a:t>
            </a:r>
            <a:r>
              <a:rPr lang="en-US" sz="2200" dirty="0"/>
              <a:t>, instead of </a:t>
            </a:r>
            <a:r>
              <a:rPr lang="en-US" sz="2200" b="1" dirty="0">
                <a:latin typeface="Courier New" pitchFamily="49" charset="0"/>
              </a:rPr>
              <a:t>malloc()</a:t>
            </a:r>
            <a:r>
              <a:rPr lang="en-US" sz="2200" dirty="0"/>
              <a:t> and  </a:t>
            </a:r>
            <a:r>
              <a:rPr lang="en-US" sz="2200" b="1" dirty="0">
                <a:latin typeface="Courier New" pitchFamily="49" charset="0"/>
              </a:rPr>
              <a:t>free().</a:t>
            </a:r>
          </a:p>
          <a:p>
            <a:pPr lvl="1">
              <a:buFont typeface="Wingdings" panose="05000000000000000000" pitchFamily="2" charset="2"/>
              <a:buChar char="Ø"/>
            </a:pPr>
            <a:r>
              <a:rPr lang="en-US" sz="2200" dirty="0"/>
              <a:t>Support for object-oriented programming, through classes, information hiding, public interfaces, operator overloading, inheritance, and templates.</a:t>
            </a:r>
          </a:p>
          <a:p>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Rectangle 2"/>
          <p:cNvSpPr>
            <a:spLocks noGrp="1" noChangeArrowheads="1"/>
          </p:cNvSpPr>
          <p:nvPr>
            <p:ph type="title"/>
          </p:nvPr>
        </p:nvSpPr>
        <p:spPr/>
        <p:txBody>
          <a:bodyPr>
            <a:normAutofit/>
          </a:bodyPr>
          <a:lstStyle/>
          <a:p>
            <a:r>
              <a:rPr lang="en-US" sz="2800" b="1" dirty="0">
                <a:latin typeface="Times New Roman" pitchFamily="18" charset="0"/>
                <a:cs typeface="Times New Roman" pitchFamily="18" charset="0"/>
              </a:rPr>
              <a:t>DESIGN OBJECTIVES IN C++</a:t>
            </a:r>
          </a:p>
        </p:txBody>
      </p:sp>
      <p:sp>
        <p:nvSpPr>
          <p:cNvPr id="1048616" name="Rectangle 3"/>
          <p:cNvSpPr>
            <a:spLocks noGrp="1" noChangeArrowheads="1"/>
          </p:cNvSpPr>
          <p:nvPr>
            <p:ph idx="1"/>
          </p:nvPr>
        </p:nvSpPr>
        <p:spPr>
          <a:xfrm>
            <a:off x="885825" y="1585913"/>
            <a:ext cx="7629525" cy="4525962"/>
          </a:xfrm>
        </p:spPr>
        <p:txBody>
          <a:bodyPr>
            <a:normAutofit fontScale="95000"/>
          </a:bodyPr>
          <a:lstStyle/>
          <a:p>
            <a:pPr algn="just">
              <a:lnSpc>
                <a:spcPct val="9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Compatibility.  Existing code in C can be used.  Even existing, pre-compiled libraries can be linked with new C++ code.</a:t>
            </a:r>
          </a:p>
          <a:p>
            <a:pPr algn="just">
              <a:lnSpc>
                <a:spcPct val="9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Efficiency.  No additional cost for using C++.  </a:t>
            </a:r>
            <a:r>
              <a:rPr lang="en-US" sz="2000" dirty="0" err="1">
                <a:latin typeface="Times New Roman" panose="02020603050405020304" pitchFamily="18" charset="0"/>
                <a:cs typeface="Times New Roman" panose="02020603050405020304" pitchFamily="18" charset="0"/>
              </a:rPr>
              <a:t>Overheadof</a:t>
            </a:r>
            <a:r>
              <a:rPr lang="en-US" sz="2000" dirty="0">
                <a:latin typeface="Times New Roman" panose="02020603050405020304" pitchFamily="18" charset="0"/>
                <a:cs typeface="Times New Roman" panose="02020603050405020304" pitchFamily="18" charset="0"/>
              </a:rPr>
              <a:t> function calls is eliminated where possible.</a:t>
            </a:r>
          </a:p>
          <a:p>
            <a:pPr algn="just">
              <a:lnSpc>
                <a:spcPct val="9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Strict type checking.  Aids debugging, allows generation of efficient code.</a:t>
            </a:r>
          </a:p>
          <a:p>
            <a:pPr algn="just">
              <a:lnSpc>
                <a:spcPct val="9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 designed by Bjarne </a:t>
            </a:r>
            <a:r>
              <a:rPr lang="en-US" sz="2000" dirty="0" err="1">
                <a:latin typeface="Times New Roman" panose="02020603050405020304" pitchFamily="18" charset="0"/>
                <a:cs typeface="Times New Roman" panose="02020603050405020304" pitchFamily="18" charset="0"/>
              </a:rPr>
              <a:t>Stroustrup</a:t>
            </a:r>
            <a:r>
              <a:rPr lang="en-US" sz="2000" dirty="0">
                <a:latin typeface="Times New Roman" panose="02020603050405020304" pitchFamily="18" charset="0"/>
                <a:cs typeface="Times New Roman" panose="02020603050405020304" pitchFamily="18" charset="0"/>
              </a:rPr>
              <a:t> of Bell Labs (now at TAMU).</a:t>
            </a:r>
          </a:p>
          <a:p>
            <a:pPr algn="just">
              <a:lnSpc>
                <a:spcPct val="9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Standardization: ANSI, ISO.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Rectangle 2"/>
          <p:cNvSpPr>
            <a:spLocks noGrp="1" noChangeArrowheads="1"/>
          </p:cNvSpPr>
          <p:nvPr>
            <p:ph type="title"/>
          </p:nvPr>
        </p:nvSpPr>
        <p:spPr/>
        <p:txBody>
          <a:bodyPr>
            <a:normAutofit/>
          </a:bodyPr>
          <a:lstStyle/>
          <a:p>
            <a:r>
              <a:rPr lang="en-US" sz="2800" b="1" dirty="0">
                <a:latin typeface="Times New Roman" pitchFamily="18" charset="0"/>
                <a:cs typeface="Times New Roman" pitchFamily="18" charset="0"/>
              </a:rPr>
              <a:t>NON OBJECT-ORIENTED</a:t>
            </a:r>
            <a:br>
              <a:rPr lang="en-US" sz="2800" b="1" dirty="0">
                <a:latin typeface="Times New Roman" pitchFamily="18" charset="0"/>
                <a:cs typeface="Times New Roman" pitchFamily="18" charset="0"/>
              </a:rPr>
            </a:br>
            <a:r>
              <a:rPr lang="en-US" sz="2800" b="1" dirty="0">
                <a:latin typeface="Times New Roman" pitchFamily="18" charset="0"/>
                <a:cs typeface="Times New Roman" pitchFamily="18" charset="0"/>
              </a:rPr>
              <a:t> EXTENSIONS TO C</a:t>
            </a:r>
          </a:p>
        </p:txBody>
      </p:sp>
      <p:sp>
        <p:nvSpPr>
          <p:cNvPr id="1048621" name="Rectangle 3"/>
          <p:cNvSpPr>
            <a:spLocks noGrp="1" noChangeArrowheads="1"/>
          </p:cNvSpPr>
          <p:nvPr>
            <p:ph idx="1"/>
          </p:nvPr>
        </p:nvSpPr>
        <p:spPr/>
        <p:txBody>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Major improvements over C.</a:t>
            </a:r>
          </a:p>
          <a:p>
            <a:pPr lvl="2">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Stream I/O.</a:t>
            </a:r>
          </a:p>
          <a:p>
            <a:pPr lvl="2">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Strong typing.</a:t>
            </a:r>
          </a:p>
          <a:p>
            <a:pPr lvl="2">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Parameter passing by reference.</a:t>
            </a:r>
          </a:p>
          <a:p>
            <a:pPr lvl="2">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Default argument values.</a:t>
            </a:r>
          </a:p>
          <a:p>
            <a:pPr lvl="2">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Inlining</a:t>
            </a:r>
            <a:r>
              <a:rPr lang="en-US" sz="2800" dirty="0">
                <a:latin typeface="Times New Roman" panose="02020603050405020304" pitchFamily="18" charset="0"/>
                <a:cs typeface="Times New Roman" panose="02020603050405020304" pitchFamily="18" charset="0"/>
              </a:rPr>
              <a:t>.</a:t>
            </a:r>
          </a:p>
          <a:p>
            <a:pPr marL="1371600" lvl="2" indent="-457200">
              <a:buFontTx/>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1"/>
          <p:cNvSpPr>
            <a:spLocks noGrp="1"/>
          </p:cNvSpPr>
          <p:nvPr>
            <p:ph type="title"/>
          </p:nvPr>
        </p:nvSpPr>
        <p:spPr>
          <a:xfrm>
            <a:off x="539552" y="260649"/>
            <a:ext cx="6120681" cy="576064"/>
          </a:xfrm>
        </p:spPr>
        <p:txBody>
          <a:bodyPr>
            <a:noAutofit/>
          </a:bodyPr>
          <a:lstStyle/>
          <a:p>
            <a:r>
              <a:rPr lang="en-US" sz="2800" b="1" dirty="0">
                <a:latin typeface="Times New Roman" panose="02020603050405020304" pitchFamily="18" charset="0"/>
                <a:cs typeface="Times New Roman" panose="02020603050405020304" pitchFamily="18" charset="0"/>
              </a:rPr>
              <a:t>BENEFITS OF OBJECT ORIENTED PROGRAMMING</a:t>
            </a:r>
          </a:p>
        </p:txBody>
      </p:sp>
      <p:sp>
        <p:nvSpPr>
          <p:cNvPr id="1048626" name="Content Placeholder 2"/>
          <p:cNvSpPr>
            <a:spLocks noGrp="1"/>
          </p:cNvSpPr>
          <p:nvPr>
            <p:ph idx="1"/>
          </p:nvPr>
        </p:nvSpPr>
        <p:spPr>
          <a:xfrm>
            <a:off x="539552" y="1340768"/>
            <a:ext cx="8091692" cy="5112568"/>
          </a:xfrm>
        </p:spPr>
        <p:txBody>
          <a:bodyPr>
            <a:normAutofit fontScale="48750" lnSpcReduction="20000"/>
          </a:bodyPr>
          <a:lstStyle/>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Through inheritance, we can eliminate redundant code extend the use of existing Classes. </a:t>
            </a:r>
          </a:p>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The principle of data hiding helps the programmer to build secure program that can not be invaded by code in other parts of a programs. </a:t>
            </a:r>
          </a:p>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It is possible to have multiple instances of an object to co-exist without any interference. </a:t>
            </a:r>
          </a:p>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Object-oriented system can be easily upgraded from small to large system. </a:t>
            </a:r>
          </a:p>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Message passing techniques for communication between objects makes to interface descriptions with external systems much simpler. </a:t>
            </a:r>
          </a:p>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Software complexity can be easily managed. </a:t>
            </a:r>
          </a:p>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It is easy to partition the work in a project based on objects. </a:t>
            </a:r>
          </a:p>
          <a:p>
            <a:pPr algn="just">
              <a:buFont typeface="Wingdings" panose="05000000000000000000" pitchFamily="2" charset="2"/>
              <a:buChar char="Ø"/>
            </a:pPr>
            <a:r>
              <a:rPr lang="en-US" sz="4300" dirty="0">
                <a:latin typeface="Times New Roman" panose="02020603050405020304" pitchFamily="18" charset="0"/>
                <a:cs typeface="Times New Roman" panose="02020603050405020304" pitchFamily="18" charset="0"/>
              </a:rPr>
              <a:t>The data-centered design approach enables us to capture more detail of a model can implemental form. </a:t>
            </a:r>
          </a:p>
          <a:p>
            <a:endParaRPr lang="en-US" dirty="0"/>
          </a:p>
          <a:p>
            <a:endParaRPr lang="en-US" b="1" dirty="0">
              <a:solidFill>
                <a:srgbClr val="FF0000"/>
              </a:solidFill>
              <a:latin typeface="Times New Roman" panose="02020603050405020304" pitchFamily="18" charset="0"/>
              <a:cs typeface="Times New Roman" panose="02020603050405020304" pitchFamily="18" charset="0"/>
            </a:endParaRPr>
          </a:p>
          <a:p>
            <a:endParaRPr lang="en-US" dirty="0"/>
          </a:p>
          <a:p>
            <a:pPr algn="just"/>
            <a:endParaRPr lang="en-US" b="1" dirty="0">
              <a:solidFill>
                <a:srgbClr val="FF0000"/>
              </a:solidFill>
              <a:latin typeface="Times New Roman" panose="02020603050405020304" pitchFamily="18" charset="0"/>
              <a:cs typeface="Times New Roman" panose="02020603050405020304" pitchFamily="18" charset="0"/>
            </a:endParaRPr>
          </a:p>
          <a:p>
            <a:endParaRPr lang="en-US"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a:xfrm>
            <a:off x="395536" y="476673"/>
            <a:ext cx="6120681" cy="432047"/>
          </a:xfrm>
        </p:spPr>
        <p:txBody>
          <a:bodyPr>
            <a:noAutofit/>
          </a:bodyPr>
          <a:lstStyle/>
          <a:p>
            <a:r>
              <a:rPr lang="en-US" sz="2800" b="1" dirty="0">
                <a:latin typeface="Times New Roman" panose="02020603050405020304" pitchFamily="18" charset="0"/>
                <a:cs typeface="Times New Roman" panose="02020603050405020304" pitchFamily="18" charset="0"/>
              </a:rPr>
              <a:t>APPLICATIONS OF OBJECT ORIENTED PROGRAMMING</a:t>
            </a:r>
          </a:p>
        </p:txBody>
      </p:sp>
      <p:sp>
        <p:nvSpPr>
          <p:cNvPr id="1048628" name="Content Placeholder 2"/>
          <p:cNvSpPr>
            <a:spLocks noGrp="1"/>
          </p:cNvSpPr>
          <p:nvPr>
            <p:ph idx="1"/>
          </p:nvPr>
        </p:nvSpPr>
        <p:spPr>
          <a:xfrm>
            <a:off x="755576" y="1268760"/>
            <a:ext cx="7875668" cy="4244999"/>
          </a:xfrm>
        </p:spPr>
        <p:txBody>
          <a:bodyPr>
            <a:normAutofit fontScale="96250" lnSpcReduction="10000"/>
          </a:bodyPr>
          <a:lstStyle/>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The promising areas of application of OOP include: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Real-time system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Simulation and modeling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Object-oriented data bases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Hypertext, Hypermedia, and expertext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AI and expert systems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Neural networks and parallel programming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Decision support and office automation systems </a:t>
            </a:r>
          </a:p>
          <a:p>
            <a:pPr>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CIM/CAM/CAD systems </a:t>
            </a:r>
          </a:p>
          <a:p>
            <a:endParaRPr lang="en-US" dirty="0"/>
          </a:p>
          <a:p>
            <a:endParaRPr lang="en-US" b="1" dirty="0">
              <a:solidFill>
                <a:srgbClr val="FF0000"/>
              </a:solidFill>
              <a:latin typeface="Times New Roman" panose="02020603050405020304" pitchFamily="18" charset="0"/>
              <a:cs typeface="Times New Roman" panose="02020603050405020304" pitchFamily="18" charset="0"/>
            </a:endParaRPr>
          </a:p>
          <a:p>
            <a:endParaRPr lang="en-US" dirty="0"/>
          </a:p>
          <a:p>
            <a:pPr algn="just"/>
            <a:endParaRPr lang="en-US" b="1" dirty="0">
              <a:solidFill>
                <a:srgbClr val="FF0000"/>
              </a:solidFill>
              <a:latin typeface="Times New Roman" panose="02020603050405020304" pitchFamily="18" charset="0"/>
              <a:cs typeface="Times New Roman" panose="02020603050405020304" pitchFamily="18" charset="0"/>
            </a:endParaRPr>
          </a:p>
          <a:p>
            <a:endParaRPr lang="en-US"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
          <p:cNvSpPr>
            <a:spLocks noGrp="1"/>
          </p:cNvSpPr>
          <p:nvPr>
            <p:ph type="title"/>
          </p:nvPr>
        </p:nvSpPr>
        <p:spPr>
          <a:xfrm>
            <a:off x="752791" y="-232142"/>
            <a:ext cx="6683765" cy="2004957"/>
          </a:xfrm>
        </p:spPr>
        <p:txBody>
          <a:bodyPr>
            <a:normAutofit/>
          </a:bodyPr>
          <a:lstStyle/>
          <a:p>
            <a:r>
              <a:rPr lang="en-US" sz="2800" b="1" dirty="0">
                <a:latin typeface="Times New Roman" panose="02020603050405020304" pitchFamily="18" charset="0"/>
                <a:cs typeface="Times New Roman" panose="02020603050405020304" pitchFamily="18" charset="0"/>
              </a:rPr>
              <a:t>FUNCTION DEFINITION AND DECLARATION</a:t>
            </a:r>
          </a:p>
        </p:txBody>
      </p:sp>
      <p:sp>
        <p:nvSpPr>
          <p:cNvPr id="1048630" name="Content Placeholder 2"/>
          <p:cNvSpPr>
            <a:spLocks noGrp="1"/>
          </p:cNvSpPr>
          <p:nvPr>
            <p:ph idx="1"/>
          </p:nvPr>
        </p:nvSpPr>
        <p:spPr>
          <a:xfrm>
            <a:off x="755576" y="1268760"/>
            <a:ext cx="7875668" cy="5112567"/>
          </a:xfrm>
        </p:spPr>
        <p:txBody>
          <a:bodyPr>
            <a:normAutofit fontScale="65000" lnSpcReduction="20000"/>
          </a:bodyPr>
          <a:lstStyle/>
          <a:p>
            <a:pPr marL="0" indent="0" algn="just">
              <a:buNone/>
            </a:pPr>
            <a:r>
              <a:rPr lang="en-US" dirty="0">
                <a:latin typeface="Times New Roman" panose="02020603050405020304" pitchFamily="18" charset="0"/>
                <a:cs typeface="Times New Roman" panose="02020603050405020304" pitchFamily="18" charset="0"/>
              </a:rPr>
              <a:t>In C++, a function must be defined prior to it’s use in the program. The function definition contains the code for the function. </a:t>
            </a:r>
          </a:p>
          <a:p>
            <a:pPr marL="0" indent="0" algn="just">
              <a:buNone/>
            </a:pPr>
            <a:r>
              <a:rPr lang="en-US" dirty="0">
                <a:latin typeface="Times New Roman" panose="02020603050405020304" pitchFamily="18" charset="0"/>
                <a:cs typeface="Times New Roman" panose="02020603050405020304" pitchFamily="18" charset="0"/>
              </a:rPr>
              <a:t>The general syntax of a function definition in C++ is shown below: </a:t>
            </a:r>
          </a:p>
          <a:p>
            <a:pPr marL="0" indent="0" algn="just">
              <a:buNone/>
            </a:pPr>
            <a:r>
              <a:rPr lang="en-US" dirty="0">
                <a:latin typeface="Courier New" panose="02070309020205020404" pitchFamily="49" charset="0"/>
              </a:rPr>
              <a:t> </a:t>
            </a:r>
            <a:r>
              <a:rPr lang="en-US" dirty="0">
                <a:latin typeface="Times New Roman" panose="02020603050405020304" pitchFamily="18" charset="0"/>
                <a:cs typeface="Times New Roman" panose="02020603050405020304" pitchFamily="18" charset="0"/>
              </a:rPr>
              <a:t> Type name_of_the_function (argument list) </a:t>
            </a:r>
          </a:p>
          <a:p>
            <a:pPr marL="0" indent="0" algn="just">
              <a:buNone/>
            </a:pPr>
            <a:r>
              <a:rPr lang="en-US" dirty="0">
                <a:latin typeface="Times New Roman" panose="02020603050405020304" pitchFamily="18" charset="0"/>
                <a:cs typeface="Times New Roman" panose="02020603050405020304" pitchFamily="18" charset="0"/>
              </a:rPr>
              <a:t>  { </a:t>
            </a:r>
          </a:p>
          <a:p>
            <a:pPr marL="0" indent="0" algn="just">
              <a:buNone/>
            </a:pPr>
            <a:r>
              <a:rPr lang="en-US" dirty="0">
                <a:latin typeface="Times New Roman" panose="02020603050405020304" pitchFamily="18" charset="0"/>
                <a:cs typeface="Times New Roman" panose="02020603050405020304" pitchFamily="18" charset="0"/>
              </a:rPr>
              <a:t>  //body of the function </a:t>
            </a:r>
          </a:p>
          <a:p>
            <a:pPr marL="0" indent="0" algn="just">
              <a:buNone/>
            </a:pPr>
            <a:r>
              <a:rPr lang="en-US" dirty="0">
                <a:latin typeface="Times New Roman" panose="02020603050405020304" pitchFamily="18" charset="0"/>
                <a:cs typeface="Times New Roman" panose="02020603050405020304" pitchFamily="18" charset="0"/>
              </a:rPr>
              <a:t>  } </a:t>
            </a:r>
          </a:p>
          <a:p>
            <a:pPr marL="0" indent="0" algn="just">
              <a:buNone/>
            </a:pPr>
            <a:r>
              <a:rPr lang="en-US" b="1" dirty="0">
                <a:latin typeface="Times New Roman" panose="02020603050405020304" pitchFamily="18" charset="0"/>
                <a:cs typeface="Times New Roman" panose="02020603050405020304" pitchFamily="18" charset="0"/>
              </a:rPr>
              <a:t>For Example:- </a:t>
            </a:r>
            <a:r>
              <a:rPr lang="en-US" dirty="0">
                <a:latin typeface="Times New Roman" panose="02020603050405020304" pitchFamily="18" charset="0"/>
                <a:cs typeface="Times New Roman" panose="02020603050405020304" pitchFamily="18" charset="0"/>
              </a:rPr>
              <a:t>/function definition </a:t>
            </a:r>
          </a:p>
          <a:p>
            <a:pPr marL="0" indent="0" algn="just">
              <a:buNone/>
            </a:pPr>
            <a:r>
              <a:rPr lang="en-US" dirty="0">
                <a:latin typeface="Times New Roman" panose="02020603050405020304" pitchFamily="18" charset="0"/>
                <a:cs typeface="Times New Roman" panose="02020603050405020304" pitchFamily="18" charset="0"/>
              </a:rPr>
              <a:t>      add() </a:t>
            </a:r>
          </a:p>
          <a:p>
            <a:pPr marL="0" indent="0" algn="just">
              <a:buNone/>
            </a:pPr>
            <a:r>
              <a:rPr lang="en-US" dirty="0">
                <a:latin typeface="Times New Roman" panose="02020603050405020304" pitchFamily="18" charset="0"/>
                <a:cs typeface="Times New Roman" panose="02020603050405020304" pitchFamily="18" charset="0"/>
              </a:rPr>
              <a:t>      void add(</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b) //variable names are must in definition </a:t>
            </a:r>
          </a:p>
          <a:p>
            <a:pPr marL="0" indent="0" algn="just">
              <a:buNone/>
            </a:pPr>
            <a:r>
              <a:rPr lang="en-US" dirty="0">
                <a:latin typeface="Times New Roman" panose="02020603050405020304" pitchFamily="18" charset="0"/>
                <a:cs typeface="Times New Roman" panose="02020603050405020304" pitchFamily="18" charset="0"/>
              </a:rPr>
              <a:t>      { </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sum; </a:t>
            </a:r>
          </a:p>
          <a:p>
            <a:pPr marL="0" indent="0" algn="just">
              <a:buNone/>
            </a:pPr>
            <a:r>
              <a:rPr lang="en-US" dirty="0">
                <a:latin typeface="Times New Roman" panose="02020603050405020304" pitchFamily="18" charset="0"/>
                <a:cs typeface="Times New Roman" panose="02020603050405020304" pitchFamily="18" charset="0"/>
              </a:rPr>
              <a:t>        sum=</a:t>
            </a:r>
            <a:r>
              <a:rPr lang="en-US" dirty="0" err="1">
                <a:latin typeface="Times New Roman" panose="02020603050405020304" pitchFamily="18" charset="0"/>
                <a:cs typeface="Times New Roman" panose="02020603050405020304" pitchFamily="18" charset="0"/>
              </a:rPr>
              <a:t>a+b</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&lt;&lt;”\</a:t>
            </a:r>
            <a:r>
              <a:rPr lang="en-US" dirty="0" err="1">
                <a:latin typeface="Times New Roman" panose="02020603050405020304" pitchFamily="18" charset="0"/>
                <a:cs typeface="Times New Roman" panose="02020603050405020304" pitchFamily="18" charset="0"/>
              </a:rPr>
              <a:t>nThe</a:t>
            </a:r>
            <a:r>
              <a:rPr lang="en-US" dirty="0">
                <a:latin typeface="Times New Roman" panose="02020603050405020304" pitchFamily="18" charset="0"/>
                <a:cs typeface="Times New Roman" panose="02020603050405020304" pitchFamily="18" charset="0"/>
              </a:rPr>
              <a:t> sum of two numbers is “&lt;&lt;sum&lt;&lt;</a:t>
            </a:r>
            <a:r>
              <a:rPr lang="en-US" dirty="0" err="1">
                <a:latin typeface="Times New Roman" panose="02020603050405020304" pitchFamily="18" charset="0"/>
                <a:cs typeface="Times New Roman" panose="02020603050405020304" pitchFamily="18" charset="0"/>
              </a:rPr>
              <a:t>endl</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 </a:t>
            </a:r>
          </a:p>
          <a:p>
            <a:endParaRPr lang="en-US" dirty="0"/>
          </a:p>
          <a:p>
            <a:pPr algn="just"/>
            <a:endParaRPr lang="en-US" b="1" dirty="0">
              <a:solidFill>
                <a:srgbClr val="FF0000"/>
              </a:solidFill>
              <a:latin typeface="Times New Roman" panose="02020603050405020304" pitchFamily="18" charset="0"/>
              <a:cs typeface="Times New Roman" panose="02020603050405020304" pitchFamily="18" charset="0"/>
            </a:endParaRPr>
          </a:p>
          <a:p>
            <a:endParaRPr lang="en-US"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
          <p:cNvSpPr>
            <a:spLocks noGrp="1"/>
          </p:cNvSpPr>
          <p:nvPr>
            <p:ph type="title"/>
          </p:nvPr>
        </p:nvSpPr>
        <p:spPr>
          <a:xfrm>
            <a:off x="982197" y="486174"/>
            <a:ext cx="6683765" cy="614325"/>
          </a:xfrm>
        </p:spPr>
        <p:txBody>
          <a:bodyPr>
            <a:normAutofit fontScale="90000"/>
          </a:bodyPr>
          <a:lstStyle/>
          <a:p>
            <a:r>
              <a:rPr lang="en-US" sz="2800" b="1" dirty="0">
                <a:latin typeface="Times New Roman" panose="02020603050405020304" pitchFamily="18" charset="0"/>
                <a:cs typeface="Times New Roman" panose="02020603050405020304" pitchFamily="18" charset="0"/>
              </a:rPr>
              <a:t>VARIABLE DECLARATION IN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a:t>
            </a:r>
          </a:p>
        </p:txBody>
      </p:sp>
      <p:sp>
        <p:nvSpPr>
          <p:cNvPr id="1048632" name="Content Placeholder 2"/>
          <p:cNvSpPr>
            <a:spLocks noGrp="1"/>
          </p:cNvSpPr>
          <p:nvPr>
            <p:ph idx="1"/>
          </p:nvPr>
        </p:nvSpPr>
        <p:spPr>
          <a:xfrm>
            <a:off x="467544" y="1340768"/>
            <a:ext cx="7875668" cy="4638813"/>
          </a:xfrm>
        </p:spPr>
        <p:txBody>
          <a:bodyPr>
            <a:no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C++,all the variables that a program is going to use must be </a:t>
            </a:r>
            <a:r>
              <a:rPr lang="en-US" sz="2000" b="1" dirty="0">
                <a:latin typeface="Times New Roman" panose="02020603050405020304" pitchFamily="18" charset="0"/>
                <a:cs typeface="Times New Roman" panose="02020603050405020304" pitchFamily="18" charset="0"/>
              </a:rPr>
              <a:t>declared</a:t>
            </a:r>
            <a:r>
              <a:rPr lang="en-US" sz="2000" dirty="0">
                <a:latin typeface="Times New Roman" panose="02020603050405020304" pitchFamily="18" charset="0"/>
                <a:cs typeface="Times New Roman" panose="02020603050405020304" pitchFamily="18" charset="0"/>
              </a:rPr>
              <a:t> prior to use.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Declaration of a variable serves two purposes: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associates a </a:t>
            </a:r>
            <a:r>
              <a:rPr lang="en-US" sz="2000" b="1" dirty="0">
                <a:latin typeface="Times New Roman" panose="02020603050405020304" pitchFamily="18" charset="0"/>
                <a:cs typeface="Times New Roman" panose="02020603050405020304" pitchFamily="18" charset="0"/>
              </a:rPr>
              <a:t>type</a:t>
            </a:r>
            <a:r>
              <a:rPr lang="en-US" sz="2000" dirty="0">
                <a:latin typeface="Times New Roman" panose="02020603050405020304" pitchFamily="18" charset="0"/>
                <a:cs typeface="Times New Roman" panose="02020603050405020304" pitchFamily="18" charset="0"/>
              </a:rPr>
              <a:t> and an identifier (or name) with the variable. The type allows the compiler to interpret statements correctly.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allows the compiler to decide how much storage space to allocate for storage of the value associated with the identifier and to assign an address for each variable which can be used in code generation.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variable declaration has the form:-</a:t>
            </a:r>
          </a:p>
          <a:p>
            <a:pPr algn="just">
              <a:buFont typeface="Wingdings" panose="05000000000000000000" pitchFamily="2" charset="2"/>
              <a:buChar char="Ø"/>
            </a:pPr>
            <a:r>
              <a:rPr lang="en-US" sz="2000" b="1" dirty="0">
                <a:solidFill>
                  <a:srgbClr val="FF0000"/>
                </a:solidFill>
                <a:latin typeface="Times New Roman" panose="02020603050405020304" pitchFamily="18" charset="0"/>
                <a:cs typeface="Times New Roman" panose="02020603050405020304" pitchFamily="18" charset="0"/>
              </a:rPr>
              <a:t>                                     type-identifier list;</a:t>
            </a:r>
          </a:p>
          <a:p>
            <a:pPr marL="0" indent="0" algn="just">
              <a:buNone/>
            </a:pPr>
            <a:r>
              <a:rPr lang="en-US" sz="2000" b="1" dirty="0">
                <a:solidFill>
                  <a:srgbClr val="FF0000"/>
                </a:solidFill>
                <a:latin typeface="Times New Roman" panose="02020603050405020304" pitchFamily="18" charset="0"/>
                <a:cs typeface="Times New Roman" panose="02020603050405020304" pitchFamily="18" charset="0"/>
              </a:rPr>
              <a:t>For example:-                   </a:t>
            </a:r>
            <a:r>
              <a:rPr lang="en-US" sz="2000" b="1" dirty="0">
                <a:solidFill>
                  <a:schemeClr val="tx1"/>
                </a:solidFill>
                <a:latin typeface="Times New Roman" panose="02020603050405020304" pitchFamily="18" charset="0"/>
                <a:cs typeface="Times New Roman" panose="02020603050405020304" pitchFamily="18" charset="0"/>
              </a:rPr>
              <a:t>int a;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Rectangle 2"/>
          <p:cNvSpPr>
            <a:spLocks noGrp="1" noChangeArrowheads="1"/>
          </p:cNvSpPr>
          <p:nvPr>
            <p:ph type="title"/>
          </p:nvPr>
        </p:nvSpPr>
        <p:spPr/>
        <p:txBody>
          <a:bodyPr>
            <a:normAutofit/>
          </a:bodyPr>
          <a:lstStyle/>
          <a:p>
            <a:r>
              <a:rPr lang="en-US" sz="2800" b="1" dirty="0">
                <a:latin typeface="Times New Roman" pitchFamily="18" charset="0"/>
                <a:cs typeface="Times New Roman" pitchFamily="18" charset="0"/>
              </a:rPr>
              <a:t>O-O PRINCIPLES AND C++ CONSTRUCTS</a:t>
            </a:r>
          </a:p>
        </p:txBody>
      </p:sp>
      <p:sp>
        <p:nvSpPr>
          <p:cNvPr id="1048634" name="Rectangle 3"/>
          <p:cNvSpPr>
            <a:spLocks noGrp="1" noChangeArrowheads="1"/>
          </p:cNvSpPr>
          <p:nvPr>
            <p:ph idx="1"/>
          </p:nvPr>
        </p:nvSpPr>
        <p:spPr/>
        <p:txBody>
          <a:bodyPr>
            <a:normAutofit fontScale="96429"/>
          </a:bodyPr>
          <a:lstStyle/>
          <a:p>
            <a:endParaRPr lang="en-US" dirty="0"/>
          </a:p>
          <a:p>
            <a:pPr>
              <a:buFontTx/>
              <a:buNone/>
            </a:pPr>
            <a:r>
              <a:rPr lang="en-US" sz="2800" dirty="0">
                <a:latin typeface="Times New Roman" pitchFamily="18" charset="0"/>
                <a:cs typeface="Times New Roman" pitchFamily="18" charset="0"/>
              </a:rPr>
              <a:t>O-O Concept		C++ Construct(s)</a:t>
            </a:r>
          </a:p>
          <a:p>
            <a:pPr>
              <a:buFontTx/>
              <a:buNone/>
            </a:pPr>
            <a:endParaRPr lang="en-US" sz="2800" dirty="0">
              <a:latin typeface="Times New Roman" pitchFamily="18" charset="0"/>
              <a:cs typeface="Times New Roman" pitchFamily="18" charset="0"/>
            </a:endParaRPr>
          </a:p>
          <a:p>
            <a:pPr>
              <a:buFontTx/>
              <a:buNone/>
            </a:pPr>
            <a:r>
              <a:rPr lang="en-US" sz="2800" dirty="0">
                <a:latin typeface="Times New Roman" pitchFamily="18" charset="0"/>
                <a:cs typeface="Times New Roman" pitchFamily="18" charset="0"/>
              </a:rPr>
              <a:t>Abstraction			Classes </a:t>
            </a:r>
          </a:p>
          <a:p>
            <a:pPr>
              <a:buFontTx/>
              <a:buNone/>
            </a:pPr>
            <a:r>
              <a:rPr lang="en-US" sz="2800" dirty="0">
                <a:latin typeface="Times New Roman" pitchFamily="18" charset="0"/>
                <a:cs typeface="Times New Roman" pitchFamily="18" charset="0"/>
              </a:rPr>
              <a:t>Encapsulation		Classes</a:t>
            </a:r>
          </a:p>
          <a:p>
            <a:pPr>
              <a:buFontTx/>
              <a:buNone/>
            </a:pPr>
            <a:r>
              <a:rPr lang="en-US" sz="2800" dirty="0">
                <a:latin typeface="Times New Roman" pitchFamily="18" charset="0"/>
                <a:cs typeface="Times New Roman" pitchFamily="18" charset="0"/>
              </a:rPr>
              <a:t>Information Hiding	Public and Private Members</a:t>
            </a:r>
          </a:p>
          <a:p>
            <a:pPr>
              <a:buFontTx/>
              <a:buNone/>
            </a:pPr>
            <a:r>
              <a:rPr lang="en-US" sz="2800" dirty="0">
                <a:latin typeface="Times New Roman" pitchFamily="18" charset="0"/>
                <a:cs typeface="Times New Roman" pitchFamily="18" charset="0"/>
              </a:rPr>
              <a:t>Polymorphism		Operator overloading,</a:t>
            </a:r>
          </a:p>
          <a:p>
            <a:pPr>
              <a:buFontTx/>
              <a:buNone/>
            </a:pPr>
            <a:r>
              <a:rPr lang="en-US" sz="2800" dirty="0">
                <a:latin typeface="Times New Roman" pitchFamily="18" charset="0"/>
                <a:cs typeface="Times New Roman" pitchFamily="18" charset="0"/>
              </a:rPr>
              <a:t>	 				templates, virtual functions</a:t>
            </a:r>
          </a:p>
          <a:p>
            <a:pPr>
              <a:buFontTx/>
              <a:buNone/>
            </a:pPr>
            <a:r>
              <a:rPr lang="en-US" sz="2800" dirty="0">
                <a:latin typeface="Times New Roman" pitchFamily="18" charset="0"/>
                <a:cs typeface="Times New Roman" pitchFamily="18" charset="0"/>
              </a:rPr>
              <a:t>Inheritance			Derived Classes</a:t>
            </a:r>
          </a:p>
        </p:txBody>
      </p:sp>
      <p:sp>
        <p:nvSpPr>
          <p:cNvPr id="1048635" name="Line 4"/>
          <p:cNvSpPr>
            <a:spLocks noChangeShapeType="1"/>
          </p:cNvSpPr>
          <p:nvPr/>
        </p:nvSpPr>
        <p:spPr bwMode="auto">
          <a:xfrm>
            <a:off x="539750" y="2565400"/>
            <a:ext cx="7834313" cy="0"/>
          </a:xfrm>
          <a:prstGeom prst="line">
            <a:avLst/>
          </a:prstGeom>
          <a:noFill/>
          <a:ln w="38100">
            <a:solidFill>
              <a:schemeClr val="bg1"/>
            </a:solidFill>
            <a:round/>
            <a:headEnd/>
            <a:tailEnd/>
          </a:ln>
          <a:effectLst/>
        </p:spPr>
        <p:txBody>
          <a:bodyPr/>
          <a:lstStyle/>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ADVANTAGES  OF OOPS</a:t>
            </a:r>
            <a:endParaRPr lang="en-IN" sz="2800" b="1" dirty="0">
              <a:latin typeface="Times New Roman" panose="02020603050405020304" pitchFamily="18" charset="0"/>
              <a:cs typeface="Times New Roman" panose="02020603050405020304" pitchFamily="18" charset="0"/>
            </a:endParaRPr>
          </a:p>
        </p:txBody>
      </p:sp>
      <p:sp>
        <p:nvSpPr>
          <p:cNvPr id="1048640" name="Content Placeholder 2"/>
          <p:cNvSpPr>
            <a:spLocks noGrp="1"/>
          </p:cNvSpPr>
          <p:nvPr>
            <p:ph idx="1"/>
          </p:nvPr>
        </p:nvSpPr>
        <p:spPr/>
        <p:txBody>
          <a:bodyPr/>
          <a:lstStyle/>
          <a:p>
            <a:pPr>
              <a:buFont typeface="Wingdings" panose="05000000000000000000" pitchFamily="2" charset="2"/>
              <a:buChar char="Ø"/>
            </a:pPr>
            <a:r>
              <a:rPr lang="en-IN" sz="2400" dirty="0">
                <a:latin typeface="Times New Roman" pitchFamily="18" charset="0"/>
                <a:cs typeface="Times New Roman" pitchFamily="18" charset="0"/>
              </a:rPr>
              <a:t>Modularity for easier troubleshooting. Something has gone wrong, and you have no idea where to look. ...</a:t>
            </a:r>
          </a:p>
          <a:p>
            <a:pPr>
              <a:buFont typeface="Wingdings" panose="05000000000000000000" pitchFamily="2" charset="2"/>
              <a:buChar char="Ø"/>
            </a:pPr>
            <a:r>
              <a:rPr lang="en-IN" sz="2400" dirty="0">
                <a:latin typeface="Times New Roman" pitchFamily="18" charset="0"/>
                <a:cs typeface="Times New Roman" pitchFamily="18" charset="0"/>
              </a:rPr>
              <a:t>Reuse of code through inheritance. ...</a:t>
            </a:r>
          </a:p>
          <a:p>
            <a:pPr>
              <a:buFont typeface="Wingdings" panose="05000000000000000000" pitchFamily="2" charset="2"/>
              <a:buChar char="Ø"/>
            </a:pPr>
            <a:r>
              <a:rPr lang="en-IN" sz="2400" b="1" dirty="0">
                <a:latin typeface="Times New Roman" pitchFamily="18" charset="0"/>
                <a:cs typeface="Times New Roman" pitchFamily="18" charset="0"/>
              </a:rPr>
              <a:t>Flexibility</a:t>
            </a:r>
            <a:r>
              <a:rPr lang="en-IN" sz="2400" dirty="0">
                <a:latin typeface="Times New Roman" pitchFamily="18" charset="0"/>
                <a:cs typeface="Times New Roman" pitchFamily="18" charset="0"/>
              </a:rPr>
              <a:t> through polymorphism. ...</a:t>
            </a:r>
          </a:p>
          <a:p>
            <a:pPr>
              <a:buFont typeface="Wingdings" panose="05000000000000000000" pitchFamily="2" charset="2"/>
              <a:buChar char="Ø"/>
            </a:pPr>
            <a:r>
              <a:rPr lang="en-IN" sz="2400" dirty="0">
                <a:latin typeface="Times New Roman" pitchFamily="18" charset="0"/>
                <a:cs typeface="Times New Roman" pitchFamily="18" charset="0"/>
              </a:rPr>
              <a:t>Effective </a:t>
            </a:r>
            <a:r>
              <a:rPr lang="en-IN" sz="2400" b="1" dirty="0">
                <a:latin typeface="Times New Roman" pitchFamily="18" charset="0"/>
                <a:cs typeface="Times New Roman" pitchFamily="18" charset="0"/>
              </a:rPr>
              <a:t>problem solving</a:t>
            </a:r>
            <a:endParaRPr lang="en-IN" sz="2400" dirty="0">
              <a:latin typeface="Times New Roman" pitchFamily="18" charset="0"/>
              <a:cs typeface="Times New Roman" pitchFamily="18" charset="0"/>
            </a:endParaRPr>
          </a:p>
          <a:p>
            <a:pPr>
              <a:buNone/>
            </a:pPr>
            <a:endParaRPr lang="en-IN" dirty="0"/>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7056</TotalTime>
  <Words>1526</Words>
  <Application>Microsoft Office PowerPoint</Application>
  <PresentationFormat>On-screen Show (4:3)</PresentationFormat>
  <Paragraphs>144</Paragraphs>
  <Slides>17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Courier New</vt:lpstr>
      <vt:lpstr>Times New Roman</vt:lpstr>
      <vt:lpstr>Wingdings</vt:lpstr>
      <vt:lpstr>Theme1</vt:lpstr>
      <vt:lpstr>Computer Programming in C++  Unit-I C++ Overview </vt:lpstr>
      <vt:lpstr> INTRODUCTION TO PROCEDURE ORIENTED  PROGRAMMING</vt:lpstr>
      <vt:lpstr>CHARACTERISTICS OF PROCEDURE ORIENTED PROGRAMMING</vt:lpstr>
      <vt:lpstr>INTRODUCTION TO OBJECT  ORIENTED PROGRAMMING</vt:lpstr>
      <vt:lpstr>FEATURES OF OBJECT ORIENTED PROGRAMMING</vt:lpstr>
      <vt:lpstr>OBJECT ORIENTED PROGRAMMING  PARADIGM</vt:lpstr>
      <vt:lpstr>TERMINOLOGY OF OBJECT ORIENTED PROGRAMMING</vt:lpstr>
      <vt:lpstr>TERMINOLOGY OF OBJECT ORIENTED PROGRAMMING</vt:lpstr>
      <vt:lpstr>THE C++ LANGUAGE</vt:lpstr>
      <vt:lpstr>DESIGN OBJECTIVES IN C++</vt:lpstr>
      <vt:lpstr>NON OBJECT-ORIENTED  EXTENSIONS TO C</vt:lpstr>
      <vt:lpstr>BENEFITS OF OBJECT ORIENTED PROGRAMMING</vt:lpstr>
      <vt:lpstr>APPLICATIONS OF OBJECT ORIENTED PROGRAMMING</vt:lpstr>
      <vt:lpstr>FUNCTION DEFINITION AND DECLARATION</vt:lpstr>
      <vt:lpstr>VARIABLE DECLARATION IN  C++</vt:lpstr>
      <vt:lpstr>O-O PRINCIPLES AND C++ CONSTRUCTS</vt:lpstr>
      <vt:lpstr>ADVANTAGES  OF OOPS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Satyajeet Sharma</cp:lastModifiedBy>
  <cp:revision>677</cp:revision>
  <dcterms:created xsi:type="dcterms:W3CDTF">2013-04-03T07:38:34Z</dcterms:created>
  <dcterms:modified xsi:type="dcterms:W3CDTF">2025-02-09T11:58:34Z</dcterms:modified>
</cp:coreProperties>
</file>