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1" r:id="rId34"/>
    <p:sldId id="288" r:id="rId35"/>
    <p:sldId id="289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E9C8F5-0298-44DD-8F6F-916B931AF1B6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58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Untitled Section" id="{695B694A-EF53-4D51-AA56-BD334D859AC4}">
          <p14:sldIdLst>
            <p14:sldId id="284"/>
            <p14:sldId id="285"/>
            <p14:sldId id="286"/>
            <p14:sldId id="287"/>
            <p14:sldId id="291"/>
            <p14:sldId id="288"/>
            <p14:sldId id="289"/>
            <p14:sldId id="292"/>
            <p14:sldId id="293"/>
            <p14:sldId id="29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616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5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1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6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4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6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6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14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4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6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B5CB7-88E5-4DB9-9EA1-B2B4654F2D3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D60BB-4952-42C8-A798-83E0CD423D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JU_PPT-template_option1a.jpg">
            <a:extLst>
              <a:ext uri="{FF2B5EF4-FFF2-40B4-BE49-F238E27FC236}">
                <a16:creationId xmlns:a16="http://schemas.microsoft.com/office/drawing/2014/main" id="{494D1435-4E72-803D-4E34-34F51DE7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5CD9FD9-E288-ABB9-7995-9C199765D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44" y="2647468"/>
            <a:ext cx="752681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tabLst>
                <a:tab pos="1619250" algn="l"/>
              </a:tabLst>
              <a:defRPr/>
            </a:pPr>
            <a:r>
              <a:rPr lang="en-US" sz="27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Professional Skills</a:t>
            </a:r>
          </a:p>
          <a:p>
            <a:pPr marL="342900" indent="-342900" algn="ctr">
              <a:tabLst>
                <a:tab pos="1619250" algn="l"/>
              </a:tabLst>
              <a:defRPr/>
            </a:pPr>
            <a:r>
              <a:rPr lang="en-US" sz="27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Unit-2</a:t>
            </a:r>
          </a:p>
          <a:p>
            <a:pPr marL="342900" indent="-342900" algn="ctr">
              <a:tabLst>
                <a:tab pos="1619250" algn="l"/>
              </a:tabLst>
              <a:defRPr/>
            </a:pPr>
            <a:r>
              <a:rPr lang="en-US" sz="27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Group Discussion Skills and Exploring Career Opportunities</a:t>
            </a:r>
          </a:p>
        </p:txBody>
      </p:sp>
      <p:pic>
        <p:nvPicPr>
          <p:cNvPr id="6" name="Picture 2" descr="D:\job\jecrc\images for ppt\slide1_1.png">
            <a:extLst>
              <a:ext uri="{FF2B5EF4-FFF2-40B4-BE49-F238E27FC236}">
                <a16:creationId xmlns:a16="http://schemas.microsoft.com/office/drawing/2014/main" id="{7D1FC124-09CE-E144-BBB3-D5420C8A5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50957"/>
          <a:stretch>
            <a:fillRect/>
          </a:stretch>
        </p:blipFill>
        <p:spPr bwMode="auto">
          <a:xfrm>
            <a:off x="2645852" y="0"/>
            <a:ext cx="3852295" cy="1476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D:\job\jecrc\images for ppt\slide1.png">
            <a:extLst>
              <a:ext uri="{FF2B5EF4-FFF2-40B4-BE49-F238E27FC236}">
                <a16:creationId xmlns:a16="http://schemas.microsoft.com/office/drawing/2014/main" id="{E5351785-692A-BB80-C348-1428D0794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29401" y="4914899"/>
            <a:ext cx="2654656" cy="186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3318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823659-3E61-8F7A-FFC6-2A00DB389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A8472-DD4E-4A92-C42F-977E5C18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05" y="629036"/>
            <a:ext cx="6713838" cy="639890"/>
          </a:xfrm>
        </p:spPr>
        <p:txBody>
          <a:bodyPr>
            <a:noAutofit/>
          </a:bodyPr>
          <a:lstStyle/>
          <a:p>
            <a:r>
              <a:rPr lang="en-US" sz="3600" b="1" dirty="0"/>
              <a:t>Meaning of Group Discussion (GD)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408B-6726-F993-47D3-FC7B1CAB7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GD is a systematic and purposeful oral process.</a:t>
            </a:r>
          </a:p>
          <a:p>
            <a:r>
              <a:rPr lang="en-US" dirty="0"/>
              <a:t>Characterized by formal and structured exchange of views.</a:t>
            </a:r>
          </a:p>
          <a:p>
            <a:r>
              <a:rPr lang="en-US" dirty="0"/>
              <a:t>Focus on a topic, issue, problem, or situation.</a:t>
            </a:r>
          </a:p>
          <a:p>
            <a:r>
              <a:rPr lang="en-US" dirty="0"/>
              <a:t>Aims to develop information and understanding for decision‑making or problem‑solving.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83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1A7D-ED50-814B-1DF4-5CE61745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04B976-D46B-B641-F50D-2D5E83CD0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4F1C0-7A26-E11C-8C55-6671B59F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Why GD Skills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3ACC-0535-5358-8D31-C2B08B944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Twelve learners participated in the Group Discussion phase for hiring in a reputed company.</a:t>
            </a:r>
          </a:p>
          <a:p>
            <a:r>
              <a:rPr lang="en-US" dirty="0"/>
              <a:t>Only two out of twelve were selected.</a:t>
            </a:r>
          </a:p>
          <a:p>
            <a:r>
              <a:rPr lang="en-US" dirty="0"/>
              <a:t>Faculty can initiate discussion on reasons and significance of GD in selection.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78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3A5D-0D4C-D803-2515-5A3F58F1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940289-1BE8-89FA-54DC-B294D2F71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128DF-1307-EF7E-7A88-42B3E673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46" y="385999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GD in Selection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57FF-797A-7E1A-08D3-A23CDFDDF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GD is a methodology used by organizations (companies, institutes, business schools).</a:t>
            </a:r>
          </a:p>
          <a:p>
            <a:r>
              <a:rPr lang="en-US" dirty="0"/>
              <a:t>Used to gauge whether a candidate has suitable skills and personality traits for a particular job position.</a:t>
            </a:r>
          </a:p>
          <a:p>
            <a:r>
              <a:rPr lang="en-US" dirty="0"/>
              <a:t>Group is given a topic/situation and some thinking time.</a:t>
            </a:r>
          </a:p>
          <a:p>
            <a:r>
              <a:rPr lang="en-US" dirty="0"/>
              <a:t>Members then discuss it among themselves for a specific duration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209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89F89-89B0-6961-FEE4-30C13BA6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FB5F0-CF60-9A83-A201-0C73F8808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A785BE-742B-DF31-CBDF-8202D81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Autofit/>
          </a:bodyPr>
          <a:lstStyle/>
          <a:p>
            <a:r>
              <a:rPr lang="en-IN" sz="3600" b="1" dirty="0"/>
              <a:t>Importance of Group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E6057-EA1D-CB1F-4414-DDFCDD5DF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purpose: identify essential skills in a candidate.</a:t>
            </a:r>
          </a:p>
          <a:p>
            <a:r>
              <a:rPr lang="en-US" dirty="0"/>
              <a:t>Helps in final selection based on skills observed in GD.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84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C846E-C253-ED48-D7AE-55DA7C5C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E32441-8FC7-4AD4-86A6-C7B5C85B9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2E2311-C0C4-C0FA-7121-F1327345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579310"/>
            <a:ext cx="6713838" cy="639890"/>
          </a:xfrm>
        </p:spPr>
        <p:txBody>
          <a:bodyPr>
            <a:noAutofit/>
          </a:bodyPr>
          <a:lstStyle/>
          <a:p>
            <a:r>
              <a:rPr lang="en-IN" sz="3600" b="1" dirty="0"/>
              <a:t>Importance – Interactive Skills</a:t>
            </a:r>
            <a:br>
              <a:rPr lang="en-IN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DAA7-86E0-8B00-E62B-6725B7E68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skills are most important under judgment in a GD.</a:t>
            </a:r>
          </a:p>
          <a:p>
            <a:r>
              <a:rPr lang="en-US" dirty="0"/>
              <a:t>Candidate must communicate thoughts verbally (words).</a:t>
            </a:r>
          </a:p>
          <a:p>
            <a:r>
              <a:rPr lang="en-US" dirty="0"/>
              <a:t>Also communicate non‑verbally (gestures)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00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BD67-D9FC-75D2-5A9D-B9BD20DC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346456-423A-A9EE-6958-F195CEA28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DE9B05-F767-CA5F-EF51-BB23C63B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Importance – Leadership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7946-842A-5D0B-8956-66C14FD1E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 steers topic in the right direction.</a:t>
            </a:r>
          </a:p>
          <a:p>
            <a:r>
              <a:rPr lang="en-US" dirty="0"/>
              <a:t>Encourages other members to share their views.</a:t>
            </a:r>
          </a:p>
          <a:p>
            <a:r>
              <a:rPr lang="en-US" dirty="0"/>
              <a:t>Helps others build a place for themselves.</a:t>
            </a:r>
          </a:p>
          <a:p>
            <a:r>
              <a:rPr lang="en-US" dirty="0"/>
              <a:t>Panel checks if you are that person.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43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C7B0-5DBE-A68B-554A-C3F99107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B13BD7-1C72-F413-5587-2A7D9EE58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AD6FAA-387A-583C-CF92-4DF197C6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623139"/>
            <a:ext cx="7066778" cy="639890"/>
          </a:xfrm>
        </p:spPr>
        <p:txBody>
          <a:bodyPr>
            <a:noAutofit/>
          </a:bodyPr>
          <a:lstStyle/>
          <a:p>
            <a:r>
              <a:rPr lang="en-IN" sz="3600" b="1" dirty="0"/>
              <a:t>Importance– Flexibility &amp; Creativity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73E54-9D31-89D0-F692-7B0EC6FA6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Flexibility:</a:t>
            </a:r>
          </a:p>
          <a:p>
            <a:pPr lvl="1"/>
            <a:r>
              <a:rPr lang="en-US" dirty="0"/>
              <a:t>Not sticking to one point blindly.</a:t>
            </a:r>
          </a:p>
          <a:p>
            <a:pPr lvl="1"/>
            <a:r>
              <a:rPr lang="en-US" dirty="0"/>
              <a:t>Accepting logic given by others.</a:t>
            </a:r>
          </a:p>
          <a:p>
            <a:pPr lvl="1"/>
            <a:r>
              <a:rPr lang="en-US" dirty="0"/>
              <a:t>Being stubborn is judged negatively.</a:t>
            </a:r>
          </a:p>
          <a:p>
            <a:r>
              <a:rPr lang="en-US" dirty="0"/>
              <a:t>Creativity:</a:t>
            </a:r>
          </a:p>
          <a:p>
            <a:pPr lvl="1"/>
            <a:r>
              <a:rPr lang="en-US" dirty="0"/>
              <a:t>Essential to reach the right solution.</a:t>
            </a:r>
          </a:p>
          <a:p>
            <a:pPr lvl="1"/>
            <a:r>
              <a:rPr lang="en-US" dirty="0"/>
              <a:t>Team members should have distinct ideas.</a:t>
            </a:r>
          </a:p>
          <a:p>
            <a:pPr lvl="1"/>
            <a:r>
              <a:rPr lang="en-US" dirty="0"/>
              <a:t>How you approach the topic and what you make of the discussion.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71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B3E-90CC-A0C1-D0D9-2B9105E2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B72CBC-58A8-61E6-E700-F576617B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8E562A-EDA3-38BF-F635-7F6CD3C60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665" y="426009"/>
            <a:ext cx="7554097" cy="639890"/>
          </a:xfrm>
        </p:spPr>
        <p:txBody>
          <a:bodyPr>
            <a:noAutofit/>
          </a:bodyPr>
          <a:lstStyle/>
          <a:p>
            <a:r>
              <a:rPr lang="en-US" sz="2800" b="1" dirty="0"/>
              <a:t>Importance – Initiation, Awareness, Confidence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E2C7-519C-FEF0-795F-C4C0E3CE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Initiation:</a:t>
            </a:r>
          </a:p>
          <a:p>
            <a:pPr lvl="1"/>
            <a:r>
              <a:rPr lang="en-US" dirty="0"/>
              <a:t>Team members must take initiative for project success.</a:t>
            </a:r>
          </a:p>
          <a:p>
            <a:pPr lvl="1"/>
            <a:r>
              <a:rPr lang="en-US" dirty="0"/>
              <a:t>Panel identifies those who take initiative with substantial points.</a:t>
            </a:r>
          </a:p>
          <a:p>
            <a:r>
              <a:rPr lang="en-US" dirty="0"/>
              <a:t>Awareness:</a:t>
            </a:r>
          </a:p>
          <a:p>
            <a:pPr lvl="1"/>
            <a:r>
              <a:rPr lang="en-US" dirty="0"/>
              <a:t>Reading a lot and staying aware of current events boosts confidence.</a:t>
            </a:r>
          </a:p>
          <a:p>
            <a:r>
              <a:rPr lang="en-US" dirty="0"/>
              <a:t>Confidence:</a:t>
            </a:r>
          </a:p>
          <a:p>
            <a:pPr lvl="1"/>
            <a:r>
              <a:rPr lang="en-US" dirty="0"/>
              <a:t>Overall conduct during GD shows confidence in self and in what you say.</a:t>
            </a:r>
          </a:p>
          <a:p>
            <a:pPr lvl="1"/>
            <a:r>
              <a:rPr lang="en-US" dirty="0"/>
              <a:t>Do not snatch limelight by speaking when it is another’s turn; it looks impolite and insecure.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75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B2AC-EDA9-4654-042F-EE113AC3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861C40-240D-BB6D-2CEB-2B5DB3755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29E726-E19D-16F1-3796-CF8DFCDA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Autofit/>
          </a:bodyPr>
          <a:lstStyle/>
          <a:p>
            <a:r>
              <a:rPr lang="en-US" sz="3200" b="1" dirty="0"/>
              <a:t>Types of Group Discussions – Overview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7B12-DE29-7B80-4092-C0D80E02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GDs can be:</a:t>
            </a:r>
          </a:p>
          <a:p>
            <a:r>
              <a:rPr lang="en-US" dirty="0"/>
              <a:t>Topic‑based</a:t>
            </a:r>
          </a:p>
          <a:p>
            <a:r>
              <a:rPr lang="en-US" dirty="0"/>
              <a:t>Case‑based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50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57F3-5EA9-20A4-0E8C-B0DE315F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E07CC5-6028-64AA-6019-EA7510678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6A3EC-788F-441A-50A2-27FB432E1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Autofit/>
          </a:bodyPr>
          <a:lstStyle/>
          <a:p>
            <a:r>
              <a:rPr lang="en-US" sz="3600" b="1" dirty="0"/>
              <a:t>Topic‑Based GDs – Factual Topics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1E180-9E53-8F30-4853-52763E662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practical things in day‑to‑day life.</a:t>
            </a:r>
          </a:p>
          <a:p>
            <a:r>
              <a:rPr lang="en-US" dirty="0"/>
              <a:t>Often current socio‑economic topics, sometimes timeless.</a:t>
            </a:r>
          </a:p>
          <a:p>
            <a:r>
              <a:rPr lang="en-US" dirty="0"/>
              <a:t>Give a chance to show awareness and sensitivity to environment.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The education policy of India</a:t>
            </a:r>
          </a:p>
          <a:p>
            <a:pPr lvl="1"/>
            <a:r>
              <a:rPr lang="en-US" dirty="0"/>
              <a:t>Tourism in India</a:t>
            </a:r>
          </a:p>
          <a:p>
            <a:pPr lvl="1"/>
            <a:r>
              <a:rPr lang="en-US" dirty="0"/>
              <a:t>WTO and its impact on the Indian Economy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15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9D4C-6B74-DB64-0B21-855ACF53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3F694-6FAD-BD8D-DF49-CCFA1CFBD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6908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DB404C-0B22-0B77-6D20-54A2E468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5902" y="499474"/>
            <a:ext cx="7405816" cy="639890"/>
          </a:xfrm>
        </p:spPr>
        <p:txBody>
          <a:bodyPr>
            <a:noAutofit/>
          </a:bodyPr>
          <a:lstStyle/>
          <a:p>
            <a:r>
              <a:rPr lang="en-US" sz="3200" b="1" dirty="0"/>
              <a:t>Topic‑Based GDs – Controversial &amp; Abstract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8136C-A5E6-4FA6-E68B-C2F539D9B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Controversial topics:</a:t>
            </a:r>
          </a:p>
          <a:p>
            <a:pPr lvl="1"/>
            <a:r>
              <a:rPr lang="en-US" dirty="0"/>
              <a:t>Argumentative, meant to generate controversy.</a:t>
            </a:r>
          </a:p>
          <a:p>
            <a:pPr lvl="1"/>
            <a:r>
              <a:rPr lang="en-US" dirty="0"/>
              <a:t>Test maturity, ability to stay calm, argue logically without getting personal or emotional.</a:t>
            </a:r>
          </a:p>
          <a:p>
            <a:pPr lvl="1"/>
            <a:r>
              <a:rPr lang="en-US" dirty="0"/>
              <a:t>Examples: Demonetization as a successful move; Caste‑based reservation vs economic status; education of parents.</a:t>
            </a:r>
          </a:p>
          <a:p>
            <a:r>
              <a:rPr lang="en-US" dirty="0"/>
              <a:t>Abstract topics:</a:t>
            </a:r>
          </a:p>
          <a:p>
            <a:pPr lvl="1"/>
            <a:r>
              <a:rPr lang="en-US" dirty="0"/>
              <a:t>About intangible things.</a:t>
            </a:r>
          </a:p>
          <a:p>
            <a:pPr lvl="1"/>
            <a:r>
              <a:rPr lang="en-US" dirty="0"/>
              <a:t>Test lateral thinking and creativity.</a:t>
            </a:r>
          </a:p>
          <a:p>
            <a:pPr lvl="1"/>
            <a:r>
              <a:rPr lang="en-US" dirty="0"/>
              <a:t>Examples: Every cloud has a silver lining; Smart work versus hard work.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08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ADEE-74C0-4DE8-264A-0D118803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5CDFD0-D98E-E0C8-28AE-01216F960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BDCFEC-1E13-E668-4168-3DF26F2F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8" y="68103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Case‑Based GDs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C264-081C-588C-9943-79CD06204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a case instead of a topic.</a:t>
            </a:r>
          </a:p>
          <a:p>
            <a:r>
              <a:rPr lang="en-US" dirty="0"/>
              <a:t>Case simulates a real‑life situation.</a:t>
            </a:r>
          </a:p>
          <a:p>
            <a:r>
              <a:rPr lang="en-US" dirty="0"/>
              <a:t>Group receives information and must resolve the situation.</a:t>
            </a:r>
          </a:p>
          <a:p>
            <a:r>
              <a:rPr lang="en-US" dirty="0"/>
              <a:t>No incorrect answers or perfect solutions.</a:t>
            </a:r>
          </a:p>
          <a:p>
            <a:r>
              <a:rPr lang="en-US" dirty="0"/>
              <a:t>Objective: think about situation from various angles.</a:t>
            </a:r>
          </a:p>
          <a:p>
            <a:r>
              <a:rPr lang="en-US" dirty="0"/>
              <a:t>Management institutes often prefer case‑based </a:t>
            </a:r>
            <a:r>
              <a:rPr lang="en-US" dirty="0" err="1"/>
              <a:t>GDs.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2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CFF9-3621-3343-019E-E07018A8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4101E8-6599-B987-CAC0-2B78898F9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48D575-AE42-FC99-4EFF-D3CB2B7A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GD Methodology –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9C11-E224-9C45-03FE-913DB1FC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 to 10 participants.</a:t>
            </a:r>
          </a:p>
          <a:p>
            <a:r>
              <a:rPr lang="en-US" dirty="0"/>
              <a:t>Seating: semi‑circle or U‑shaped; sometimes round table.</a:t>
            </a:r>
          </a:p>
          <a:p>
            <a:r>
              <a:rPr lang="en-US" dirty="0" err="1"/>
              <a:t>Panellists</a:t>
            </a:r>
            <a:r>
              <a:rPr lang="en-US" dirty="0"/>
              <a:t> sit in front or observe from a distance.</a:t>
            </a:r>
          </a:p>
          <a:p>
            <a:r>
              <a:rPr lang="en-US" dirty="0"/>
              <a:t>GD duration depends on the organization/institute.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55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FB5C-710B-84F2-A1B4-D10147DD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74F29E-EC1F-D81F-B047-605CAA153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BD10A-EEF6-AE89-63C0-F36249FAF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4" y="595786"/>
            <a:ext cx="6713838" cy="639890"/>
          </a:xfrm>
        </p:spPr>
        <p:txBody>
          <a:bodyPr>
            <a:noAutofit/>
          </a:bodyPr>
          <a:lstStyle/>
          <a:p>
            <a:r>
              <a:rPr lang="en-IN" sz="3200" b="1" dirty="0"/>
              <a:t>GD Methodology – Roles &amp; Language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086FB-48EF-6981-A259-13710314D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Roles candidates may play: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Initiator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Data giver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Critic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Supporter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Listener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Questioner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Traffic policeman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Spectator/observer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Leader (coordinator)</a:t>
            </a:r>
          </a:p>
          <a:p>
            <a:r>
              <a:rPr lang="en-US" dirty="0"/>
              <a:t>Many candidates naturally behave in certain roles.</a:t>
            </a:r>
          </a:p>
          <a:p>
            <a:r>
              <a:rPr lang="en-US" dirty="0"/>
              <a:t>English is the common language.</a:t>
            </a:r>
          </a:p>
          <a:p>
            <a:r>
              <a:rPr lang="en-US" dirty="0"/>
              <a:t>Panel evaluates leadership potential and ability to work in teams.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676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32CC-4931-41CF-3622-D9F3E5C3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A39C1A-31D8-73E9-9225-9F8F95CF4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0EB052-63BB-2DDC-B48B-A0A2815D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17" y="681037"/>
            <a:ext cx="6713838" cy="639890"/>
          </a:xfrm>
        </p:spPr>
        <p:txBody>
          <a:bodyPr>
            <a:noAutofit/>
          </a:bodyPr>
          <a:lstStyle/>
          <a:p>
            <a:r>
              <a:rPr lang="en-US" sz="4000" b="1" dirty="0"/>
              <a:t>Ground Rules for GD – Part 1</a:t>
            </a:r>
            <a:br>
              <a:rPr lang="en-US" sz="4000" b="1" dirty="0"/>
            </a:b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F595-5508-6F2F-FA62-B07BFDF79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Respectful attitude:</a:t>
            </a:r>
          </a:p>
          <a:p>
            <a:pPr lvl="1"/>
            <a:r>
              <a:rPr lang="en-US" dirty="0"/>
              <a:t>Treat everyone with respect.</a:t>
            </a:r>
          </a:p>
          <a:p>
            <a:pPr lvl="1"/>
            <a:r>
              <a:rPr lang="en-US" dirty="0"/>
              <a:t>No name‑calling, emotional outbursts, or accusations.</a:t>
            </a:r>
          </a:p>
          <a:p>
            <a:r>
              <a:rPr lang="en-US" dirty="0"/>
              <a:t>No personalized arguments:</a:t>
            </a:r>
          </a:p>
          <a:p>
            <a:pPr lvl="1"/>
            <a:r>
              <a:rPr lang="en-US" dirty="0"/>
              <a:t>Argue with ideas and opinions, not people.</a:t>
            </a:r>
          </a:p>
          <a:p>
            <a:pPr lvl="1"/>
            <a:r>
              <a:rPr lang="en-US" dirty="0"/>
              <a:t>Disagree respectfully, with no ridicule.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07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78B97-FE90-B11A-AA03-5A5B9AC3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BD9DC-26B8-6F67-DC7E-B4F95295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FFEBC-651B-117F-EB4B-C27656DB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68103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Ground Rules for GD – Part 2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B384A-D2FF-ECAA-030B-895CEC80B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Avoid interruption:</a:t>
            </a:r>
          </a:p>
          <a:p>
            <a:pPr lvl="1"/>
            <a:r>
              <a:rPr lang="en-US" dirty="0"/>
              <a:t>Listen to thoughts completely.</a:t>
            </a:r>
          </a:p>
          <a:p>
            <a:pPr lvl="1"/>
            <a:r>
              <a:rPr lang="en-US" dirty="0"/>
              <a:t>Actually listen instead of preparing your response.</a:t>
            </a:r>
          </a:p>
          <a:p>
            <a:r>
              <a:rPr lang="en-US" dirty="0"/>
              <a:t>Respect time:</a:t>
            </a:r>
          </a:p>
          <a:p>
            <a:pPr lvl="1"/>
            <a:r>
              <a:rPr lang="en-US" dirty="0"/>
              <a:t>Keep comments short and to the point.</a:t>
            </a:r>
          </a:p>
          <a:p>
            <a:pPr lvl="1"/>
            <a:r>
              <a:rPr lang="en-US" dirty="0"/>
              <a:t>Allow others a chance to respond.</a:t>
            </a:r>
          </a:p>
          <a:p>
            <a:r>
              <a:rPr lang="en-US" dirty="0"/>
              <a:t>Consider all comments seriously:</a:t>
            </a:r>
          </a:p>
          <a:p>
            <a:pPr lvl="1"/>
            <a:r>
              <a:rPr lang="en-US" dirty="0"/>
              <a:t>Evaluate comments fairly.</a:t>
            </a:r>
          </a:p>
          <a:p>
            <a:pPr lvl="1"/>
            <a:r>
              <a:rPr lang="en-US" dirty="0"/>
              <a:t>Stay open to ideas; they may change your mind.</a:t>
            </a:r>
          </a:p>
          <a:p>
            <a:r>
              <a:rPr lang="en-US" dirty="0"/>
              <a:t>Do not be defensive:</a:t>
            </a:r>
          </a:p>
          <a:p>
            <a:pPr lvl="1"/>
            <a:r>
              <a:rPr lang="en-US" dirty="0"/>
              <a:t>If someone disagrees, do not be offended.</a:t>
            </a:r>
          </a:p>
          <a:p>
            <a:pPr lvl="1"/>
            <a:r>
              <a:rPr lang="en-US" dirty="0"/>
              <a:t>Evaluate both positions and argue only if you still believe you are right.</a:t>
            </a:r>
          </a:p>
          <a:p>
            <a:r>
              <a:rPr lang="en-US" dirty="0"/>
              <a:t>Everyone is responsible for following ground rules.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055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C0A31-8925-1C09-71AA-6BC655B0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D77C0B-1FC9-88FF-753E-F8576DCF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52AFEA-1426-13DC-7D9C-466D31AA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" y="587549"/>
            <a:ext cx="7099729" cy="639890"/>
          </a:xfrm>
        </p:spPr>
        <p:txBody>
          <a:bodyPr>
            <a:noAutofit/>
          </a:bodyPr>
          <a:lstStyle/>
          <a:p>
            <a:r>
              <a:rPr lang="en-US" sz="2800" b="1" dirty="0"/>
              <a:t>Stages of Group Formation – Influencing Factors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D0C3E-E8FF-D6D1-2AE9-A9C1B4C2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functions and personal relations influence group development.</a:t>
            </a:r>
          </a:p>
          <a:p>
            <a:r>
              <a:rPr lang="en-US" dirty="0"/>
              <a:t>Group formation influenced by:</a:t>
            </a:r>
          </a:p>
          <a:p>
            <a:pPr lvl="1"/>
            <a:r>
              <a:rPr lang="en-US" dirty="0"/>
              <a:t>Personal characteristics (similar beliefs, attitudes, values).</a:t>
            </a:r>
          </a:p>
          <a:p>
            <a:pPr lvl="1"/>
            <a:r>
              <a:rPr lang="en-US" dirty="0"/>
              <a:t>Opportunity for interaction uncovering commonalities.</a:t>
            </a:r>
          </a:p>
          <a:p>
            <a:pPr lvl="1"/>
            <a:r>
              <a:rPr lang="en-US" dirty="0"/>
              <a:t>Sharing similar interests and goals.</a:t>
            </a:r>
          </a:p>
          <a:p>
            <a:pPr lvl="1"/>
            <a:r>
              <a:rPr lang="en-US" dirty="0"/>
              <a:t>Greater power and influence of group vs individual.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695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8F76-A7DE-E086-F429-01F9386F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862E90-7FBA-0C9F-9BE2-74945233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3B036B-3ACF-7EBC-72A9-0934556A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2" y="36512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Five Stages of Group 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C152-3D58-38F5-B3A1-73DE68C9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Setting‑up stage (forming):</a:t>
            </a:r>
          </a:p>
          <a:p>
            <a:pPr lvl="1"/>
            <a:r>
              <a:rPr lang="en-US" dirty="0"/>
              <a:t>Confusion and uncertainty; first step in group formation.</a:t>
            </a:r>
          </a:p>
          <a:p>
            <a:pPr lvl="1"/>
            <a:r>
              <a:rPr lang="en-US" dirty="0"/>
              <a:t>Eased by a leader.</a:t>
            </a:r>
          </a:p>
          <a:p>
            <a:r>
              <a:rPr lang="en-US" dirty="0"/>
              <a:t>Conflict stage (storming):</a:t>
            </a:r>
          </a:p>
          <a:p>
            <a:pPr lvl="1"/>
            <a:r>
              <a:rPr lang="en-US" dirty="0"/>
              <a:t>Hostility due to internal struggle for leadership.</a:t>
            </a:r>
          </a:p>
          <a:p>
            <a:pPr lvl="1"/>
            <a:r>
              <a:rPr lang="en-US" dirty="0"/>
              <a:t>Initial tensions and conflicts arise.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641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25B48-9C82-B73A-1C98-05C564BE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3C657B-50E0-9EE3-D68E-6277FC136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5EE01-C737-ACB9-E0B6-17E55969A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16" y="97472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Group Formation – Later Stages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D9592-888D-1D6C-9F56-6D5078163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Cohesion stage (norming):</a:t>
            </a:r>
          </a:p>
          <a:p>
            <a:pPr lvl="1"/>
            <a:r>
              <a:rPr lang="en-US" dirty="0"/>
              <a:t>Friendships and mutual support develop.</a:t>
            </a:r>
          </a:p>
          <a:p>
            <a:pPr lvl="1"/>
            <a:r>
              <a:rPr lang="en-US" dirty="0"/>
              <a:t>Group accepts certain norms/rules.</a:t>
            </a:r>
          </a:p>
          <a:p>
            <a:r>
              <a:rPr lang="en-US" dirty="0"/>
              <a:t>Effectiveness stage (performing):</a:t>
            </a:r>
          </a:p>
          <a:p>
            <a:pPr lvl="1"/>
            <a:r>
              <a:rPr lang="en-US" dirty="0"/>
              <a:t>Group becomes an effective team.</a:t>
            </a:r>
          </a:p>
          <a:p>
            <a:pPr lvl="1"/>
            <a:r>
              <a:rPr lang="en-US" dirty="0"/>
              <a:t>Members interdependent, relations based on mutual trust.</a:t>
            </a:r>
          </a:p>
          <a:p>
            <a:pPr lvl="1"/>
            <a:r>
              <a:rPr lang="en-US" dirty="0"/>
              <a:t>Work harmonious and synergistic; high engagement with common objectives.</a:t>
            </a:r>
          </a:p>
          <a:p>
            <a:r>
              <a:rPr lang="en-US" dirty="0"/>
              <a:t>Dismantling stage:</a:t>
            </a:r>
          </a:p>
          <a:p>
            <a:pPr lvl="1"/>
            <a:r>
              <a:rPr lang="en-US" dirty="0"/>
              <a:t>Happens when objectives are completed and/or some members depart.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784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4801-8B67-46AB-2169-2011B6FB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7B7338-5FFD-4473-FB2A-4217F572F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F55F1D-2F7E-5368-C38E-2102FF7F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17" y="68103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Evaluation of GD – Initiative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926A-7526-9D34-A8EA-C68717FD6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Initiative: ability to give directional inputs and flowchart for discussion.</a:t>
            </a:r>
          </a:p>
          <a:p>
            <a:r>
              <a:rPr lang="en-US" dirty="0"/>
              <a:t>Not just about speaking first.</a:t>
            </a:r>
          </a:p>
          <a:p>
            <a:r>
              <a:rPr lang="en-US" dirty="0"/>
              <a:t>Even later speakers may show high initiative by adding new and relevant points.</a:t>
            </a:r>
          </a:p>
          <a:p>
            <a:r>
              <a:rPr lang="en-US" dirty="0"/>
              <a:t>Components of right initiative:</a:t>
            </a:r>
          </a:p>
          <a:p>
            <a:pPr lvl="1"/>
            <a:r>
              <a:rPr lang="en-US" dirty="0"/>
              <a:t>Clarity: clear thought process, channelizing discussion.</a:t>
            </a:r>
          </a:p>
          <a:p>
            <a:pPr lvl="1"/>
            <a:r>
              <a:rPr lang="en-US" dirty="0"/>
              <a:t>Content: adding discrete subject matter; strong current affairs and environmental sensitivity.</a:t>
            </a:r>
          </a:p>
          <a:p>
            <a:pPr lvl="1"/>
            <a:r>
              <a:rPr lang="en-US" dirty="0"/>
              <a:t>Confidence: comfort in interacting with group members and participating confidently.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102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9ABDC-94D8-1548-05F3-28B3B2A7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B56CDA-3906-06F5-535C-6A267B74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0C65B6-5102-4253-413D-7D2235AC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4" y="681037"/>
            <a:ext cx="6713838" cy="639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Evaluation of GD – Contribution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10EAB-5BCC-AA19-EE7E-4D4624AE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Action/reaction:</a:t>
            </a:r>
          </a:p>
          <a:p>
            <a:pPr lvl="1"/>
            <a:r>
              <a:rPr lang="en-US" dirty="0"/>
              <a:t>Initiating an argument with respect to topic and content.</a:t>
            </a:r>
          </a:p>
          <a:p>
            <a:pPr lvl="1"/>
            <a:r>
              <a:rPr lang="en-US" dirty="0"/>
              <a:t>Reacting may show agreement or disagreement.</a:t>
            </a:r>
          </a:p>
          <a:p>
            <a:pPr lvl="1"/>
            <a:r>
              <a:rPr lang="en-US" dirty="0"/>
              <a:t>Agreement: add value with illustrations or examples.</a:t>
            </a:r>
          </a:p>
          <a:p>
            <a:pPr lvl="1"/>
            <a:r>
              <a:rPr lang="en-US" dirty="0"/>
              <a:t>Disagreement: support contradiction with effective arguments.</a:t>
            </a:r>
          </a:p>
          <a:p>
            <a:r>
              <a:rPr lang="en-US" dirty="0"/>
              <a:t>Roles:</a:t>
            </a:r>
          </a:p>
          <a:p>
            <a:pPr lvl="1"/>
            <a:r>
              <a:rPr lang="en-US" dirty="0"/>
              <a:t>Leader: leads discussion and motivates team members.</a:t>
            </a:r>
          </a:p>
          <a:p>
            <a:pPr lvl="1"/>
            <a:r>
              <a:rPr lang="en-US" dirty="0"/>
              <a:t>Fountainhead: adds new and relevant points to keep discussion active.</a:t>
            </a:r>
          </a:p>
          <a:p>
            <a:pPr lvl="1"/>
            <a:r>
              <a:rPr lang="en-US" dirty="0"/>
              <a:t>Piggy rider: cleverly builds on others’ points; must be smart and fluent.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605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D7F9-AD2E-5AE0-548D-9A668AA2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7E9745-B033-E93C-87E8-AB066FD3C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086F3F-5875-EA0D-C1FF-769211AC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2349"/>
            <a:ext cx="7570573" cy="639890"/>
          </a:xfrm>
        </p:spPr>
        <p:txBody>
          <a:bodyPr>
            <a:noAutofit/>
          </a:bodyPr>
          <a:lstStyle/>
          <a:p>
            <a:r>
              <a:rPr lang="en-US" sz="3200" b="1" dirty="0"/>
              <a:t>Evaluation of GD – Nature of Contribution</a:t>
            </a:r>
            <a:br>
              <a:rPr lang="en-US" sz="3200" b="1" dirty="0"/>
            </a:br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CADB5-5321-590B-C17C-627485EE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Positive contribution:</a:t>
            </a:r>
          </a:p>
          <a:p>
            <a:pPr lvl="1"/>
            <a:r>
              <a:rPr lang="en-US" dirty="0"/>
              <a:t>Creates learning and participative environment.</a:t>
            </a:r>
          </a:p>
          <a:p>
            <a:pPr lvl="1"/>
            <a:r>
              <a:rPr lang="en-US" dirty="0"/>
              <a:t>Does not dampen spirits of others.</a:t>
            </a:r>
          </a:p>
          <a:p>
            <a:r>
              <a:rPr lang="en-US" dirty="0"/>
              <a:t>Negative contribution:</a:t>
            </a:r>
          </a:p>
          <a:p>
            <a:pPr lvl="1"/>
            <a:r>
              <a:rPr lang="en-US" dirty="0"/>
              <a:t>Impedes meaningful discussion.</a:t>
            </a:r>
          </a:p>
          <a:p>
            <a:pPr lvl="1"/>
            <a:r>
              <a:rPr lang="en-US" dirty="0"/>
              <a:t>Shows objectionable </a:t>
            </a:r>
            <a:r>
              <a:rPr lang="en-US" dirty="0" err="1"/>
              <a:t>behaviour</a:t>
            </a:r>
            <a:r>
              <a:rPr lang="en-US" dirty="0"/>
              <a:t> and weak team dynamics.</a:t>
            </a:r>
          </a:p>
          <a:p>
            <a:pPr lvl="1"/>
            <a:r>
              <a:rPr lang="en-US" dirty="0"/>
              <a:t>Considered undesirable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95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F776-6837-D3EB-BF5F-43D3F5C4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91AD6-4D8B-EE97-BD6C-064489E4D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489CB5-31E5-FB62-A64F-B6E73DE5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81D5-8B68-40AC-58BD-195103E9B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Verbal communication includes:</a:t>
            </a:r>
          </a:p>
          <a:p>
            <a:r>
              <a:rPr lang="en-US" dirty="0"/>
              <a:t>Fluency: ability to speak continuously and uninterruptedly.</a:t>
            </a:r>
          </a:p>
          <a:p>
            <a:r>
              <a:rPr lang="en-US" dirty="0"/>
              <a:t>Articulation: speaking clearly and audibly.</a:t>
            </a:r>
          </a:p>
          <a:p>
            <a:r>
              <a:rPr lang="en-US" dirty="0"/>
              <a:t>Modulation: adding contextually relevant </a:t>
            </a:r>
            <a:r>
              <a:rPr lang="en-US" dirty="0" err="1"/>
              <a:t>flavour</a:t>
            </a:r>
            <a:r>
              <a:rPr lang="en-US" dirty="0"/>
              <a:t> to voice with pitch variation.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76ACCD-F2ED-9683-6621-59423D068AD2}"/>
              </a:ext>
            </a:extLst>
          </p:cNvPr>
          <p:cNvSpPr txBox="1">
            <a:spLocks/>
          </p:cNvSpPr>
          <p:nvPr/>
        </p:nvSpPr>
        <p:spPr>
          <a:xfrm>
            <a:off x="0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 dirty="0"/>
            </a:br>
            <a:br>
              <a:rPr lang="en-US" sz="2000" b="1" dirty="0"/>
            </a:br>
            <a:r>
              <a:rPr lang="en-US" sz="3200" b="1" dirty="0"/>
              <a:t>Evaluation of GD – Communication (Verbal)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03470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55367-0F25-B74C-FE88-5BF8760F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A888ED-82D6-DB63-A158-DC8AE2BCE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C4237C-0F58-8663-36B0-A0B280AA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689BB-20A3-8338-2EEB-1E021E4E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Non‑verbal communication:</a:t>
            </a:r>
          </a:p>
          <a:p>
            <a:pPr lvl="1"/>
            <a:r>
              <a:rPr lang="en-US" dirty="0"/>
              <a:t>Energy: positive energy, not impulsiveness.</a:t>
            </a:r>
          </a:p>
          <a:p>
            <a:pPr lvl="1"/>
            <a:r>
              <a:rPr lang="en-US" dirty="0"/>
              <a:t>Posture: upright, appropriate posture shows composure and poise.</a:t>
            </a:r>
          </a:p>
          <a:p>
            <a:pPr lvl="1"/>
            <a:r>
              <a:rPr lang="en-US" dirty="0"/>
              <a:t>Eye contact: with key speakers and occasionally with all participants.</a:t>
            </a:r>
          </a:p>
          <a:p>
            <a:pPr lvl="1"/>
            <a:r>
              <a:rPr lang="en-US" dirty="0"/>
              <a:t>Gesticulation: appropriate gestures; too much is distracting.</a:t>
            </a:r>
          </a:p>
          <a:p>
            <a:r>
              <a:rPr lang="en-US" dirty="0"/>
              <a:t>Persuasion &amp; logic:</a:t>
            </a:r>
          </a:p>
          <a:p>
            <a:pPr lvl="1"/>
            <a:r>
              <a:rPr lang="en-US" dirty="0"/>
              <a:t>Persuasion leads discussion, especially in controversial topics.</a:t>
            </a:r>
          </a:p>
          <a:p>
            <a:pPr lvl="1"/>
            <a:r>
              <a:rPr lang="en-US" dirty="0"/>
              <a:t>Ethos: trust and credibility from adding value early.</a:t>
            </a:r>
          </a:p>
          <a:p>
            <a:pPr lvl="1"/>
            <a:r>
              <a:rPr lang="en-US" dirty="0"/>
              <a:t>Pathos: managing emotions of group, knowing when to counter or support.</a:t>
            </a:r>
          </a:p>
          <a:p>
            <a:pPr lvl="1"/>
            <a:r>
              <a:rPr lang="en-US" dirty="0"/>
              <a:t>Logos: logical propositions; stronger logic better received.</a:t>
            </a:r>
          </a:p>
          <a:p>
            <a:r>
              <a:rPr lang="en-US" dirty="0"/>
              <a:t>Group dynamics:</a:t>
            </a:r>
          </a:p>
          <a:p>
            <a:pPr lvl="1"/>
            <a:r>
              <a:rPr lang="en-US" dirty="0"/>
              <a:t>Balance between individual excellence and group performance.</a:t>
            </a:r>
          </a:p>
          <a:p>
            <a:pPr lvl="1"/>
            <a:r>
              <a:rPr lang="en-US" dirty="0"/>
              <a:t>Positive relationships with others without avoiding healthy controversy.</a:t>
            </a:r>
          </a:p>
          <a:p>
            <a:pPr lvl="1"/>
            <a:r>
              <a:rPr lang="en-US" dirty="0"/>
              <a:t>Ensure logical progression from one discussion thread to another.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1BB5B-B157-590A-26C0-8FBAF4916615}"/>
              </a:ext>
            </a:extLst>
          </p:cNvPr>
          <p:cNvSpPr txBox="1">
            <a:spLocks/>
          </p:cNvSpPr>
          <p:nvPr/>
        </p:nvSpPr>
        <p:spPr>
          <a:xfrm>
            <a:off x="234778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1800" b="1" dirty="0"/>
            </a:br>
            <a:br>
              <a:rPr lang="en-US" sz="1800" b="1" dirty="0"/>
            </a:br>
            <a:r>
              <a:rPr lang="en-US" sz="2800" b="1" dirty="0"/>
              <a:t> Evaluation of GD – Communication </a:t>
            </a:r>
          </a:p>
          <a:p>
            <a:r>
              <a:rPr lang="en-US" sz="2800" b="1" dirty="0"/>
              <a:t>(Non‑Verbal &amp; Group Dynamics)</a:t>
            </a:r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759341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D07E-2F4B-C716-A701-1AF82C73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DDCB82-6812-5615-7868-B1B6C338A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5C334C-F84F-14E3-AB78-43FB8367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E6F9-A117-C455-BAD6-79C0E1B7D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Wrong start:</a:t>
            </a:r>
          </a:p>
          <a:p>
            <a:pPr lvl="1"/>
            <a:r>
              <a:rPr lang="en-US" dirty="0"/>
              <a:t>Initiating without command over topic or clarity.</a:t>
            </a:r>
          </a:p>
          <a:p>
            <a:pPr lvl="1"/>
            <a:r>
              <a:rPr lang="en-US" dirty="0"/>
              <a:t>Safer to listen first if unsure, then build on ideas.</a:t>
            </a:r>
          </a:p>
          <a:p>
            <a:r>
              <a:rPr lang="en-US" dirty="0"/>
              <a:t>Nerves:</a:t>
            </a:r>
          </a:p>
          <a:p>
            <a:pPr lvl="1"/>
            <a:r>
              <a:rPr lang="en-US" dirty="0"/>
              <a:t>Nervous anxiety is normal.</a:t>
            </a:r>
          </a:p>
          <a:p>
            <a:pPr lvl="1"/>
            <a:r>
              <a:rPr lang="en-US" dirty="0"/>
              <a:t>Can be managed by preparation and relaxation.</a:t>
            </a:r>
          </a:p>
          <a:p>
            <a:r>
              <a:rPr lang="en-US" dirty="0"/>
              <a:t>Lack of communication skills:</a:t>
            </a:r>
          </a:p>
          <a:p>
            <a:pPr lvl="1"/>
            <a:r>
              <a:rPr lang="en-US" dirty="0"/>
              <a:t>Need strong spoken language skills.</a:t>
            </a:r>
          </a:p>
          <a:p>
            <a:pPr lvl="1"/>
            <a:r>
              <a:rPr lang="en-US" dirty="0"/>
              <a:t>Must communicate meaningful ideas with facts, figures, and examples clearly.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E21D2A-84E2-748D-2A22-CCFB5772B39B}"/>
              </a:ext>
            </a:extLst>
          </p:cNvPr>
          <p:cNvSpPr txBox="1">
            <a:spLocks/>
          </p:cNvSpPr>
          <p:nvPr/>
        </p:nvSpPr>
        <p:spPr>
          <a:xfrm>
            <a:off x="70022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200" b="1" dirty="0"/>
            </a:br>
            <a:br>
              <a:rPr lang="en-US" sz="3200" b="1" dirty="0"/>
            </a:br>
            <a:r>
              <a:rPr lang="en-US" b="1" dirty="0"/>
              <a:t>Common GD Errors – Part 1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16712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B8841-EFBF-22DD-E684-90BA1BAC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65B069-9AD9-2FFF-B35C-794AFA933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16BEE2-C813-0A95-D070-5FF25418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E6E6-6518-F5A3-2956-50B79914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Lack of confidence:</a:t>
            </a:r>
          </a:p>
          <a:p>
            <a:pPr lvl="1"/>
            <a:r>
              <a:rPr lang="en-US" dirty="0"/>
              <a:t>Affects focus and participation.</a:t>
            </a:r>
          </a:p>
          <a:p>
            <a:pPr lvl="1"/>
            <a:r>
              <a:rPr lang="en-US" dirty="0"/>
              <a:t>Visible in body language.</a:t>
            </a:r>
          </a:p>
          <a:p>
            <a:r>
              <a:rPr lang="en-US" dirty="0"/>
              <a:t>Talking too much:</a:t>
            </a:r>
          </a:p>
          <a:p>
            <a:pPr lvl="1"/>
            <a:r>
              <a:rPr lang="en-US" dirty="0"/>
              <a:t>Viewed negatively.</a:t>
            </a:r>
          </a:p>
          <a:p>
            <a:pPr lvl="1"/>
            <a:r>
              <a:rPr lang="en-US" dirty="0"/>
              <a:t>Better to contribute strategically at beginning, middle, and end with sound ideas.</a:t>
            </a:r>
          </a:p>
          <a:p>
            <a:r>
              <a:rPr lang="en-US" dirty="0"/>
              <a:t>Deviating from topic:</a:t>
            </a:r>
          </a:p>
          <a:p>
            <a:pPr lvl="1"/>
            <a:r>
              <a:rPr lang="en-US" dirty="0"/>
              <a:t>Misunderstanding topic; misquoting facts and figures.</a:t>
            </a:r>
          </a:p>
          <a:p>
            <a:pPr lvl="1"/>
            <a:r>
              <a:rPr lang="en-US" dirty="0"/>
              <a:t>Daydreaming or writing notes without listening.</a:t>
            </a:r>
          </a:p>
          <a:p>
            <a:pPr lvl="1"/>
            <a:r>
              <a:rPr lang="en-US" dirty="0"/>
              <a:t>Need to listen carefully and participate with quality ideas.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FD3DB9-4525-E645-621E-8FA01041D0B6}"/>
              </a:ext>
            </a:extLst>
          </p:cNvPr>
          <p:cNvSpPr txBox="1">
            <a:spLocks/>
          </p:cNvSpPr>
          <p:nvPr/>
        </p:nvSpPr>
        <p:spPr>
          <a:xfrm>
            <a:off x="168876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200" b="1" dirty="0"/>
            </a:br>
            <a:br>
              <a:rPr lang="en-US" sz="3200" b="1" dirty="0"/>
            </a:br>
            <a:r>
              <a:rPr lang="en-US" b="1" dirty="0"/>
              <a:t>Common GD Errors – Part 2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601472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536-6293-EE57-FFA3-002C2E8E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5CEF48-D109-5E66-A8AE-FAAE2BCE7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07F437-591B-0DA7-F074-53431905B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0F02C-848B-27A2-7E31-05CEB4C06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Poor body language:</a:t>
            </a:r>
          </a:p>
          <a:p>
            <a:pPr lvl="1"/>
            <a:r>
              <a:rPr lang="en-US" dirty="0"/>
              <a:t>Hand gestures, eye contact, posture, facial expressions reveal personality.</a:t>
            </a:r>
          </a:p>
          <a:p>
            <a:r>
              <a:rPr lang="en-US" dirty="0"/>
              <a:t>Interruption:</a:t>
            </a:r>
          </a:p>
          <a:p>
            <a:pPr lvl="1"/>
            <a:r>
              <a:rPr lang="en-US" dirty="0"/>
              <a:t>Interrupting others is perceived negatively.</a:t>
            </a:r>
          </a:p>
          <a:p>
            <a:pPr lvl="1"/>
            <a:r>
              <a:rPr lang="en-US" dirty="0"/>
              <a:t>Listen fully; speak at an opportune moment.</a:t>
            </a:r>
          </a:p>
          <a:p>
            <a:r>
              <a:rPr lang="en-US" dirty="0"/>
              <a:t>Showing off:</a:t>
            </a:r>
          </a:p>
          <a:p>
            <a:pPr lvl="1"/>
            <a:r>
              <a:rPr lang="en-US" dirty="0"/>
              <a:t>Over‑the‑top </a:t>
            </a:r>
            <a:r>
              <a:rPr lang="en-US" dirty="0" err="1"/>
              <a:t>behaviour</a:t>
            </a:r>
            <a:r>
              <a:rPr lang="en-US" dirty="0"/>
              <a:t> is easily detected.</a:t>
            </a:r>
          </a:p>
          <a:p>
            <a:pPr lvl="1"/>
            <a:r>
              <a:rPr lang="en-US" dirty="0"/>
              <a:t>Not seen as harmonious with group; affects perception as a team player.</a:t>
            </a:r>
          </a:p>
          <a:p>
            <a:r>
              <a:rPr lang="en-US" dirty="0"/>
              <a:t>Losing cool:</a:t>
            </a:r>
          </a:p>
          <a:p>
            <a:pPr lvl="1"/>
            <a:r>
              <a:rPr lang="en-US" dirty="0"/>
              <a:t>Touchy topics may lead to offensive or generalized statements.</a:t>
            </a:r>
          </a:p>
          <a:p>
            <a:pPr lvl="1"/>
            <a:r>
              <a:rPr lang="en-US" dirty="0"/>
              <a:t>Aggressive reactions and angry retaliation go against you.</a:t>
            </a:r>
          </a:p>
          <a:p>
            <a:pPr lvl="1"/>
            <a:r>
              <a:rPr lang="en-US" dirty="0"/>
              <a:t>Panel may note your breaking point; stay calm.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3C939-BB8E-502E-F16A-18DD348C5315}"/>
              </a:ext>
            </a:extLst>
          </p:cNvPr>
          <p:cNvSpPr txBox="1">
            <a:spLocks/>
          </p:cNvSpPr>
          <p:nvPr/>
        </p:nvSpPr>
        <p:spPr>
          <a:xfrm>
            <a:off x="177114" y="21991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200" b="1" dirty="0"/>
            </a:br>
            <a:br>
              <a:rPr lang="en-US" sz="3200" b="1" dirty="0"/>
            </a:br>
            <a:r>
              <a:rPr lang="en-US" b="1" dirty="0"/>
              <a:t>Common GD Errors – Part 3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031385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81BC-8449-6D8C-6E75-416CA526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B75391-7285-B853-052E-B7FD359DD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0F84B2-4537-00F0-4506-B17B2994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A5FC9-7350-29F9-5623-4B18E448E9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Key points for success:</a:t>
            </a:r>
          </a:p>
          <a:p>
            <a:pPr lvl="1"/>
            <a:r>
              <a:rPr lang="en-US" dirty="0"/>
              <a:t>Enhance knowledge of current affairs.</a:t>
            </a:r>
          </a:p>
          <a:p>
            <a:pPr lvl="1"/>
            <a:r>
              <a:rPr lang="en-US" dirty="0"/>
              <a:t>Do not dress casually.</a:t>
            </a:r>
          </a:p>
          <a:p>
            <a:pPr lvl="1"/>
            <a:r>
              <a:rPr lang="en-US" dirty="0"/>
              <a:t>Be the initiator.</a:t>
            </a:r>
          </a:p>
          <a:p>
            <a:pPr lvl="1"/>
            <a:r>
              <a:rPr lang="en-US" dirty="0"/>
              <a:t>Be a good listener; do not dominate.</a:t>
            </a:r>
          </a:p>
          <a:p>
            <a:pPr lvl="1"/>
            <a:r>
              <a:rPr lang="en-US" dirty="0"/>
              <a:t>Make eye contact with all participants.</a:t>
            </a:r>
          </a:p>
          <a:p>
            <a:pPr lvl="1"/>
            <a:r>
              <a:rPr lang="en-US" dirty="0"/>
              <a:t>Avoid unnecessary details.</a:t>
            </a:r>
          </a:p>
          <a:p>
            <a:pPr lvl="1"/>
            <a:r>
              <a:rPr lang="en-US" dirty="0"/>
              <a:t>Differ politely.</a:t>
            </a:r>
          </a:p>
          <a:p>
            <a:pPr lvl="1"/>
            <a:r>
              <a:rPr lang="en-US" dirty="0"/>
              <a:t>Focus on body language and posture.</a:t>
            </a:r>
          </a:p>
          <a:p>
            <a:pPr lvl="1"/>
            <a:r>
              <a:rPr lang="en-US" dirty="0"/>
              <a:t>Work on communication skills.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288B09-46A6-F7EB-56AF-666A29F04B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Simulation:</a:t>
            </a:r>
          </a:p>
          <a:p>
            <a:r>
              <a:rPr lang="en-US" sz="2600" dirty="0"/>
              <a:t>8–10 learners as participants in semi‑circle or U‑shape.</a:t>
            </a:r>
          </a:p>
          <a:p>
            <a:r>
              <a:rPr lang="en-US" sz="2600" dirty="0" err="1"/>
              <a:t>Panellists</a:t>
            </a:r>
            <a:r>
              <a:rPr lang="en-US" sz="2600" dirty="0"/>
              <a:t> observe from a distance.</a:t>
            </a:r>
          </a:p>
          <a:p>
            <a:r>
              <a:rPr lang="en-US" sz="2600" dirty="0"/>
              <a:t>Duration: 45 minutes to 1 hour.</a:t>
            </a: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1C0F0-6755-4E67-3C22-0DE7AEF8811F}"/>
              </a:ext>
            </a:extLst>
          </p:cNvPr>
          <p:cNvSpPr txBox="1">
            <a:spLocks/>
          </p:cNvSpPr>
          <p:nvPr/>
        </p:nvSpPr>
        <p:spPr>
          <a:xfrm>
            <a:off x="9525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 dirty="0"/>
            </a:br>
            <a:br>
              <a:rPr lang="en-US" sz="2000" b="1" dirty="0"/>
            </a:br>
            <a:r>
              <a:rPr lang="en-US" sz="3200" b="1" dirty="0"/>
              <a:t>Key Points for Success in GD &amp; Simulation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06795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EDE8-E5D0-3C79-1914-9EDBDA9A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61F99A-DCB4-3640-301D-921190926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36126A-96B2-D1CC-88BF-02A521E26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EC145-8F9C-B2A4-6411-92A7790D7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Career planning:</a:t>
            </a:r>
          </a:p>
          <a:p>
            <a:pPr lvl="1"/>
            <a:r>
              <a:rPr lang="en-US" dirty="0"/>
              <a:t>A systematic process.</a:t>
            </a:r>
          </a:p>
          <a:p>
            <a:pPr lvl="1"/>
            <a:r>
              <a:rPr lang="en-US" dirty="0"/>
              <a:t>Aspirant decides career goals and path to reach them.</a:t>
            </a:r>
          </a:p>
          <a:p>
            <a:r>
              <a:rPr lang="en-US" dirty="0"/>
              <a:t>Career:</a:t>
            </a:r>
          </a:p>
          <a:p>
            <a:pPr lvl="1"/>
            <a:r>
              <a:rPr lang="en-US" dirty="0"/>
              <a:t>All jobs held during working life.</a:t>
            </a:r>
          </a:p>
          <a:p>
            <a:pPr lvl="1"/>
            <a:r>
              <a:rPr lang="en-US" dirty="0"/>
              <a:t>Series of properly sequenced role experiences.</a:t>
            </a:r>
          </a:p>
          <a:p>
            <a:pPr lvl="1"/>
            <a:r>
              <a:rPr lang="en-US" dirty="0"/>
              <a:t>Leads to increasing responsibility, status, power, and rewards.</a:t>
            </a:r>
          </a:p>
          <a:p>
            <a:pPr lvl="1"/>
            <a:r>
              <a:rPr lang="en-US" dirty="0"/>
              <a:t>Provides continuity, order, and meaning to life.</a:t>
            </a:r>
          </a:p>
          <a:p>
            <a:r>
              <a:rPr lang="en-US" dirty="0"/>
              <a:t>Career involves changes in attitudes, motivation, and values as a person grows.</a:t>
            </a:r>
          </a:p>
          <a:p>
            <a:r>
              <a:rPr lang="en-US" dirty="0"/>
              <a:t>Focus remains on the individual.</a:t>
            </a:r>
          </a:p>
          <a:p>
            <a:r>
              <a:rPr lang="en-US" dirty="0"/>
              <a:t>Career represents an organized, well‑timed, positive move through life.​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7644C9-0477-7263-5635-7B62E393D130}"/>
              </a:ext>
            </a:extLst>
          </p:cNvPr>
          <p:cNvSpPr txBox="1">
            <a:spLocks/>
          </p:cNvSpPr>
          <p:nvPr/>
        </p:nvSpPr>
        <p:spPr>
          <a:xfrm>
            <a:off x="193589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800" b="1" dirty="0"/>
            </a:br>
            <a:br>
              <a:rPr lang="en-US" sz="2800" b="1" dirty="0"/>
            </a:br>
            <a:r>
              <a:rPr lang="en-IN" sz="4000" b="1" dirty="0"/>
              <a:t>Exploring Career Opportunities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66991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09BC-D0F2-6861-1C1D-42444C2B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B2257E-6D8C-D9CF-3EFD-5E948166B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E964EF-5184-BC0C-81D0-595505D1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4EA67-6103-2D4D-0382-AEF167E49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8974"/>
            <a:ext cx="7886700" cy="48932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Self‑assessment:</a:t>
            </a:r>
          </a:p>
          <a:p>
            <a:pPr lvl="1"/>
            <a:r>
              <a:rPr lang="en-US" dirty="0"/>
              <a:t>General mental ability.</a:t>
            </a:r>
          </a:p>
          <a:p>
            <a:pPr lvl="1"/>
            <a:r>
              <a:rPr lang="en-US" dirty="0"/>
              <a:t>Special abilities.</a:t>
            </a:r>
          </a:p>
          <a:p>
            <a:pPr lvl="1"/>
            <a:r>
              <a:rPr lang="en-US" dirty="0"/>
              <a:t>Personality characteristics.</a:t>
            </a:r>
          </a:p>
          <a:p>
            <a:pPr lvl="1"/>
            <a:r>
              <a:rPr lang="en-US" dirty="0"/>
              <a:t>Personal interests.</a:t>
            </a:r>
          </a:p>
          <a:p>
            <a:pPr lvl="1"/>
            <a:r>
              <a:rPr lang="en-US" dirty="0"/>
              <a:t>Attitudes and values.</a:t>
            </a:r>
          </a:p>
          <a:p>
            <a:pPr lvl="1"/>
            <a:r>
              <a:rPr lang="en-US" dirty="0"/>
              <a:t>Aspirations.</a:t>
            </a:r>
          </a:p>
          <a:p>
            <a:pPr lvl="1"/>
            <a:r>
              <a:rPr lang="en-US" dirty="0"/>
              <a:t>Often done through SWOT analysis.</a:t>
            </a:r>
          </a:p>
          <a:p>
            <a:r>
              <a:rPr lang="en-US" dirty="0"/>
              <a:t>Career exploration:</a:t>
            </a:r>
          </a:p>
          <a:p>
            <a:pPr lvl="1"/>
            <a:r>
              <a:rPr lang="en-US" dirty="0"/>
              <a:t>Learn about occupations that fit self‑assessment results and other interests.</a:t>
            </a:r>
          </a:p>
          <a:p>
            <a:r>
              <a:rPr lang="en-US" dirty="0"/>
              <a:t>Gathering information:</a:t>
            </a:r>
          </a:p>
          <a:p>
            <a:pPr lvl="1"/>
            <a:r>
              <a:rPr lang="en-US" dirty="0"/>
              <a:t>Use print, electronic, and online sources.</a:t>
            </a:r>
          </a:p>
          <a:p>
            <a:r>
              <a:rPr lang="en-US" dirty="0"/>
              <a:t>Gaining experience:</a:t>
            </a:r>
          </a:p>
          <a:p>
            <a:pPr lvl="1"/>
            <a:r>
              <a:rPr lang="en-US" dirty="0"/>
              <a:t>Gain experience in the chosen career.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E792EE-44C5-4E05-1C03-4682313B1448}"/>
              </a:ext>
            </a:extLst>
          </p:cNvPr>
          <p:cNvSpPr txBox="1">
            <a:spLocks/>
          </p:cNvSpPr>
          <p:nvPr/>
        </p:nvSpPr>
        <p:spPr>
          <a:xfrm>
            <a:off x="9525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400" b="1" dirty="0"/>
            </a:br>
            <a:br>
              <a:rPr lang="en-US" sz="2400" b="1" dirty="0"/>
            </a:br>
            <a:r>
              <a:rPr lang="en-US" sz="3600" b="1" dirty="0"/>
              <a:t>Main Components of Career Planning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70508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DA80-A4F6-585F-A3FE-F03009032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7FBC0F-BC03-71A8-B679-94ECBCC50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BDB44F-BE2F-EFA6-0EFF-3AEEA7AC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F5CE-8B3F-6472-8DDF-AE6EB8392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testing and non‑testing methods to assess individual characteristics.</a:t>
            </a:r>
          </a:p>
          <a:p>
            <a:r>
              <a:rPr lang="en-US" dirty="0"/>
              <a:t>Standardized psychological tests can measure these characteristics.</a:t>
            </a:r>
          </a:p>
          <a:p>
            <a:r>
              <a:rPr lang="en-US" dirty="0"/>
              <a:t>Professional career counsellors can help learners understand:</a:t>
            </a:r>
          </a:p>
          <a:p>
            <a:pPr lvl="1"/>
            <a:r>
              <a:rPr lang="en-US" dirty="0"/>
              <a:t>General mental ability.</a:t>
            </a:r>
          </a:p>
          <a:p>
            <a:pPr lvl="1"/>
            <a:r>
              <a:rPr lang="en-US" dirty="0"/>
              <a:t>Special abilities.</a:t>
            </a:r>
          </a:p>
          <a:p>
            <a:pPr lvl="1"/>
            <a:r>
              <a:rPr lang="en-US" dirty="0"/>
              <a:t>Personality characteristics.</a:t>
            </a:r>
          </a:p>
          <a:p>
            <a:pPr lvl="1"/>
            <a:r>
              <a:rPr lang="en-US" dirty="0"/>
              <a:t>Interests.</a:t>
            </a:r>
          </a:p>
          <a:p>
            <a:pPr lvl="1"/>
            <a:r>
              <a:rPr lang="en-US" dirty="0"/>
              <a:t>Attitudes.</a:t>
            </a:r>
          </a:p>
          <a:p>
            <a:pPr lvl="1"/>
            <a:r>
              <a:rPr lang="en-US" dirty="0"/>
              <a:t>Values.</a:t>
            </a:r>
          </a:p>
          <a:p>
            <a:pPr lvl="1"/>
            <a:r>
              <a:rPr lang="en-US" dirty="0"/>
              <a:t>Aspirations.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D02E0B-7CFF-07A4-A51A-E41B33052C73}"/>
              </a:ext>
            </a:extLst>
          </p:cNvPr>
          <p:cNvSpPr txBox="1">
            <a:spLocks/>
          </p:cNvSpPr>
          <p:nvPr/>
        </p:nvSpPr>
        <p:spPr>
          <a:xfrm>
            <a:off x="-81091" y="285750"/>
            <a:ext cx="8426021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 dirty="0"/>
            </a:br>
            <a:br>
              <a:rPr lang="en-US" sz="2000" b="1" dirty="0"/>
            </a:br>
            <a:r>
              <a:rPr lang="en-IN" sz="3200" b="1" dirty="0"/>
              <a:t>Knowing Yourself – Personal Characteristics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82485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9438-385F-E402-ADCC-3DCBC393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0EBB70-E117-DCA5-21E2-61C5D016E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02BEEB-4BB0-5E28-FCCC-A0589C3A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2F713-F86A-509D-DE7E-5A7B7C00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Census, National Sample Survey, Planning Commission and other agencies:</a:t>
            </a:r>
          </a:p>
          <a:p>
            <a:pPr lvl="1"/>
            <a:r>
              <a:rPr lang="en-US" dirty="0"/>
              <a:t>Supply information on employment and unemployment trends from time to time.</a:t>
            </a:r>
          </a:p>
          <a:p>
            <a:r>
              <a:rPr lang="en-US" dirty="0"/>
              <a:t>Newspapers and other media:</a:t>
            </a:r>
          </a:p>
          <a:p>
            <a:pPr lvl="1"/>
            <a:r>
              <a:rPr lang="en-US" dirty="0"/>
              <a:t>Publish career information.</a:t>
            </a:r>
          </a:p>
          <a:p>
            <a:r>
              <a:rPr lang="en-US" dirty="0"/>
              <a:t>Based on such information, future human resource requirements can be planned.</a:t>
            </a:r>
          </a:p>
          <a:p>
            <a:r>
              <a:rPr lang="en-US" dirty="0"/>
              <a:t>Ample opportunities exist in self‑employment.</a:t>
            </a:r>
          </a:p>
          <a:p>
            <a:r>
              <a:rPr lang="en-US" dirty="0"/>
              <a:t>Important to explore self‑employment options for best career decisions.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0991BB-B75B-41C4-D7D5-C151A2405078}"/>
              </a:ext>
            </a:extLst>
          </p:cNvPr>
          <p:cNvSpPr txBox="1">
            <a:spLocks/>
          </p:cNvSpPr>
          <p:nvPr/>
        </p:nvSpPr>
        <p:spPr>
          <a:xfrm>
            <a:off x="9525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 dirty="0"/>
            </a:br>
            <a:br>
              <a:rPr lang="en-US" sz="2000" b="1" dirty="0"/>
            </a:br>
            <a:r>
              <a:rPr lang="en-IN" sz="3200" b="1" dirty="0"/>
              <a:t>Employment Trends &amp; Self‑Employment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61530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5B4B-58F0-9DE3-AC81-91AF2927A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962264-163C-2EDF-16FC-9D72D6359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D397FB-622D-84D8-3C20-7D9B0EC5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E6CF2-3287-F058-21E3-224929D4B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Beyond job titles, it is important to know:</a:t>
            </a:r>
          </a:p>
          <a:p>
            <a:r>
              <a:rPr lang="en-US" dirty="0"/>
              <a:t>Skills required.</a:t>
            </a:r>
          </a:p>
          <a:p>
            <a:r>
              <a:rPr lang="en-US" dirty="0"/>
              <a:t>Educational and training requirements.</a:t>
            </a:r>
          </a:p>
          <a:p>
            <a:r>
              <a:rPr lang="en-US" dirty="0"/>
              <a:t>Duties and working conditions.</a:t>
            </a:r>
          </a:p>
          <a:p>
            <a:r>
              <a:rPr lang="en-US" dirty="0"/>
              <a:t>Salary and perks.</a:t>
            </a:r>
          </a:p>
          <a:p>
            <a:r>
              <a:rPr lang="en-US" dirty="0"/>
              <a:t>Job prospects.</a:t>
            </a:r>
          </a:p>
          <a:p>
            <a:r>
              <a:rPr lang="en-US" dirty="0"/>
              <a:t>Advantages and disadvantages.</a:t>
            </a:r>
          </a:p>
          <a:p>
            <a:r>
              <a:rPr lang="en-US" dirty="0"/>
              <a:t>Personal attributes needed for success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DDEBCC-684C-CFA4-1DFD-D75136A7EF1A}"/>
              </a:ext>
            </a:extLst>
          </p:cNvPr>
          <p:cNvSpPr txBox="1">
            <a:spLocks/>
          </p:cNvSpPr>
          <p:nvPr/>
        </p:nvSpPr>
        <p:spPr>
          <a:xfrm>
            <a:off x="152400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200" b="1" dirty="0"/>
            </a:br>
            <a:br>
              <a:rPr lang="en-US" sz="3200" b="1" dirty="0"/>
            </a:br>
            <a:r>
              <a:rPr lang="en-IN" sz="4000" b="1" dirty="0"/>
              <a:t>Understanding Careers in Depth</a:t>
            </a:r>
            <a:endParaRPr lang="en-IN" b="1" dirty="0"/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191335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529B-B99B-553F-BA61-CE7E6BDC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979DB-4C26-77B0-EFFE-45771103C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3EC01E-42A6-CBE2-DCEA-04EBC8EF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23E12-1D3C-93B4-85B1-210073809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Learners should:</a:t>
            </a:r>
          </a:p>
          <a:p>
            <a:r>
              <a:rPr lang="en-US" dirty="0"/>
              <a:t>Explore sources of information in careers of interest using print and online sources.</a:t>
            </a:r>
          </a:p>
          <a:p>
            <a:r>
              <a:rPr lang="en-US" dirty="0"/>
              <a:t>Prepare a list and then search careers in detail.</a:t>
            </a:r>
          </a:p>
          <a:p>
            <a:r>
              <a:rPr lang="en-US" dirty="0"/>
              <a:t>Visit websites of ministries and government departments.</a:t>
            </a:r>
          </a:p>
          <a:p>
            <a:r>
              <a:rPr lang="en-US" dirty="0"/>
              <a:t>Collect information on jobs, further courses, and training opportunities.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FA3D9F-04E9-5ADF-4295-6AC1C66DABC6}"/>
              </a:ext>
            </a:extLst>
          </p:cNvPr>
          <p:cNvSpPr txBox="1">
            <a:spLocks/>
          </p:cNvSpPr>
          <p:nvPr/>
        </p:nvSpPr>
        <p:spPr>
          <a:xfrm>
            <a:off x="70021" y="21991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200" b="1" dirty="0"/>
            </a:br>
            <a:br>
              <a:rPr lang="en-US" sz="3200" b="1" dirty="0"/>
            </a:br>
            <a:r>
              <a:rPr lang="en-IN" b="1" dirty="0"/>
              <a:t>Sources of Career Information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215339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0994-C8E7-AFA2-16E0-428DBE9E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0C044-5C9B-95FC-4F8F-D9A577256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5EB3-3660-AF98-3ACC-43A96246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8164A-B05E-FC1B-9724-EB7F6AA6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knowledge from websites and videos, learners can prepare a strategic career plan.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Step 1: Assess personal strengths and weaknesses.</a:t>
            </a:r>
          </a:p>
          <a:p>
            <a:pPr lvl="1"/>
            <a:r>
              <a:rPr lang="en-US" dirty="0"/>
              <a:t>Step 2: Identify careers of choice using print, electronic, and online sources of career information.</a:t>
            </a:r>
          </a:p>
          <a:p>
            <a:pPr lvl="1"/>
            <a:r>
              <a:rPr lang="en-US" dirty="0"/>
              <a:t>Step 3: Develop a strategy or action plan to proceed in the right direction.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2D7DCB-9C2D-8F89-D68A-D5F6FCC96C1B}"/>
              </a:ext>
            </a:extLst>
          </p:cNvPr>
          <p:cNvSpPr txBox="1">
            <a:spLocks/>
          </p:cNvSpPr>
          <p:nvPr/>
        </p:nvSpPr>
        <p:spPr>
          <a:xfrm>
            <a:off x="-1" y="285750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400" b="1" dirty="0"/>
            </a:br>
            <a:br>
              <a:rPr lang="en-US" sz="2400" b="1" dirty="0"/>
            </a:br>
            <a:r>
              <a:rPr lang="en-US" sz="3600" b="1" dirty="0"/>
              <a:t>Preparing for a Career – Strategic Plan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11381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1E6A-A1F6-E4AD-C5E5-43C4EB803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7D07CB-C350-BD6E-0EDC-1383901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FBB94-9B65-3888-4EAC-912E3C6F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DCD9B-75DC-A28A-917C-336BB1FDF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Preparation of a career case study in an identified occupation.</a:t>
            </a:r>
          </a:p>
          <a:p>
            <a:r>
              <a:rPr lang="en-US" dirty="0"/>
              <a:t>Learners:</a:t>
            </a:r>
          </a:p>
          <a:p>
            <a:pPr lvl="1"/>
            <a:r>
              <a:rPr lang="en-US" dirty="0"/>
              <a:t>Identify professionals in their chosen career.</a:t>
            </a:r>
          </a:p>
          <a:p>
            <a:pPr lvl="1"/>
            <a:r>
              <a:rPr lang="en-US" dirty="0"/>
              <a:t>Interview them using an interview schedule or questionnaire.</a:t>
            </a:r>
          </a:p>
          <a:p>
            <a:pPr lvl="1"/>
            <a:r>
              <a:rPr lang="en-US" dirty="0"/>
              <a:t>Questions based on dimensions in section 11.3 (world of work and requirements).</a:t>
            </a:r>
          </a:p>
          <a:p>
            <a:r>
              <a:rPr lang="en-US" dirty="0"/>
              <a:t>Learners then:</a:t>
            </a:r>
          </a:p>
          <a:p>
            <a:pPr lvl="1"/>
            <a:r>
              <a:rPr lang="en-US" dirty="0" err="1"/>
              <a:t>Analyse</a:t>
            </a:r>
            <a:r>
              <a:rPr lang="en-US" dirty="0"/>
              <a:t> responses in the case study.</a:t>
            </a:r>
          </a:p>
          <a:p>
            <a:pPr lvl="1"/>
            <a:r>
              <a:rPr lang="en-US" dirty="0"/>
              <a:t>Finalize their own career plans.</a:t>
            </a:r>
          </a:p>
          <a:p>
            <a:pPr lvl="1"/>
            <a:r>
              <a:rPr lang="en-US" dirty="0"/>
              <a:t>Share case studies with peers to think about particular careers.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57C75E-9E06-8FE9-400E-4256B7244587}"/>
              </a:ext>
            </a:extLst>
          </p:cNvPr>
          <p:cNvSpPr txBox="1">
            <a:spLocks/>
          </p:cNvSpPr>
          <p:nvPr/>
        </p:nvSpPr>
        <p:spPr>
          <a:xfrm>
            <a:off x="127686" y="195197"/>
            <a:ext cx="7570573" cy="609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200" b="1" dirty="0"/>
            </a:br>
            <a:br>
              <a:rPr lang="en-US" sz="3200" b="1" dirty="0"/>
            </a:br>
            <a:r>
              <a:rPr lang="en-IN" b="1" dirty="0"/>
              <a:t>Career Case Study Project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4514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1713-529F-12FA-E0A9-0DAFCCCD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77A613-3223-35EA-092A-1BC7DFE9C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285750"/>
            <a:ext cx="913447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B4546F-479B-2118-E68A-6A8F3FB2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"/>
            <a:ext cx="7570573" cy="823913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endParaRPr lang="en-IN" sz="32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AF3D11-1119-4DD4-6099-0A53FECB18DD}"/>
              </a:ext>
            </a:extLst>
          </p:cNvPr>
          <p:cNvSpPr txBox="1">
            <a:spLocks/>
          </p:cNvSpPr>
          <p:nvPr/>
        </p:nvSpPr>
        <p:spPr>
          <a:xfrm>
            <a:off x="1083276" y="2501791"/>
            <a:ext cx="7113374" cy="1963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3200" b="1" dirty="0"/>
            </a:br>
            <a:br>
              <a:rPr lang="en-US" sz="3200" b="1" dirty="0"/>
            </a:br>
            <a:r>
              <a:rPr lang="en-US" sz="6600" b="1" dirty="0"/>
              <a:t>THANK YOU!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72975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2295</Words>
  <Application>Microsoft Office PowerPoint</Application>
  <PresentationFormat>On-screen Show (4:3)</PresentationFormat>
  <Paragraphs>328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Wingdings</vt:lpstr>
      <vt:lpstr>Office Theme</vt:lpstr>
      <vt:lpstr>PowerPoint Presentation</vt:lpstr>
      <vt:lpstr>Meaning of Group Discussion (GD) </vt:lpstr>
      <vt:lpstr>Why GD Skills Matter</vt:lpstr>
      <vt:lpstr>GD in Selection Process</vt:lpstr>
      <vt:lpstr>Importance of Group Discussion</vt:lpstr>
      <vt:lpstr>Importance – Interactive Skills </vt:lpstr>
      <vt:lpstr>Importance – Leadership Skills</vt:lpstr>
      <vt:lpstr>Importance– Flexibility &amp; Creativity </vt:lpstr>
      <vt:lpstr>Importance – Initiation, Awareness, Confidence</vt:lpstr>
      <vt:lpstr>Types of Group Discussions – Overview</vt:lpstr>
      <vt:lpstr>Topic‑Based GDs – Factual Topics</vt:lpstr>
      <vt:lpstr>Topic‑Based GDs – Controversial &amp; Abstract </vt:lpstr>
      <vt:lpstr>Case‑Based GDs </vt:lpstr>
      <vt:lpstr>GD Methodology – Setup</vt:lpstr>
      <vt:lpstr>GD Methodology – Roles &amp; Language </vt:lpstr>
      <vt:lpstr>Ground Rules for GD – Part 1 </vt:lpstr>
      <vt:lpstr>Ground Rules for GD – Part 2 </vt:lpstr>
      <vt:lpstr>Stages of Group Formation – Influencing Factors </vt:lpstr>
      <vt:lpstr>Five Stages of Group Formation</vt:lpstr>
      <vt:lpstr>Group Formation – Later Stages  </vt:lpstr>
      <vt:lpstr>Evaluation of GD – Initiative </vt:lpstr>
      <vt:lpstr>Evaluation of GD – Contribution </vt:lpstr>
      <vt:lpstr>Evaluation of GD – Nature of Contribution 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Geetika Khatri</dc:creator>
  <cp:lastModifiedBy>Geetika Khatri</cp:lastModifiedBy>
  <cp:revision>1</cp:revision>
  <dcterms:created xsi:type="dcterms:W3CDTF">2026-02-03T05:18:28Z</dcterms:created>
  <dcterms:modified xsi:type="dcterms:W3CDTF">2026-02-03T05:51:06Z</dcterms:modified>
</cp:coreProperties>
</file>