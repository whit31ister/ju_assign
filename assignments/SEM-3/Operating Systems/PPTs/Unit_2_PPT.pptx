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handoutMasterIdLst>
    <p:handoutMasterId r:id="rId72"/>
  </p:handoutMasterIdLst>
  <p:sldIdLst>
    <p:sldId id="281" r:id="rId2"/>
    <p:sldId id="385" r:id="rId3"/>
    <p:sldId id="470" r:id="rId4"/>
    <p:sldId id="471" r:id="rId5"/>
    <p:sldId id="474" r:id="rId6"/>
    <p:sldId id="475" r:id="rId7"/>
    <p:sldId id="386" r:id="rId8"/>
    <p:sldId id="387" r:id="rId9"/>
    <p:sldId id="388" r:id="rId10"/>
    <p:sldId id="390" r:id="rId11"/>
    <p:sldId id="505" r:id="rId12"/>
    <p:sldId id="506" r:id="rId13"/>
    <p:sldId id="507" r:id="rId14"/>
    <p:sldId id="389" r:id="rId15"/>
    <p:sldId id="391" r:id="rId16"/>
    <p:sldId id="392" r:id="rId17"/>
    <p:sldId id="508" r:id="rId18"/>
    <p:sldId id="509" r:id="rId19"/>
    <p:sldId id="476" r:id="rId20"/>
    <p:sldId id="490" r:id="rId21"/>
    <p:sldId id="491" r:id="rId22"/>
    <p:sldId id="494" r:id="rId23"/>
    <p:sldId id="495" r:id="rId24"/>
    <p:sldId id="496" r:id="rId25"/>
    <p:sldId id="497" r:id="rId26"/>
    <p:sldId id="498" r:id="rId27"/>
    <p:sldId id="499" r:id="rId28"/>
    <p:sldId id="500" r:id="rId29"/>
    <p:sldId id="501" r:id="rId30"/>
    <p:sldId id="502" r:id="rId31"/>
    <p:sldId id="503" r:id="rId32"/>
    <p:sldId id="492" r:id="rId33"/>
    <p:sldId id="493" r:id="rId34"/>
    <p:sldId id="477" r:id="rId35"/>
    <p:sldId id="478" r:id="rId36"/>
    <p:sldId id="479" r:id="rId37"/>
    <p:sldId id="480" r:id="rId38"/>
    <p:sldId id="481" r:id="rId39"/>
    <p:sldId id="482" r:id="rId40"/>
    <p:sldId id="483" r:id="rId41"/>
    <p:sldId id="484" r:id="rId42"/>
    <p:sldId id="485" r:id="rId43"/>
    <p:sldId id="486" r:id="rId44"/>
    <p:sldId id="487" r:id="rId45"/>
    <p:sldId id="488" r:id="rId46"/>
    <p:sldId id="489" r:id="rId47"/>
    <p:sldId id="510" r:id="rId48"/>
    <p:sldId id="511" r:id="rId49"/>
    <p:sldId id="512" r:id="rId50"/>
    <p:sldId id="513" r:id="rId51"/>
    <p:sldId id="514" r:id="rId52"/>
    <p:sldId id="515" r:id="rId53"/>
    <p:sldId id="516" r:id="rId54"/>
    <p:sldId id="517" r:id="rId55"/>
    <p:sldId id="519" r:id="rId56"/>
    <p:sldId id="520" r:id="rId57"/>
    <p:sldId id="521" r:id="rId58"/>
    <p:sldId id="443" r:id="rId59"/>
    <p:sldId id="522" r:id="rId60"/>
    <p:sldId id="473" r:id="rId61"/>
    <p:sldId id="523" r:id="rId62"/>
    <p:sldId id="445" r:id="rId63"/>
    <p:sldId id="446" r:id="rId64"/>
    <p:sldId id="447" r:id="rId65"/>
    <p:sldId id="448" r:id="rId66"/>
    <p:sldId id="449" r:id="rId67"/>
    <p:sldId id="524" r:id="rId68"/>
    <p:sldId id="451" r:id="rId69"/>
    <p:sldId id="384" r:id="rId7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000"/>
    <a:srgbClr val="260000"/>
    <a:srgbClr val="FFFFFF"/>
    <a:srgbClr val="000066"/>
    <a:srgbClr val="006600"/>
    <a:srgbClr val="FF3399"/>
    <a:srgbClr val="33CCFF"/>
    <a:srgbClr val="FF00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30" autoAdjust="0"/>
    <p:restoredTop sz="86092" autoAdjust="0"/>
  </p:normalViewPr>
  <p:slideViewPr>
    <p:cSldViewPr>
      <p:cViewPr>
        <p:scale>
          <a:sx n="100" d="100"/>
          <a:sy n="100" d="100"/>
        </p:scale>
        <p:origin x="1552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1F97CC94-77CE-46D8-BBD2-3A9CB870576E}" type="datetimeFigureOut">
              <a:rPr lang="en-US"/>
              <a:pPr>
                <a:defRPr/>
              </a:pPr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AA33767F-25E3-46D9-93B5-7A0FA54E61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8FFC1C1-C5D8-4A0F-A5B5-28FE1899DDE3}" type="datetimeFigureOut">
              <a:rPr lang="en-US"/>
              <a:pPr>
                <a:defRPr/>
              </a:pPr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D2B828A-C779-4795-8183-D9758A5B6C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94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C308B30-E594-431C-8FCD-89CB4F3BE307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9A01CDF5-C50C-609B-50F0-2EA5DEEF5A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2037D7C5-5D64-7AB9-907D-25456D8F4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7FF0BD52-9089-CCA2-CBCE-77270B3462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D1E93E3F-BBBE-F630-1864-C621190C0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9BCB2E6E-14AE-BB3A-7372-BD3F1BDAC4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9103EDCD-5050-F429-FD5F-FB6F2B5CC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EC98171D-0031-BBC7-14B9-D197A398B34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6C122A9F-62A1-2E47-674C-BEED0AD25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5EE83780-1D24-2EC3-389B-55145D93C0E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897B1B6A-4BCC-B490-9D9D-BEF38E742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465D984A-589E-4CD7-AA94-3AD80D04DD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15D3C043-28ED-9CBE-79D6-441376C5A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062E5C2E-B7DD-BB25-0E69-84121B76E1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D9E269E7-3273-51D0-8250-C38C79CDD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85300FD7-310B-F2E1-3773-43F4011EC2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BE5563FE-7A18-BED5-F8DB-42CB7DA218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81BFAF4B-8F68-9C4A-68FB-28B75E99AD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11F0ED09-248C-CE63-1D0B-43C75F259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9989DCE7-FAD7-6AFF-9676-3F134743D1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BD7086C4-7F99-AC4F-BF26-F9AC175A6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32346E6D-9127-0321-CF44-FCD689B8674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44C0AD96-4AF6-5D63-6A27-1FBE7BC73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F0D1E005-1162-ED55-7C14-60EC9DB72CB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D181AD09-31DF-9DB8-F815-957CEFD12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E251B17C-0DD9-45CD-7A7A-568369E83F0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48B8E121-8973-9AEE-7618-8957EA2E6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B8AAF2C9-7956-142F-CBC7-206891F882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2" name="Rectangle 3">
            <a:extLst>
              <a:ext uri="{FF2B5EF4-FFF2-40B4-BE49-F238E27FC236}">
                <a16:creationId xmlns:a16="http://schemas.microsoft.com/office/drawing/2014/main" id="{9277830C-DBF8-C7B8-C052-36845024EA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0">
            <a:lum/>
          </a:blip>
          <a:srcRect/>
          <a:stretch>
            <a:fillRect t="-36000" b="-3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33400" y="1371600"/>
            <a:ext cx="79248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8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transition>
    <p:fade/>
  </p:transition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5pPr>
      <a:lvl6pPr marL="457200" algn="l" defTabSz="912813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6pPr>
      <a:lvl7pPr marL="914400" algn="l" defTabSz="912813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7pPr>
      <a:lvl8pPr marL="1371600" algn="l" defTabSz="912813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8pPr>
      <a:lvl9pPr marL="1828800" algn="l" defTabSz="912813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2" descr="JU_PPT-template_option1a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42875" y="-315416"/>
            <a:ext cx="94297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2" descr="D:\job\jecrc\images for ppt\slide1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92596" y="-1314927"/>
            <a:ext cx="2895283" cy="262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0" y="5934670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3" descr="D:\job\jecrc\images for ppt\slide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15200" y="5410200"/>
            <a:ext cx="2305051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755576" y="1340768"/>
            <a:ext cx="82089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3"/>
              </a:spcBef>
              <a:spcAft>
                <a:spcPts val="13"/>
              </a:spcAft>
              <a:buSzPct val="100000"/>
            </a:pPr>
            <a:r>
              <a:rPr lang="en-US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DEPARTMENT OF COMPUTER SCIENCE</a:t>
            </a:r>
          </a:p>
          <a:p>
            <a:pPr algn="ctr">
              <a:spcBef>
                <a:spcPts val="13"/>
              </a:spcBef>
              <a:spcAft>
                <a:spcPts val="13"/>
              </a:spcAft>
              <a:buSzPct val="100000"/>
            </a:pPr>
            <a:r>
              <a:rPr lang="en-US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&amp; </a:t>
            </a:r>
          </a:p>
          <a:p>
            <a:pPr algn="ctr">
              <a:spcBef>
                <a:spcPts val="13"/>
              </a:spcBef>
              <a:spcAft>
                <a:spcPts val="13"/>
              </a:spcAft>
              <a:buSzPct val="100000"/>
            </a:pPr>
            <a:r>
              <a:rPr lang="en-US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ENGINEERING</a:t>
            </a:r>
            <a:endParaRPr lang="en-US" sz="2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5841" y="2967334"/>
            <a:ext cx="7128792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>
              <a:spcBef>
                <a:spcPts val="13"/>
              </a:spcBef>
              <a:spcAft>
                <a:spcPts val="13"/>
              </a:spcAft>
              <a:buSzPct val="100000"/>
            </a:pPr>
            <a:r>
              <a:rPr lang="en-US" altLang="en-US" sz="2400" b="1" dirty="0">
                <a:ln w="50800"/>
                <a:solidFill>
                  <a:schemeClr val="bg1">
                    <a:shade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Course Name: Operation System (BCON008B )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65125" y="1652588"/>
            <a:ext cx="8304213" cy="306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normAutofit fontScale="85000" lnSpcReduction="20000"/>
          </a:bodyPr>
          <a:lstStyle/>
          <a:p>
            <a:pPr algn="ctr">
              <a:defRPr/>
            </a:pPr>
            <a:r>
              <a:rPr lang="en-US" altLang="en-US" sz="44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US" altLang="en-US" sz="4400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BC0 008B </a:t>
            </a:r>
          </a:p>
          <a:p>
            <a:pPr algn="ctr">
              <a:defRPr/>
            </a:pPr>
            <a:r>
              <a:rPr lang="en-US" altLang="en-US" sz="4400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Operating Systems</a:t>
            </a:r>
            <a:br>
              <a:rPr lang="en-US" altLang="en-US" sz="4400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fr-FR" sz="4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</a:p>
          <a:p>
            <a:pPr algn="ctr">
              <a:defRPr/>
            </a:pPr>
            <a:r>
              <a:rPr lang="en-US" altLang="en-US" sz="4400" kern="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Unit-I</a:t>
            </a:r>
          </a:p>
          <a:p>
            <a:pPr algn="ctr">
              <a:defRPr/>
            </a:pPr>
            <a:br>
              <a:rPr lang="en-US" altLang="en-US" sz="4400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endParaRPr lang="en-US" altLang="en-US" sz="4400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26367" t="15625" r="27929" b="7291"/>
          <a:stretch>
            <a:fillRect/>
          </a:stretch>
        </p:blipFill>
        <p:spPr bwMode="auto">
          <a:xfrm>
            <a:off x="0" y="214290"/>
            <a:ext cx="6858016" cy="6643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i="1" dirty="0"/>
              <a:t>Text Books:</a:t>
            </a:r>
            <a:endParaRPr lang="en-US" sz="1800" dirty="0"/>
          </a:p>
          <a:p>
            <a:r>
              <a:rPr lang="en-US" sz="1800" dirty="0"/>
              <a:t>1. Operating Systems Concepts – </a:t>
            </a:r>
            <a:r>
              <a:rPr lang="en-US" sz="1800" dirty="0" err="1"/>
              <a:t>Silberschatz</a:t>
            </a:r>
            <a:r>
              <a:rPr lang="en-US" sz="1800" dirty="0"/>
              <a:t>, Galvin, Wiley Publications (2008)</a:t>
            </a:r>
          </a:p>
          <a:p>
            <a:r>
              <a:rPr lang="en-US" sz="1800" dirty="0"/>
              <a:t>2. Modern Operating Systems - Andrew S. </a:t>
            </a:r>
            <a:r>
              <a:rPr lang="en-US" sz="1800" dirty="0" err="1"/>
              <a:t>Tanenbaum</a:t>
            </a:r>
            <a:r>
              <a:rPr lang="en-US" sz="1800" dirty="0"/>
              <a:t>, Pearson Education Asia / PHI(2005)</a:t>
            </a:r>
          </a:p>
          <a:p>
            <a:pPr>
              <a:buNone/>
            </a:pPr>
            <a:r>
              <a:rPr lang="en-US" sz="1800" b="1" i="1" dirty="0"/>
              <a:t>Reference Books:</a:t>
            </a:r>
            <a:endParaRPr lang="en-US" sz="1800" dirty="0"/>
          </a:p>
          <a:p>
            <a:pPr lvl="0"/>
            <a:r>
              <a:rPr lang="en-US" sz="1800" dirty="0"/>
              <a:t>Operating Systems – William Stallings, Pearson Education Asia (2002)</a:t>
            </a:r>
          </a:p>
          <a:p>
            <a:pPr lvl="0"/>
            <a:r>
              <a:rPr lang="en-US" sz="1800" dirty="0"/>
              <a:t>UNIX System Programming Using C++, by Terrence Chan: Prentice Hall India, 1999.</a:t>
            </a:r>
          </a:p>
          <a:p>
            <a:pPr lvl="0"/>
            <a:r>
              <a:rPr lang="en-US" sz="1800" dirty="0"/>
              <a:t>Advanced Programming in UNIX Environment, by W. Richard Stevens: 2nd Ed, Pearson Education, 2005</a:t>
            </a:r>
          </a:p>
          <a:p>
            <a:r>
              <a:rPr lang="en-US" sz="1800" i="1" dirty="0"/>
              <a:t> </a:t>
            </a:r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i="1" dirty="0"/>
              <a:t>Course Outcome (CO):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At the ends of this course </a:t>
            </a:r>
            <a:r>
              <a:rPr lang="en-US" sz="2000" dirty="0" err="1"/>
              <a:t>studentswill</a:t>
            </a:r>
            <a:r>
              <a:rPr lang="en-US" sz="2000" dirty="0"/>
              <a:t> have:</a:t>
            </a:r>
          </a:p>
          <a:p>
            <a:r>
              <a:rPr lang="en-US" sz="2000" dirty="0"/>
              <a:t>CO1: Classify Unix Kernel mode with user mode &amp; contrast between Kernel structures. </a:t>
            </a:r>
          </a:p>
          <a:p>
            <a:r>
              <a:rPr lang="en-US" sz="2000" dirty="0"/>
              <a:t>CO2: Identify and estimate process management &amp; thread management strategies along with their different operations </a:t>
            </a:r>
          </a:p>
          <a:p>
            <a:r>
              <a:rPr lang="en-US" sz="2000" dirty="0"/>
              <a:t>CO3: Implement deadlock and different system calls for various file handling operations. </a:t>
            </a:r>
          </a:p>
          <a:p>
            <a:r>
              <a:rPr lang="en-US" sz="2000" dirty="0"/>
              <a:t>CO4: Determine Paging and Caching techniques related to Virtual Memory.</a:t>
            </a:r>
            <a:r>
              <a:rPr lang="en-US" sz="2000" b="1" dirty="0"/>
              <a:t> </a:t>
            </a:r>
            <a:endParaRPr lang="en-US" sz="2000" dirty="0"/>
          </a:p>
          <a:p>
            <a:pPr>
              <a:buNone/>
            </a:pPr>
            <a:r>
              <a:rPr lang="en-US" sz="1200" b="1" dirty="0"/>
              <a:t> </a:t>
            </a:r>
            <a:endParaRPr lang="en-US" sz="1200" dirty="0"/>
          </a:p>
          <a:p>
            <a:pPr>
              <a:buNone/>
            </a:pPr>
            <a:r>
              <a:rPr lang="en-US" sz="1200" b="1" dirty="0"/>
              <a:t> </a:t>
            </a:r>
            <a:endParaRPr lang="en-US" sz="1200" dirty="0"/>
          </a:p>
          <a:p>
            <a:pPr>
              <a:buNone/>
            </a:pPr>
            <a:r>
              <a:rPr lang="en-US" sz="1200" b="1" dirty="0"/>
              <a:t> </a:t>
            </a:r>
            <a:endParaRPr lang="en-US" sz="1200" dirty="0"/>
          </a:p>
          <a:p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5720" y="2428868"/>
          <a:ext cx="8715437" cy="2961095"/>
        </p:xfrm>
        <a:graphic>
          <a:graphicData uri="http://schemas.openxmlformats.org/drawingml/2006/table">
            <a:tbl>
              <a:tblPr/>
              <a:tblGrid>
                <a:gridCol w="821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227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274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274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364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2364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364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0013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Outcome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Program Outcome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Program Specifice Outcome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03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PO1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PO2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PO3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PO4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PO5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PO6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PO7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PO8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PO9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PO10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PO11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PO12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PSO1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PSO2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PSO3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CO1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CO2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CO3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7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CO4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7733" marR="6773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1073" name="Rectangle 1"/>
          <p:cNvSpPr>
            <a:spLocks noChangeArrowheads="1"/>
          </p:cNvSpPr>
          <p:nvPr/>
        </p:nvSpPr>
        <p:spPr bwMode="auto">
          <a:xfrm>
            <a:off x="0" y="0"/>
            <a:ext cx="889248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C0504D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solidFill>
                <a:srgbClr val="C0504D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rgbClr val="C0504D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b="1" dirty="0">
              <a:solidFill>
                <a:srgbClr val="C0504D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C0504D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Mapping of COs with Pos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MAPPING COURSE OUTCOMES LEADING TO THE ACHIEVEMENT OF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PROGRAM OUTCOMES AND PROGRAM SPECIFIC OUTCOMES: 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36126" y="5845750"/>
            <a:ext cx="427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 eaLnBrk="0" hangingPunct="0"/>
            <a:r>
              <a:rPr lang="en-US" dirty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 = Highly Related; M = Medium  L = Low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/>
          <p:cNvSpPr>
            <a:spLocks noGrp="1"/>
          </p:cNvSpPr>
          <p:nvPr>
            <p:ph idx="1"/>
          </p:nvPr>
        </p:nvSpPr>
        <p:spPr>
          <a:xfrm>
            <a:off x="214282" y="500042"/>
            <a:ext cx="8518556" cy="5786478"/>
          </a:xfrm>
        </p:spPr>
        <p:txBody>
          <a:bodyPr/>
          <a:lstStyle/>
          <a:p>
            <a:pPr>
              <a:buFontTx/>
              <a:buNone/>
            </a:pPr>
            <a:endParaRPr lang="en-IN" b="1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502400"/>
            <a:ext cx="406400" cy="355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17EB2B8-1FC2-48AD-832F-E989BFD8444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F3D4E5-65D6-321C-3162-59411CE94E66}"/>
              </a:ext>
            </a:extLst>
          </p:cNvPr>
          <p:cNvSpPr txBox="1"/>
          <p:nvPr/>
        </p:nvSpPr>
        <p:spPr>
          <a:xfrm>
            <a:off x="214282" y="332656"/>
            <a:ext cx="5725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IN" b="1" dirty="0"/>
              <a:t>Introduction to Process Management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18217-0A78-44E2-6563-6EB764601B05}"/>
              </a:ext>
            </a:extLst>
          </p:cNvPr>
          <p:cNvSpPr txBox="1"/>
          <p:nvPr/>
        </p:nvSpPr>
        <p:spPr>
          <a:xfrm>
            <a:off x="387191" y="1484784"/>
            <a:ext cx="8756810" cy="380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Batch system – </a:t>
            </a:r>
            <a:r>
              <a:rPr lang="en-US" altLang="en-US" b="1" dirty="0">
                <a:solidFill>
                  <a:srgbClr val="3366FF"/>
                </a:solidFill>
              </a:rPr>
              <a:t>jobs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Time-shared systems – </a:t>
            </a:r>
            <a:r>
              <a:rPr lang="en-US" altLang="en-US" b="1" dirty="0">
                <a:solidFill>
                  <a:srgbClr val="3366FF"/>
                </a:solidFill>
              </a:rPr>
              <a:t>user programs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tasks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Textbook uses the terms </a:t>
            </a:r>
            <a:r>
              <a:rPr lang="en-US" altLang="en-US" b="1" i="1" dirty="0"/>
              <a:t>job</a:t>
            </a:r>
            <a:r>
              <a:rPr lang="en-US" altLang="en-US" dirty="0"/>
              <a:t> and </a:t>
            </a:r>
            <a:r>
              <a:rPr lang="en-US" altLang="en-US" b="1" i="1" dirty="0"/>
              <a:t>process</a:t>
            </a:r>
            <a:r>
              <a:rPr lang="en-US" altLang="en-US" dirty="0"/>
              <a:t> almost interchangeably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Process</a:t>
            </a:r>
            <a:r>
              <a:rPr lang="en-US" altLang="en-US" dirty="0"/>
              <a:t> – a program in execution; process execution must progress in sequential fashion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3366FF"/>
                </a:solidFill>
              </a:rPr>
              <a:t>text 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Data 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37600" y="6502400"/>
            <a:ext cx="406400" cy="355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416A52D-CB77-40EA-A474-87A4987F0F6A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C9778F-0813-5D8A-76A9-496BAF948134}"/>
              </a:ext>
            </a:extLst>
          </p:cNvPr>
          <p:cNvSpPr txBox="1"/>
          <p:nvPr/>
        </p:nvSpPr>
        <p:spPr>
          <a:xfrm>
            <a:off x="323528" y="1772817"/>
            <a:ext cx="6408712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Program is </a:t>
            </a:r>
            <a:r>
              <a:rPr lang="en-US" altLang="en-US" b="1" i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3366FF"/>
                </a:solidFill>
              </a:rPr>
              <a:t>executable file</a:t>
            </a:r>
            <a:r>
              <a:rPr lang="en-US" altLang="en-US" dirty="0"/>
              <a:t>), process is </a:t>
            </a:r>
            <a:r>
              <a:rPr lang="en-US" altLang="en-US" b="1" i="1" dirty="0"/>
              <a:t>active </a:t>
            </a:r>
          </a:p>
          <a:p>
            <a:endParaRPr lang="en-US" altLang="en-US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Program becomes process when executable file loaded into memory</a:t>
            </a:r>
          </a:p>
          <a:p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Execution of program started via GUI mouse clicks, command line entry of its name, </a:t>
            </a:r>
            <a:r>
              <a:rPr lang="en-US" altLang="en-US" dirty="0" err="1"/>
              <a:t>etc</a:t>
            </a:r>
            <a:endParaRPr lang="en-US" altLang="en-US" dirty="0"/>
          </a:p>
          <a:p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One program can be several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Consider multiple users executing the same program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DE057-AA79-5FF4-77B2-198CF630D981}"/>
              </a:ext>
            </a:extLst>
          </p:cNvPr>
          <p:cNvSpPr txBox="1"/>
          <p:nvPr/>
        </p:nvSpPr>
        <p:spPr>
          <a:xfrm>
            <a:off x="2470068" y="451262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Process Management Cont..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37600" y="6502400"/>
            <a:ext cx="406400" cy="355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F020846-E137-4D38-B9B0-AEE6F3682596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in Memory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E9EAC1B-D9FD-B69C-8B29-10FBBF9D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801" y="1556792"/>
            <a:ext cx="2911475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37600" y="6502400"/>
            <a:ext cx="406400" cy="355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8D6C4F8-3A10-4C9C-9E59-EBA384551219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Diagram of Process State</a:t>
            </a:r>
            <a:endParaRPr lang="en-US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500" y="4483100"/>
            <a:ext cx="7772400" cy="16002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9EC08DDD-6614-E76A-0C3D-ABC16FC2E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2357566"/>
            <a:ext cx="6635750" cy="264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1F66-37A7-9BD2-784C-166CA8395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DCF94-36F9-E313-ADA7-3C42E3F62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Maximize CPU use, quickly switch processes onto CPU for time sharing</a:t>
            </a:r>
          </a:p>
          <a:p>
            <a:r>
              <a:rPr lang="en-US" altLang="en-US" sz="2000" b="1" dirty="0">
                <a:solidFill>
                  <a:srgbClr val="3366FF"/>
                </a:solidFill>
              </a:rPr>
              <a:t>Process scheduler </a:t>
            </a:r>
            <a:r>
              <a:rPr lang="en-US" altLang="en-US" sz="2000" dirty="0"/>
              <a:t>selects among available processes for next execution on CPU</a:t>
            </a:r>
          </a:p>
          <a:p>
            <a:r>
              <a:rPr lang="en-US" altLang="en-US" sz="2000" dirty="0"/>
              <a:t>Maintains </a:t>
            </a:r>
            <a:r>
              <a:rPr lang="en-US" altLang="en-US" sz="2000" b="1" dirty="0">
                <a:solidFill>
                  <a:srgbClr val="3366FF"/>
                </a:solidFill>
              </a:rPr>
              <a:t>scheduling queues </a:t>
            </a:r>
            <a:r>
              <a:rPr lang="en-US" altLang="en-US" sz="2000" dirty="0"/>
              <a:t>of processes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Job queue </a:t>
            </a:r>
            <a:r>
              <a:rPr lang="en-US" altLang="en-US" sz="2000" dirty="0"/>
              <a:t>– set of all processes in the system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Ready queue </a:t>
            </a:r>
            <a:r>
              <a:rPr lang="en-US" altLang="en-US" sz="2000" dirty="0"/>
              <a:t>– set of all processes residing in main memory, ready and waiting to execute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Device queues </a:t>
            </a:r>
            <a:r>
              <a:rPr lang="en-US" altLang="en-US" sz="2000" dirty="0"/>
              <a:t>– set of processes waiting for an I/O device</a:t>
            </a:r>
          </a:p>
          <a:p>
            <a:pPr lvl="1"/>
            <a:r>
              <a:rPr lang="en-US" altLang="en-US" sz="2000" dirty="0"/>
              <a:t>Processes migrate among the various queues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653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2B85-27E3-BDB2-5B23-759A3D3A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Ready Queue And Various I/O Device Queues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FBAFC8F4-7FE5-CDFE-2F25-05073E3350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665" y="1371600"/>
            <a:ext cx="577427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1239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16A5-FD2F-71A9-3ECB-5EBEDFBB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Representation of Process Scheduling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663A8-583A-14EA-39C6-A5F3A049103D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solidFill>
                  <a:srgbClr val="3366FF"/>
                </a:solidFill>
              </a:rPr>
              <a:t>Queueing diagram </a:t>
            </a:r>
            <a:r>
              <a:rPr lang="en-US" altLang="en-US" dirty="0"/>
              <a:t>represents queues, resources, flows</a:t>
            </a:r>
          </a:p>
          <a:p>
            <a:endParaRPr lang="en-US" altLang="en-US" dirty="0"/>
          </a:p>
        </p:txBody>
      </p:sp>
      <p:pic>
        <p:nvPicPr>
          <p:cNvPr id="5" name="Picture 4" descr="3">
            <a:extLst>
              <a:ext uri="{FF2B5EF4-FFF2-40B4-BE49-F238E27FC236}">
                <a16:creationId xmlns:a16="http://schemas.microsoft.com/office/drawing/2014/main" id="{198A39F8-08B1-53B7-8A9C-95BF5F0F3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602971"/>
            <a:ext cx="654685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9159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37600" y="6502400"/>
            <a:ext cx="406400" cy="355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AC27AC0-5FC1-43EB-A11D-364F675739D9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State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EB411E-115E-9630-6FC7-03FCC8F47B29}"/>
              </a:ext>
            </a:extLst>
          </p:cNvPr>
          <p:cNvSpPr txBox="1"/>
          <p:nvPr/>
        </p:nvSpPr>
        <p:spPr>
          <a:xfrm>
            <a:off x="486888" y="1591294"/>
            <a:ext cx="7169591" cy="41088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3366FF"/>
                </a:solidFill>
              </a:rPr>
              <a:t>state</a:t>
            </a:r>
          </a:p>
          <a:p>
            <a:pPr marL="800100" lvl="1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marL="800100" lvl="1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marL="800100" lvl="1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marL="800100" lvl="1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marL="800100" lvl="1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37600" y="6502400"/>
            <a:ext cx="406400" cy="355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9AAB9A-10A8-4E70-9A63-A0B973C6F632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57225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147A3-9653-0F51-4075-D3CA07181841}"/>
              </a:ext>
            </a:extLst>
          </p:cNvPr>
          <p:cNvSpPr txBox="1"/>
          <p:nvPr/>
        </p:nvSpPr>
        <p:spPr>
          <a:xfrm>
            <a:off x="914400" y="1520042"/>
            <a:ext cx="4161656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Information associated with each process (also called </a:t>
            </a:r>
            <a:r>
              <a:rPr lang="en-US" altLang="en-US" b="1" dirty="0">
                <a:solidFill>
                  <a:srgbClr val="3366FF"/>
                </a:solidFill>
              </a:rPr>
              <a:t>task control block</a:t>
            </a:r>
            <a:r>
              <a:rPr lang="en-US" alt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Process state – running, waiting,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Program counter – location of instruction to next execute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CPU registers – contents of all process-centric registers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CPU scheduling information- priorities, scheduling queue pointers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Memory-management information – memory allocated to the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Accounting information – CPU used, clock time elapsed since start, time limits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I/O status information – I/O devices allocated to process, list of open files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7DE50511-3114-F140-4C24-6E1995EBF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1393825"/>
            <a:ext cx="2795588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37600" y="6502400"/>
            <a:ext cx="406400" cy="355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EEE85C7-6767-4CB1-8163-FD4864ED49CA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63512" y="255319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CPU Switch From Process to Process</a:t>
            </a:r>
            <a:endParaRPr lang="en-US" dirty="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C925B1D0-2257-362F-C000-0E6443338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437" y="1556792"/>
            <a:ext cx="696912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FBA9-C17B-FF12-15D4-DCD2C469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Operations on Processes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B1219-F7E5-4FE8-81B0-41B7EF147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creation,</a:t>
            </a:r>
          </a:p>
          <a:p>
            <a:pPr lvl="1"/>
            <a:r>
              <a:rPr lang="en-US" altLang="en-US" dirty="0"/>
              <a:t> process termination, </a:t>
            </a:r>
          </a:p>
          <a:p>
            <a:pPr lvl="1"/>
            <a:r>
              <a:rPr lang="en-US" altLang="en-US" dirty="0"/>
              <a:t> and so on as detailed next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999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5FD5A-D880-C718-A8CA-4E31448AB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Creation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858E-2285-00D3-9938-2ED747AA0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b="1" dirty="0">
                <a:solidFill>
                  <a:srgbClr val="3366FF"/>
                </a:solidFill>
              </a:rPr>
              <a:t>Parent</a:t>
            </a:r>
            <a:r>
              <a:rPr lang="en-US" altLang="en-US" sz="1800" b="1" dirty="0"/>
              <a:t> </a:t>
            </a:r>
            <a:r>
              <a:rPr lang="en-US" altLang="en-US" sz="1800" dirty="0"/>
              <a:t>process create </a:t>
            </a:r>
            <a:r>
              <a:rPr lang="en-US" altLang="en-US" sz="1800" b="1" dirty="0">
                <a:solidFill>
                  <a:srgbClr val="3366FF"/>
                </a:solidFill>
              </a:rPr>
              <a:t>children</a:t>
            </a:r>
            <a:r>
              <a:rPr lang="en-US" altLang="en-US" sz="1800" b="1" dirty="0"/>
              <a:t> </a:t>
            </a:r>
            <a:r>
              <a:rPr lang="en-US" altLang="en-US" sz="1800" dirty="0"/>
              <a:t>processes, which, in turn create other processes, forming a </a:t>
            </a:r>
            <a:r>
              <a:rPr lang="en-US" altLang="en-US" sz="1800" b="1" dirty="0">
                <a:solidFill>
                  <a:srgbClr val="3366FF"/>
                </a:solidFill>
              </a:rPr>
              <a:t>tree</a:t>
            </a:r>
            <a:r>
              <a:rPr lang="en-US" altLang="en-US" sz="1800" dirty="0"/>
              <a:t> of processes</a:t>
            </a:r>
          </a:p>
          <a:p>
            <a:r>
              <a:rPr lang="en-US" altLang="en-US" sz="1800" dirty="0"/>
              <a:t>Generally, process identified and managed via a</a:t>
            </a:r>
            <a:r>
              <a:rPr lang="en-US" altLang="en-US" sz="1800" b="1" dirty="0"/>
              <a:t> </a:t>
            </a:r>
            <a:r>
              <a:rPr lang="en-US" altLang="en-US" sz="1800" b="1" dirty="0">
                <a:solidFill>
                  <a:srgbClr val="3366FF"/>
                </a:solidFill>
              </a:rPr>
              <a:t>process identifier </a:t>
            </a:r>
            <a:r>
              <a:rPr lang="en-US" altLang="en-US" sz="1800" dirty="0"/>
              <a:t>(</a:t>
            </a:r>
            <a:r>
              <a:rPr lang="en-US" altLang="en-US" sz="1800" b="1" dirty="0" err="1">
                <a:solidFill>
                  <a:srgbClr val="3366FF"/>
                </a:solidFill>
              </a:rPr>
              <a:t>pid</a:t>
            </a:r>
            <a:r>
              <a:rPr lang="en-US" altLang="en-US" sz="1800" dirty="0"/>
              <a:t>)</a:t>
            </a:r>
          </a:p>
          <a:p>
            <a:r>
              <a:rPr lang="en-US" altLang="en-US" sz="1800" dirty="0"/>
              <a:t>Resource sharing options</a:t>
            </a:r>
          </a:p>
          <a:p>
            <a:pPr lvl="1"/>
            <a:r>
              <a:rPr lang="en-US" altLang="en-US" sz="1800" dirty="0"/>
              <a:t>Parent and children share all resources</a:t>
            </a:r>
          </a:p>
          <a:p>
            <a:pPr lvl="1"/>
            <a:r>
              <a:rPr lang="en-US" altLang="en-US" sz="1800" dirty="0"/>
              <a:t>Children share subset of parent</a:t>
            </a:r>
            <a:r>
              <a:rPr lang="ja-JP" altLang="en-US" sz="1800"/>
              <a:t>’</a:t>
            </a:r>
            <a:r>
              <a:rPr lang="en-US" altLang="ja-JP" sz="1800" dirty="0"/>
              <a:t>s resources</a:t>
            </a:r>
          </a:p>
          <a:p>
            <a:pPr lvl="1"/>
            <a:r>
              <a:rPr lang="en-US" altLang="en-US" sz="1800" dirty="0"/>
              <a:t>Parent and child share no resources</a:t>
            </a:r>
          </a:p>
          <a:p>
            <a:r>
              <a:rPr lang="en-US" altLang="en-US" sz="1800" dirty="0"/>
              <a:t>Execution options</a:t>
            </a:r>
          </a:p>
          <a:p>
            <a:pPr lvl="1"/>
            <a:r>
              <a:rPr lang="en-US" altLang="en-US" sz="1800" dirty="0"/>
              <a:t>Parent and children execute concurrently</a:t>
            </a:r>
          </a:p>
          <a:p>
            <a:pPr lvl="1"/>
            <a:r>
              <a:rPr lang="en-US" altLang="en-US" sz="1800" dirty="0"/>
              <a:t>Parent waits until children terminate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461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0EF9-0205-D765-F094-52B2B941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Threads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6A0ED-7D4B-D867-5D31-2AECF207A80A}"/>
              </a:ext>
            </a:extLst>
          </p:cNvPr>
          <p:cNvSpPr txBox="1"/>
          <p:nvPr/>
        </p:nvSpPr>
        <p:spPr>
          <a:xfrm>
            <a:off x="522514" y="1710047"/>
            <a:ext cx="73618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So far, process has a single thread of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Consider having multiple program counters per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/>
              <a:t>Multiple locations can execute at once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en-US" dirty="0"/>
              <a:t>Multiple threads of control -&gt; </a:t>
            </a:r>
            <a:r>
              <a:rPr lang="en-US" altLang="en-US" b="1" dirty="0">
                <a:solidFill>
                  <a:srgbClr val="3366FF"/>
                </a:solidFill>
              </a:rPr>
              <a:t>threads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Must then have storage for thread details, multiple program counters in PCB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See next chapter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366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D4EF-4847-C8AD-B260-B4F9E9C2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CPU Scheduler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73E7E-EABF-B0D4-797D-4C95DB330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815" indent="-342815">
              <a:buFont typeface="Monotype Sorts" charset="2"/>
              <a:buChar char="n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Short-term scheduler </a:t>
            </a:r>
            <a:r>
              <a:rPr lang="en-US" dirty="0">
                <a:ea typeface="ＭＳ Ｐゴシック" charset="-128"/>
              </a:rPr>
              <a:t>selects from among the processes in ready queue, and allocates the CPU to one of them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Queue may be ordered in various ways</a:t>
            </a: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CPU scheduling decisions may take place when a process:</a:t>
            </a:r>
          </a:p>
          <a:p>
            <a:pPr marL="799900" lvl="1" indent="-342815">
              <a:defRPr/>
            </a:pPr>
            <a:r>
              <a:rPr lang="en-US" dirty="0">
                <a:solidFill>
                  <a:srgbClr val="CC6600"/>
                </a:solidFill>
                <a:ea typeface="ＭＳ Ｐゴシック" charset="-128"/>
              </a:rPr>
              <a:t>1.	</a:t>
            </a:r>
            <a:r>
              <a:rPr lang="en-US" dirty="0">
                <a:ea typeface="ＭＳ Ｐゴシック" charset="-128"/>
              </a:rPr>
              <a:t>Switches from running to waiting state</a:t>
            </a:r>
          </a:p>
          <a:p>
            <a:pPr marL="799900" lvl="1" indent="-342815">
              <a:defRPr/>
            </a:pPr>
            <a:r>
              <a:rPr lang="en-US" dirty="0">
                <a:solidFill>
                  <a:srgbClr val="CC6600"/>
                </a:solidFill>
                <a:ea typeface="ＭＳ Ｐゴシック" charset="-128"/>
              </a:rPr>
              <a:t>2.</a:t>
            </a:r>
            <a:r>
              <a:rPr lang="en-US" dirty="0">
                <a:ea typeface="ＭＳ Ｐゴシック" charset="-128"/>
              </a:rPr>
              <a:t>	Switches from running to ready state</a:t>
            </a:r>
          </a:p>
          <a:p>
            <a:pPr marL="799900" lvl="1" indent="-342815">
              <a:defRPr/>
            </a:pPr>
            <a:r>
              <a:rPr lang="en-US" dirty="0">
                <a:solidFill>
                  <a:srgbClr val="CC6600"/>
                </a:solidFill>
                <a:ea typeface="ＭＳ Ｐゴシック" charset="-128"/>
              </a:rPr>
              <a:t>3.</a:t>
            </a:r>
            <a:r>
              <a:rPr lang="en-US" dirty="0">
                <a:ea typeface="ＭＳ Ｐゴシック" charset="-128"/>
              </a:rPr>
              <a:t>	Switches from waiting to ready</a:t>
            </a: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r>
              <a:rPr lang="en-US" dirty="0">
                <a:ea typeface="ＭＳ Ｐゴシック" charset="-128"/>
              </a:rPr>
              <a:t>Terminates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58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4E86-3A45-A0B7-DAF6-04177CC5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CPU Scheduler. </a:t>
            </a:r>
            <a:r>
              <a:rPr lang="en-US" altLang="en-US" dirty="0" err="1"/>
              <a:t>Cont</a:t>
            </a:r>
            <a:r>
              <a:rPr lang="en-US" altLang="en-US" dirty="0"/>
              <a:t>…..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25654-2BEE-2264-64D7-008E1B040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815" indent="-342815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Scheduling under 1 and 4 is </a:t>
            </a:r>
            <a:r>
              <a:rPr lang="en-US" b="1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nonpreemptive</a:t>
            </a:r>
            <a:endParaRPr lang="en-US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All other scheduling is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preemptive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Consider access to shared data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Consider preemption while in kernel mode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Consider interrupts occurring during crucial OS activities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54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0421-F306-3F3C-09BD-133DA931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Preemptive</a:t>
            </a:r>
            <a:r>
              <a:rPr lang="en-IN" dirty="0"/>
              <a:t> CPU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1994F-0919-A76A-C13F-FA8C9AEC0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Definition:</a:t>
            </a:r>
            <a:br>
              <a:rPr lang="en-IN" dirty="0"/>
            </a:br>
            <a:r>
              <a:rPr lang="en-IN" dirty="0" err="1"/>
              <a:t>Preemptive</a:t>
            </a:r>
            <a:r>
              <a:rPr lang="en-IN" dirty="0"/>
              <a:t> CPU scheduling is a scheduling technique in which the </a:t>
            </a:r>
            <a:r>
              <a:rPr lang="en-IN" b="1" dirty="0"/>
              <a:t>Operating System can take the CPU away from a running process</a:t>
            </a:r>
            <a:r>
              <a:rPr lang="en-IN" dirty="0"/>
              <a:t> and assign it to another process.</a:t>
            </a:r>
          </a:p>
          <a:p>
            <a:r>
              <a:rPr lang="en-IN" b="1" dirty="0"/>
              <a:t>When can </a:t>
            </a:r>
            <a:r>
              <a:rPr lang="en-IN" b="1" dirty="0" err="1"/>
              <a:t>preemption</a:t>
            </a:r>
            <a:r>
              <a:rPr lang="en-IN" b="1" dirty="0"/>
              <a:t> occur?</a:t>
            </a:r>
            <a:endParaRPr lang="en-IN" dirty="0"/>
          </a:p>
          <a:p>
            <a:pPr lvl="0"/>
            <a:r>
              <a:rPr lang="en-IN" dirty="0"/>
              <a:t>A new process with </a:t>
            </a:r>
            <a:r>
              <a:rPr lang="en-IN" b="1" dirty="0"/>
              <a:t>higher priority</a:t>
            </a:r>
            <a:r>
              <a:rPr lang="en-IN" dirty="0"/>
              <a:t> arrives. </a:t>
            </a:r>
          </a:p>
          <a:p>
            <a:pPr lvl="0"/>
            <a:r>
              <a:rPr lang="en-IN" dirty="0"/>
              <a:t>A process with a </a:t>
            </a:r>
            <a:r>
              <a:rPr lang="en-IN" b="1" dirty="0"/>
              <a:t>shorter remaining time</a:t>
            </a:r>
            <a:r>
              <a:rPr lang="en-IN" dirty="0"/>
              <a:t> becomes ready. 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time quantum expires</a:t>
            </a:r>
            <a:r>
              <a:rPr lang="en-IN" dirty="0"/>
              <a:t> in Round Robin scheduling.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32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F1A4-EB3D-6E0A-47D8-E2E18E46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Preemptive</a:t>
            </a:r>
            <a:r>
              <a:rPr lang="en-IN" dirty="0"/>
              <a:t> CPU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760A-AF6C-D243-5EA0-0A7EF8D64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An interrupt occurs. </a:t>
            </a:r>
          </a:p>
          <a:p>
            <a:r>
              <a:rPr lang="en-IN" b="1" dirty="0"/>
              <a:t>Key Point:</a:t>
            </a:r>
            <a:endParaRPr lang="en-IN" dirty="0"/>
          </a:p>
          <a:p>
            <a:r>
              <a:rPr lang="en-IN" dirty="0"/>
              <a:t>The running process </a:t>
            </a:r>
            <a:r>
              <a:rPr lang="en-IN" b="1" dirty="0"/>
              <a:t>can be interrupted before completion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60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E522-326D-F93E-AEBA-026A21E27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Preemptive</a:t>
            </a:r>
            <a:r>
              <a:rPr lang="en-IN" dirty="0"/>
              <a:t> CPU Scheduling </a:t>
            </a:r>
            <a:r>
              <a:rPr lang="en-IN" dirty="0" err="1"/>
              <a:t>Cont</a:t>
            </a:r>
            <a:r>
              <a:rPr lang="en-IN" dirty="0"/>
              <a:t>….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70B129-6B16-34F7-8D94-B6EFEE933B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3599945"/>
              </p:ext>
            </p:extLst>
          </p:nvPr>
        </p:nvGraphicFramePr>
        <p:xfrm>
          <a:off x="533400" y="3068960"/>
          <a:ext cx="79248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3770955567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42243112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185911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7531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97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6173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C7751AA-91BB-226F-14F8-C5423300E670}"/>
              </a:ext>
            </a:extLst>
          </p:cNvPr>
          <p:cNvSpPr txBox="1"/>
          <p:nvPr/>
        </p:nvSpPr>
        <p:spPr>
          <a:xfrm>
            <a:off x="495300" y="1462246"/>
            <a:ext cx="8153400" cy="1287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Example of Pre-emptive Scheduling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Consider:  Suppose a scheduling algorithm gives preference to P2 when it arrives.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6C0C2-B8F7-022A-1C67-77F9FCE4A184}"/>
              </a:ext>
            </a:extLst>
          </p:cNvPr>
          <p:cNvSpPr txBox="1"/>
          <p:nvPr/>
        </p:nvSpPr>
        <p:spPr>
          <a:xfrm>
            <a:off x="545432" y="4668253"/>
            <a:ext cx="5682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→   0    2       5          11</a:t>
            </a:r>
          </a:p>
          <a:p>
            <a:r>
              <a:rPr lang="en-US" dirty="0"/>
              <a:t>                |----|-------|-----------|</a:t>
            </a:r>
          </a:p>
          <a:p>
            <a:r>
              <a:rPr lang="en-US" dirty="0"/>
              <a:t>               P1   P2      P1</a:t>
            </a:r>
          </a:p>
        </p:txBody>
      </p:sp>
    </p:spTree>
    <p:extLst>
      <p:ext uri="{BB962C8B-B14F-4D97-AF65-F5344CB8AC3E}">
        <p14:creationId xmlns:p14="http://schemas.microsoft.com/office/powerpoint/2010/main" val="1898524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8982-7758-ACD7-D231-8E3F4300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Preemptive</a:t>
            </a:r>
            <a:r>
              <a:rPr lang="en-IN" dirty="0"/>
              <a:t> CPU Scheduling </a:t>
            </a:r>
            <a:r>
              <a:rPr lang="en-IN" dirty="0" err="1"/>
              <a:t>Cont</a:t>
            </a:r>
            <a:r>
              <a:rPr lang="en-IN" dirty="0"/>
              <a:t>….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715F1-7CEE-391D-AE88-D07CFD533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P1 starts at time </a:t>
            </a:r>
            <a:r>
              <a:rPr lang="en-IN" b="1" dirty="0"/>
              <a:t>0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P2 arrives at time </a:t>
            </a:r>
            <a:r>
              <a:rPr lang="en-IN" b="1" dirty="0"/>
              <a:t>2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P1 is </a:t>
            </a:r>
            <a:r>
              <a:rPr lang="en-IN" b="1" dirty="0" err="1"/>
              <a:t>preempted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P2 executes from </a:t>
            </a:r>
            <a:r>
              <a:rPr lang="en-IN" b="1" dirty="0"/>
              <a:t>2 to 5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P1 resumes from </a:t>
            </a:r>
            <a:r>
              <a:rPr lang="en-IN" b="1" dirty="0"/>
              <a:t>5 to 11</a:t>
            </a:r>
            <a:r>
              <a:rPr lang="en-IN" dirty="0"/>
              <a:t>.</a:t>
            </a:r>
          </a:p>
          <a:p>
            <a:pPr marL="0" indent="0" algn="ctr">
              <a:buNone/>
            </a:pPr>
            <a:r>
              <a:rPr lang="en-IN" b="1" dirty="0"/>
              <a:t>P1 does not need to finish before P2 gets the CPU.</a:t>
            </a:r>
          </a:p>
          <a:p>
            <a:pPr marL="0" lv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939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15F3-3D56-B6E2-973F-B3674D8A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</a:t>
            </a:r>
            <a:r>
              <a:rPr lang="en-IN" dirty="0" err="1"/>
              <a:t>Preemptive</a:t>
            </a:r>
            <a:r>
              <a:rPr lang="en-IN" dirty="0"/>
              <a:t> CPU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6840-FD9B-346E-5961-B37D823C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Definition:</a:t>
            </a:r>
            <a:br>
              <a:rPr lang="en-IN" dirty="0"/>
            </a:br>
            <a:r>
              <a:rPr lang="en-IN" dirty="0"/>
              <a:t>Non-</a:t>
            </a:r>
            <a:r>
              <a:rPr lang="en-IN" dirty="0" err="1"/>
              <a:t>preemptive</a:t>
            </a:r>
            <a:r>
              <a:rPr lang="en-IN" dirty="0"/>
              <a:t> CPU scheduling is a technique in which </a:t>
            </a:r>
            <a:r>
              <a:rPr lang="en-IN" b="1" dirty="0"/>
              <a:t>once a process gets the CPU, the OS does not forcibly take the CPU away from it</a:t>
            </a:r>
            <a:r>
              <a:rPr lang="en-IN" dirty="0"/>
              <a:t>.</a:t>
            </a:r>
          </a:p>
          <a:p>
            <a:r>
              <a:rPr lang="en-IN" dirty="0"/>
              <a:t>The process continues until:</a:t>
            </a:r>
          </a:p>
          <a:p>
            <a:pPr lvl="0"/>
            <a:r>
              <a:rPr lang="en-IN" sz="1800" dirty="0"/>
              <a:t>It </a:t>
            </a:r>
            <a:r>
              <a:rPr lang="en-IN" sz="1800" b="1" dirty="0"/>
              <a:t>terminates</a:t>
            </a:r>
            <a:r>
              <a:rPr lang="en-IN" sz="1800" dirty="0"/>
              <a:t>, or </a:t>
            </a:r>
          </a:p>
          <a:p>
            <a:pPr lvl="0"/>
            <a:r>
              <a:rPr lang="en-IN" sz="1800" dirty="0"/>
              <a:t>It changes to the </a:t>
            </a:r>
            <a:r>
              <a:rPr lang="en-IN" sz="1800" b="1" dirty="0"/>
              <a:t>waiting/blocked state</a:t>
            </a:r>
            <a:r>
              <a:rPr lang="en-IN" sz="1800" dirty="0"/>
              <a:t>. </a:t>
            </a:r>
          </a:p>
          <a:p>
            <a:pPr marL="0" indent="0">
              <a:buNone/>
            </a:pPr>
            <a:r>
              <a:rPr lang="en-IN" sz="1800" b="1" dirty="0"/>
              <a:t>                                            Key Point:</a:t>
            </a:r>
            <a:endParaRPr lang="en-IN" sz="1800" dirty="0"/>
          </a:p>
          <a:p>
            <a:r>
              <a:rPr lang="en-IN" sz="1800" dirty="0"/>
              <a:t>The running process </a:t>
            </a:r>
            <a:r>
              <a:rPr lang="en-IN" sz="1800" b="1" dirty="0"/>
              <a:t>keeps the CPU until it voluntarily releases it</a:t>
            </a:r>
            <a:r>
              <a:rPr lang="en-IN" sz="1800" dirty="0"/>
              <a:t>.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776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5F81-FD72-22F2-6C8E-D31FC453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6923112" cy="914400"/>
          </a:xfrm>
        </p:spPr>
        <p:txBody>
          <a:bodyPr/>
          <a:lstStyle/>
          <a:p>
            <a:r>
              <a:rPr lang="en-US" dirty="0"/>
              <a:t>Example of Non-Preemptive CPU Scheduling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3CEC87D-DDBE-F942-1D3D-FF51D162D2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5585537"/>
              </p:ext>
            </p:extLst>
          </p:nvPr>
        </p:nvGraphicFramePr>
        <p:xfrm>
          <a:off x="423446" y="2057400"/>
          <a:ext cx="2714262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754">
                  <a:extLst>
                    <a:ext uri="{9D8B030D-6E8A-4147-A177-3AD203B41FA5}">
                      <a16:colId xmlns:a16="http://schemas.microsoft.com/office/drawing/2014/main" val="971869474"/>
                    </a:ext>
                  </a:extLst>
                </a:gridCol>
                <a:gridCol w="904754">
                  <a:extLst>
                    <a:ext uri="{9D8B030D-6E8A-4147-A177-3AD203B41FA5}">
                      <a16:colId xmlns:a16="http://schemas.microsoft.com/office/drawing/2014/main" val="3586247249"/>
                    </a:ext>
                  </a:extLst>
                </a:gridCol>
                <a:gridCol w="904754">
                  <a:extLst>
                    <a:ext uri="{9D8B030D-6E8A-4147-A177-3AD203B41FA5}">
                      <a16:colId xmlns:a16="http://schemas.microsoft.com/office/drawing/2014/main" val="476664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Arrival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Burst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923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355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18597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1C5C03B-BB83-38C9-60A8-4A30D0AFC8D8}"/>
              </a:ext>
            </a:extLst>
          </p:cNvPr>
          <p:cNvSpPr txBox="1"/>
          <p:nvPr/>
        </p:nvSpPr>
        <p:spPr>
          <a:xfrm>
            <a:off x="388241" y="3881735"/>
            <a:ext cx="6488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→   0                 8       11</a:t>
            </a:r>
          </a:p>
          <a:p>
            <a:r>
              <a:rPr lang="en-US" dirty="0"/>
              <a:t>               |-----------------|--------|</a:t>
            </a:r>
          </a:p>
          <a:p>
            <a:r>
              <a:rPr lang="en-US" dirty="0"/>
              <a:t>              P1              P2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5D5A06-6E7A-3C95-CD8F-F68B3D668DA3}"/>
              </a:ext>
            </a:extLst>
          </p:cNvPr>
          <p:cNvSpPr txBox="1"/>
          <p:nvPr/>
        </p:nvSpPr>
        <p:spPr>
          <a:xfrm>
            <a:off x="4860032" y="1702640"/>
            <a:ext cx="37793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P1 starts at time </a:t>
            </a:r>
            <a:r>
              <a:rPr lang="en-IN" b="1" dirty="0"/>
              <a:t>0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P2 arrives at time </a:t>
            </a:r>
            <a:r>
              <a:rPr lang="en-IN" b="1" dirty="0"/>
              <a:t>2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P1 </a:t>
            </a:r>
            <a:r>
              <a:rPr lang="en-IN" b="1" dirty="0"/>
              <a:t>continues running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P1 finishes at time </a:t>
            </a:r>
            <a:r>
              <a:rPr lang="en-IN" b="1" dirty="0"/>
              <a:t>8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P2 gets the CPU from </a:t>
            </a:r>
            <a:r>
              <a:rPr lang="en-IN" b="1" dirty="0"/>
              <a:t>8 to 11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408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7F25-05F4-64D4-C5F1-2CBB935B5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Switching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B54E6-9BAC-FFD4-3A47-0BEF09D44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/>
              <a:t>Definition:</a:t>
            </a:r>
            <a:br>
              <a:rPr lang="en-IN" sz="1800" dirty="0"/>
            </a:br>
            <a:r>
              <a:rPr lang="en-IN" sz="1800" dirty="0"/>
              <a:t>Context switching is the process of </a:t>
            </a:r>
            <a:r>
              <a:rPr lang="en-IN" sz="1800" b="1" dirty="0"/>
              <a:t>switching the CPU from one process to another</a:t>
            </a:r>
            <a:r>
              <a:rPr lang="en-IN" sz="1800" dirty="0"/>
              <a:t> by saving the state of the current process and loading the state of the next process.</a:t>
            </a:r>
          </a:p>
          <a:p>
            <a:r>
              <a:rPr lang="en-IN" sz="1800" b="1" dirty="0"/>
              <a:t>How Context Switching Works</a:t>
            </a:r>
          </a:p>
          <a:p>
            <a:r>
              <a:rPr lang="en-IN" sz="1800" b="1" dirty="0"/>
              <a:t>Step 1:</a:t>
            </a:r>
            <a:r>
              <a:rPr lang="en-IN" sz="1800" dirty="0"/>
              <a:t> Current process is running</a:t>
            </a:r>
            <a:br>
              <a:rPr lang="en-IN" sz="1800" dirty="0"/>
            </a:br>
            <a:r>
              <a:rPr lang="en-IN" sz="1800" b="1" dirty="0"/>
              <a:t>Step 2:</a:t>
            </a:r>
            <a:r>
              <a:rPr lang="en-IN" sz="1800" dirty="0"/>
              <a:t> OS saves its current state in the </a:t>
            </a:r>
            <a:r>
              <a:rPr lang="en-IN" sz="1800" b="1" dirty="0"/>
              <a:t>PCB</a:t>
            </a:r>
            <a:br>
              <a:rPr lang="en-IN" sz="1800" dirty="0"/>
            </a:br>
            <a:r>
              <a:rPr lang="en-IN" sz="1800" b="1" dirty="0"/>
              <a:t>Step 3:</a:t>
            </a:r>
            <a:r>
              <a:rPr lang="en-IN" sz="1800" dirty="0"/>
              <a:t> OS selects another process</a:t>
            </a:r>
            <a:br>
              <a:rPr lang="en-IN" sz="1800" dirty="0"/>
            </a:br>
            <a:r>
              <a:rPr lang="en-IN" sz="1800" b="1" dirty="0"/>
              <a:t>Step 4:</a:t>
            </a:r>
            <a:r>
              <a:rPr lang="en-IN" sz="1800" dirty="0"/>
              <a:t> OS loads the saved state of the new process</a:t>
            </a:r>
            <a:br>
              <a:rPr lang="en-IN" sz="1800" dirty="0"/>
            </a:br>
            <a:r>
              <a:rPr lang="en-IN" sz="1800" b="1" dirty="0"/>
              <a:t>Step 5:</a:t>
            </a:r>
            <a:r>
              <a:rPr lang="en-IN" sz="1800" dirty="0"/>
              <a:t> New process starts/resumes execution</a:t>
            </a:r>
          </a:p>
          <a:p>
            <a:endParaRPr lang="en-IN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43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EF62-C86A-5874-CB5F-C4D0F676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Saved?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C9209-8588-D28F-441D-7DE77FC65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Program Counter (PC) </a:t>
            </a:r>
          </a:p>
          <a:p>
            <a:pPr lvl="0"/>
            <a:r>
              <a:rPr lang="en-IN" dirty="0"/>
              <a:t>CPU Registers </a:t>
            </a:r>
          </a:p>
          <a:p>
            <a:pPr lvl="0"/>
            <a:r>
              <a:rPr lang="en-IN" dirty="0"/>
              <a:t>Stack Pointer </a:t>
            </a:r>
          </a:p>
          <a:p>
            <a:pPr lvl="0"/>
            <a:r>
              <a:rPr lang="en-IN" dirty="0"/>
              <a:t>Process State </a:t>
            </a:r>
          </a:p>
          <a:p>
            <a:pPr lvl="0"/>
            <a:r>
              <a:rPr lang="en-IN" dirty="0"/>
              <a:t>Other process-related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685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B7558-85E7-F10C-1353-5FC53C8A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</a:t>
            </a:r>
            <a:r>
              <a:rPr lang="en-US" dirty="0" err="1"/>
              <a:t>Switiching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BC4C4-3A04-02C6-9C9E-A0B476D92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  <a:p>
            <a:r>
              <a:rPr lang="en-IN" dirty="0"/>
              <a:t>Suppose </a:t>
            </a:r>
            <a:r>
              <a:rPr lang="en-IN" b="1" dirty="0"/>
              <a:t>P1</a:t>
            </a:r>
            <a:r>
              <a:rPr lang="en-IN" dirty="0"/>
              <a:t> is running and the CPU needs to execute </a:t>
            </a:r>
            <a:r>
              <a:rPr lang="en-IN" b="1" dirty="0"/>
              <a:t>P2</a:t>
            </a:r>
            <a:r>
              <a:rPr lang="en-IN" dirty="0"/>
              <a:t>.</a:t>
            </a:r>
          </a:p>
          <a:p>
            <a:r>
              <a:rPr lang="en-IN" b="1" dirty="0"/>
              <a:t>P1 Running → Context Switch → P2 Running</a:t>
            </a:r>
            <a:endParaRPr lang="en-IN" dirty="0"/>
          </a:p>
          <a:p>
            <a:r>
              <a:rPr lang="en-IN" dirty="0"/>
              <a:t>Later:</a:t>
            </a:r>
          </a:p>
          <a:p>
            <a:r>
              <a:rPr lang="en-IN" b="1" dirty="0"/>
              <a:t>P2 Running → Context Switch → P1 Running</a:t>
            </a:r>
            <a:endParaRPr lang="en-IN" dirty="0"/>
          </a:p>
          <a:p>
            <a:r>
              <a:rPr lang="en-IN" dirty="0"/>
              <a:t>The saved information of each process is maintained in its </a:t>
            </a:r>
            <a:r>
              <a:rPr lang="en-IN" b="1" dirty="0"/>
              <a:t>Process Control Block (PCB)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660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1A40-1F69-0CE5-37E5-CC5D6BEF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</a:t>
            </a:r>
            <a:r>
              <a:rPr lang="en-US" dirty="0" err="1"/>
              <a:t>Switiching</a:t>
            </a:r>
            <a:r>
              <a:rPr lang="en-US" dirty="0"/>
              <a:t>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165E8-84BD-57C3-F038-CDBBF581A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Key Point</a:t>
            </a:r>
          </a:p>
          <a:p>
            <a:r>
              <a:rPr lang="en-IN" b="1" dirty="0"/>
              <a:t>Context Switching = Save the current process + Load the next process</a:t>
            </a:r>
            <a:endParaRPr lang="en-IN" dirty="0"/>
          </a:p>
          <a:p>
            <a:r>
              <a:rPr lang="en-IN" b="1" dirty="0"/>
              <a:t>Note:</a:t>
            </a:r>
            <a:r>
              <a:rPr lang="en-IN" dirty="0"/>
              <a:t> Context switching allows the CPU to efficiently switch between multiple processes, but it also introduces </a:t>
            </a:r>
            <a:r>
              <a:rPr lang="en-IN" b="1" dirty="0"/>
              <a:t>overhead</a:t>
            </a:r>
            <a:r>
              <a:rPr lang="en-IN" dirty="0"/>
              <a:t> because saving and loading process states takes CPU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74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5838-6D98-1C06-E653-F3B21CF8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Dispatcher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96D66-5F27-3918-214B-86DD37182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Dispatcher module gives control of the CPU to the process selected by the short-term scheduler; this involves:</a:t>
            </a:r>
          </a:p>
          <a:p>
            <a:pPr lvl="1"/>
            <a:r>
              <a:rPr lang="en-US" altLang="en-US" dirty="0"/>
              <a:t>switching context</a:t>
            </a:r>
          </a:p>
          <a:p>
            <a:pPr lvl="1"/>
            <a:r>
              <a:rPr lang="en-US" altLang="en-US" dirty="0"/>
              <a:t>switching to user mode</a:t>
            </a:r>
          </a:p>
          <a:p>
            <a:pPr lvl="1"/>
            <a:r>
              <a:rPr lang="en-US" altLang="en-US" dirty="0"/>
              <a:t>jumping to the proper location in the user program to restart that program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Dispatch latency </a:t>
            </a:r>
            <a:r>
              <a:rPr lang="en-US" altLang="en-US" dirty="0"/>
              <a:t>– time it takes for the dispatcher to stop one process and start another running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44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9C00-F45C-477F-2CA7-0A8DAE75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Scheduling Criteria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9039E-870B-1A66-DFBF-0FD5697D5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200" b="1" dirty="0"/>
              <a:t>CPU utilization </a:t>
            </a:r>
            <a:r>
              <a:rPr lang="en-US" altLang="en-US" sz="2200" dirty="0"/>
              <a:t>– keep the CPU as busy as possible</a:t>
            </a:r>
          </a:p>
          <a:p>
            <a:r>
              <a:rPr lang="en-US" altLang="en-US" sz="2200" b="1" dirty="0"/>
              <a:t>Throughput</a:t>
            </a:r>
            <a:r>
              <a:rPr lang="en-US" altLang="en-US" sz="2200" dirty="0"/>
              <a:t> – # of processes that complete their execution per time unit</a:t>
            </a:r>
          </a:p>
          <a:p>
            <a:r>
              <a:rPr lang="en-US" altLang="en-US" sz="2200" b="1" dirty="0"/>
              <a:t>Turnaround time </a:t>
            </a:r>
            <a:r>
              <a:rPr lang="en-US" altLang="en-US" sz="2200" dirty="0"/>
              <a:t>– amount of time to execute a particular process</a:t>
            </a:r>
          </a:p>
          <a:p>
            <a:r>
              <a:rPr lang="en-US" altLang="en-US" sz="2200" b="1" dirty="0"/>
              <a:t>Waiting time </a:t>
            </a:r>
            <a:r>
              <a:rPr lang="en-US" altLang="en-US" sz="2200" dirty="0"/>
              <a:t>– amount of time a process has been waiting in the ready queue</a:t>
            </a:r>
          </a:p>
          <a:p>
            <a:r>
              <a:rPr lang="en-US" altLang="en-US" sz="2200" b="1" dirty="0"/>
              <a:t>Response time </a:t>
            </a:r>
            <a:r>
              <a:rPr lang="en-US" altLang="en-US" sz="2200" dirty="0"/>
              <a:t>– amount of time it takes from when a request was submitted until the first response is produced, not output  (for time-sharing environment</a:t>
            </a:r>
            <a:r>
              <a:rPr lang="en-US" alt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96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3380-FD06-C634-0864-DDEF88C04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3FB27-746B-476D-4F3F-AD79348C5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2999"/>
            <a:ext cx="7871792" cy="4950297"/>
          </a:xfrm>
        </p:spPr>
        <p:txBody>
          <a:bodyPr/>
          <a:lstStyle/>
          <a:p>
            <a:r>
              <a:rPr lang="en-US" altLang="en-US" sz="2000" dirty="0"/>
              <a:t>Maximize CPU use, quickly switch processes onto CPU for time sharing</a:t>
            </a:r>
          </a:p>
          <a:p>
            <a:r>
              <a:rPr lang="en-US" altLang="en-US" sz="2000" b="1" dirty="0">
                <a:solidFill>
                  <a:srgbClr val="3366FF"/>
                </a:solidFill>
              </a:rPr>
              <a:t>Process scheduler </a:t>
            </a:r>
            <a:r>
              <a:rPr lang="en-US" altLang="en-US" sz="2000" dirty="0"/>
              <a:t>selects among available processes for next execution on CPU</a:t>
            </a:r>
          </a:p>
          <a:p>
            <a:r>
              <a:rPr lang="en-US" altLang="en-US" sz="2000" dirty="0"/>
              <a:t>Maintains </a:t>
            </a:r>
            <a:r>
              <a:rPr lang="en-US" altLang="en-US" sz="2000" b="1" dirty="0">
                <a:solidFill>
                  <a:srgbClr val="3366FF"/>
                </a:solidFill>
              </a:rPr>
              <a:t>scheduling queues </a:t>
            </a:r>
            <a:r>
              <a:rPr lang="en-US" altLang="en-US" sz="2000" dirty="0"/>
              <a:t>of processes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Job queue </a:t>
            </a:r>
            <a:r>
              <a:rPr lang="en-US" altLang="en-US" sz="2000" dirty="0"/>
              <a:t>– set of all processes in the system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Ready queue </a:t>
            </a:r>
            <a:r>
              <a:rPr lang="en-US" altLang="en-US" sz="2000" dirty="0"/>
              <a:t>– set of all processes residing in main memory, ready and waiting to execute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Device queues </a:t>
            </a:r>
            <a:r>
              <a:rPr lang="en-US" altLang="en-US" sz="2000" dirty="0"/>
              <a:t>– set of processes waiting for an I/O device</a:t>
            </a:r>
          </a:p>
          <a:p>
            <a:pPr lvl="1"/>
            <a:r>
              <a:rPr lang="en-US" altLang="en-US" sz="2000" dirty="0"/>
              <a:t>Processes migrate among the various queues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9466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F2D9-E9D5-2122-9359-118CFFCF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6156-95B4-0907-9DFA-11DB8FBEB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First- Come, First-Served (FCFS) Scheduling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	                                        Process.             Burst Time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		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1</a:t>
            </a:r>
            <a:r>
              <a:rPr lang="en-US" altLang="en-US" sz="1800" dirty="0"/>
              <a:t>	24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		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2</a:t>
            </a:r>
            <a:r>
              <a:rPr lang="en-US" altLang="en-US" sz="1800" dirty="0"/>
              <a:t> 	3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		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3	 </a:t>
            </a:r>
            <a:r>
              <a:rPr lang="en-US" altLang="en-US" sz="1800" dirty="0"/>
              <a:t>3</a:t>
            </a:r>
            <a:r>
              <a:rPr lang="en-US" altLang="en-US" sz="1800" i="1" baseline="-25000" dirty="0"/>
              <a:t> 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Suppose that the processes arrive in the order: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1</a:t>
            </a:r>
            <a:r>
              <a:rPr lang="en-US" altLang="en-US" sz="1800" dirty="0"/>
              <a:t> ,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2</a:t>
            </a:r>
            <a:r>
              <a:rPr lang="en-US" altLang="en-US" sz="1800" dirty="0"/>
              <a:t> ,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3  </a:t>
            </a:r>
            <a:br>
              <a:rPr lang="en-US" altLang="en-US" sz="1800" i="1" baseline="-25000" dirty="0"/>
            </a:br>
            <a:r>
              <a:rPr lang="en-US" altLang="en-US" sz="1800" dirty="0"/>
              <a:t>The Gantt Chart for the schedule is:</a:t>
            </a: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Waiting time for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1</a:t>
            </a:r>
            <a:r>
              <a:rPr lang="en-US" altLang="en-US" sz="1800" dirty="0"/>
              <a:t>  = 0;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2</a:t>
            </a:r>
            <a:r>
              <a:rPr lang="en-US" altLang="en-US" sz="1800" dirty="0"/>
              <a:t>  = 24;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3 </a:t>
            </a:r>
            <a:r>
              <a:rPr lang="en-US" altLang="en-US" sz="1800" dirty="0"/>
              <a:t>= 27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Average waiting time:  (0 + 24 + 27)/3 = 17</a:t>
            </a:r>
            <a:endParaRPr lang="en-US" sz="18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252C2321-8E60-2D97-65E4-869FEE1C0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381" y="4005064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43358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32204-87DC-C471-4300-3DB00FDB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FCFS Scheduling (Cont.)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79982-5BA9-9FA7-CB6B-0C0DDDD70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sz="1600" dirty="0"/>
              <a:t>Suppose that the processes arrive in the order: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 ,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</a:t>
            </a:r>
            <a:r>
              <a:rPr lang="en-US" altLang="en-US" sz="1600" dirty="0"/>
              <a:t> ,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 </a:t>
            </a:r>
          </a:p>
          <a:p>
            <a:pPr>
              <a:buFont typeface="Monotype Sorts" pitchFamily="-84" charset="2"/>
              <a:buChar char="n"/>
              <a:tabLst>
                <a:tab pos="3649345" algn="ctr"/>
              </a:tabLst>
              <a:defRPr/>
            </a:pPr>
            <a:r>
              <a:rPr lang="en-US" altLang="en-US" sz="1600" dirty="0"/>
              <a:t>The Gantt chart for the schedule is:</a:t>
            </a:r>
            <a:br>
              <a:rPr lang="en-US" altLang="en-US" sz="1600" dirty="0"/>
            </a:br>
            <a:endParaRPr lang="en-US" altLang="en-US" sz="1600" dirty="0"/>
          </a:p>
          <a:p>
            <a:pPr marL="0" indent="0">
              <a:buNone/>
              <a:tabLst>
                <a:tab pos="3649345" algn="ctr"/>
              </a:tabLst>
              <a:defRPr/>
            </a:pPr>
            <a:endParaRPr lang="en-US" altLang="en-US" sz="1600" dirty="0"/>
          </a:p>
          <a:p>
            <a:pPr>
              <a:buFont typeface="Monotype Sorts" pitchFamily="-84" charset="2"/>
              <a:buChar char="n"/>
              <a:tabLst>
                <a:tab pos="3649345" algn="ctr"/>
              </a:tabLst>
              <a:defRPr/>
            </a:pPr>
            <a:endParaRPr lang="en-US" altLang="en-US" sz="1600" dirty="0"/>
          </a:p>
          <a:p>
            <a:pPr marL="0" indent="0"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sz="1600" dirty="0"/>
          </a:p>
          <a:p>
            <a:pPr>
              <a:buFont typeface="Monotype Sorts" pitchFamily="-84" charset="2"/>
              <a:buChar char="n"/>
              <a:tabLst>
                <a:tab pos="3649345" algn="ctr"/>
              </a:tabLst>
              <a:defRPr/>
            </a:pPr>
            <a:r>
              <a:rPr lang="en-US" altLang="en-US" sz="1600" dirty="0"/>
              <a:t>Waiting time for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 </a:t>
            </a:r>
            <a:r>
              <a:rPr lang="en-US" altLang="en-US" sz="1600" i="1" dirty="0"/>
              <a:t>=</a:t>
            </a:r>
            <a:r>
              <a:rPr lang="en-US" altLang="en-US" sz="1600" dirty="0"/>
              <a:t> 6</a:t>
            </a:r>
            <a:r>
              <a:rPr lang="en-US" altLang="en-US" sz="1600" i="1" dirty="0"/>
              <a:t>;</a:t>
            </a:r>
            <a:r>
              <a:rPr lang="en-US" altLang="en-US" sz="1600" i="1" baseline="-25000" dirty="0"/>
              <a:t>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</a:t>
            </a:r>
            <a:r>
              <a:rPr lang="en-US" altLang="en-US" sz="1600" dirty="0"/>
              <a:t> = 0</a:t>
            </a:r>
            <a:r>
              <a:rPr lang="en-US" altLang="en-US" sz="1600" i="1" baseline="-25000" dirty="0"/>
              <a:t>;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 </a:t>
            </a:r>
            <a:r>
              <a:rPr lang="en-US" altLang="en-US" sz="1600" i="1" dirty="0"/>
              <a:t>= </a:t>
            </a:r>
            <a:r>
              <a:rPr lang="en-US" altLang="en-US" sz="1600" dirty="0"/>
              <a:t>3</a:t>
            </a:r>
            <a:endParaRPr lang="en-US" altLang="en-US" sz="1600" i="1" dirty="0"/>
          </a:p>
          <a:p>
            <a:pPr>
              <a:buFont typeface="Monotype Sorts" pitchFamily="-84" charset="2"/>
              <a:buChar char="n"/>
              <a:tabLst>
                <a:tab pos="3649345" algn="ctr"/>
              </a:tabLst>
              <a:defRPr/>
            </a:pPr>
            <a:r>
              <a:rPr lang="en-US" altLang="en-US" sz="1600" dirty="0"/>
              <a:t>Average waiting time:   (6 + 0 + 3)/3 = 3</a:t>
            </a:r>
          </a:p>
          <a:p>
            <a:pPr>
              <a:buFont typeface="Monotype Sorts" pitchFamily="-84" charset="2"/>
              <a:buChar char="n"/>
              <a:tabLst>
                <a:tab pos="3649345" algn="ctr"/>
              </a:tabLst>
              <a:defRPr/>
            </a:pPr>
            <a:r>
              <a:rPr lang="en-US" altLang="en-US" sz="1600" dirty="0"/>
              <a:t>Much better than previous case</a:t>
            </a:r>
          </a:p>
          <a:p>
            <a:pPr>
              <a:buFont typeface="Monotype Sorts" pitchFamily="-84" charset="2"/>
              <a:buChar char="n"/>
              <a:tabLst>
                <a:tab pos="3649345" algn="ctr"/>
              </a:tabLst>
              <a:defRPr/>
            </a:pPr>
            <a:r>
              <a:rPr lang="en-US" altLang="en-US" sz="1600" b="1" dirty="0">
                <a:solidFill>
                  <a:srgbClr val="3366FF"/>
                </a:solidFill>
              </a:rPr>
              <a:t>Convoy effect </a:t>
            </a:r>
            <a:r>
              <a:rPr lang="en-US" altLang="en-US" sz="1600" dirty="0"/>
              <a:t>- short process behind long process</a:t>
            </a:r>
          </a:p>
          <a:p>
            <a:pPr lvl="1">
              <a:buFont typeface="Monotype Sorts" pitchFamily="-84" charset="2"/>
              <a:buChar char="l"/>
              <a:tabLst>
                <a:tab pos="3649345" algn="ctr"/>
              </a:tabLst>
              <a:defRPr/>
            </a:pPr>
            <a:r>
              <a:rPr lang="en-US" altLang="en-US" sz="1600" dirty="0"/>
              <a:t>Consider one CPU-bound and many I/O-bound processes</a:t>
            </a:r>
          </a:p>
          <a:p>
            <a:endParaRPr lang="en-US" sz="16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30E9FD59-81D2-AEF2-05F6-B711BDCB0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058318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0186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E6E3-2561-F8E8-9F05-9C6E0E08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Shortest-Job-First (SJF)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EEE47-470F-A3A0-B9D1-D66BCA09B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Associate with each process the length of its next CPU burst</a:t>
            </a:r>
          </a:p>
          <a:p>
            <a:pPr lvl="1"/>
            <a:r>
              <a:rPr lang="en-US" altLang="en-US" dirty="0"/>
              <a:t> Use these lengths to schedule the process with the shortest time</a:t>
            </a:r>
          </a:p>
          <a:p>
            <a:r>
              <a:rPr lang="en-US" altLang="en-US" dirty="0"/>
              <a:t>SJF is optimal – gives minimum average waiting time for a given set of processes</a:t>
            </a:r>
          </a:p>
          <a:p>
            <a:pPr lvl="1"/>
            <a:r>
              <a:rPr lang="en-US" altLang="en-US" dirty="0"/>
              <a:t>The difficulty is knowing the length of the next CPU request</a:t>
            </a:r>
          </a:p>
          <a:p>
            <a:pPr lvl="1"/>
            <a:r>
              <a:rPr lang="en-US" altLang="en-US" dirty="0"/>
              <a:t>Could ask the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709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1638-AA5A-4D80-DBC6-983968F6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SJF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00585-EE40-9301-521B-DA76D085E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600" dirty="0"/>
              <a:t>                          </a:t>
            </a:r>
            <a:r>
              <a:rPr lang="en-US" altLang="en-US" sz="1600" u="sng" dirty="0"/>
              <a:t>Process</a:t>
            </a:r>
            <a:r>
              <a:rPr lang="en-US" altLang="en-US" sz="1600" dirty="0"/>
              <a:t>.               	</a:t>
            </a:r>
            <a:r>
              <a:rPr lang="en-US" altLang="en-US" sz="1600" u="sng" dirty="0"/>
              <a:t>Burst Time</a:t>
            </a:r>
            <a:endParaRPr lang="en-US" altLang="en-US" sz="1600" dirty="0"/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600" dirty="0"/>
              <a:t>		            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	6</a:t>
            </a:r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600" dirty="0"/>
              <a:t>		           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 	</a:t>
            </a:r>
            <a:r>
              <a:rPr lang="en-US" altLang="en-US" sz="1600" dirty="0"/>
              <a:t>8</a:t>
            </a:r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600" dirty="0"/>
              <a:t>		           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</a:t>
            </a:r>
            <a:r>
              <a:rPr lang="en-US" altLang="en-US" sz="1600" dirty="0"/>
              <a:t>	7</a:t>
            </a:r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600" dirty="0"/>
              <a:t>		           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4</a:t>
            </a:r>
            <a:r>
              <a:rPr lang="en-US" altLang="en-US" sz="1600" dirty="0"/>
              <a:t>	3</a:t>
            </a:r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6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600" dirty="0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Average waiting time = (3 + 16 + 9 + 0) / 4 = 7</a:t>
            </a:r>
            <a:endParaRPr lang="en-US" sz="18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69EC67F6-BE4C-86AE-785F-D15412128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509120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06693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2117B-2B4B-A744-2605-EA9192485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Shortest-remaining-time-first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B335-59BD-8280-A372-BD99AB456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Char char="n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1600" dirty="0"/>
              <a:t>Now we add the concepts of varying arrival times and preemption to the analysis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1600" dirty="0"/>
              <a:t>		         </a:t>
            </a:r>
            <a:r>
              <a:rPr lang="en-US" altLang="en-US" sz="1600" u="sng" dirty="0" err="1"/>
              <a:t>Process</a:t>
            </a:r>
            <a:r>
              <a:rPr lang="en-US" altLang="en-US" sz="1600" u="sng" dirty="0" err="1">
                <a:solidFill>
                  <a:schemeClr val="bg1"/>
                </a:solidFill>
              </a:rPr>
              <a:t>A</a:t>
            </a:r>
            <a:r>
              <a:rPr lang="en-US" altLang="en-US" sz="1600" u="sng" dirty="0">
                <a:solidFill>
                  <a:schemeClr val="bg1"/>
                </a:solidFill>
              </a:rPr>
              <a:t>	</a:t>
            </a:r>
            <a:r>
              <a:rPr lang="en-US" altLang="en-US" sz="1600" u="sng" dirty="0" err="1">
                <a:solidFill>
                  <a:schemeClr val="bg1"/>
                </a:solidFill>
              </a:rPr>
              <a:t>arri</a:t>
            </a:r>
            <a:r>
              <a:rPr lang="en-US" altLang="en-US" sz="1600" u="sng" dirty="0">
                <a:solidFill>
                  <a:schemeClr val="bg1"/>
                </a:solidFill>
              </a:rPr>
              <a:t> </a:t>
            </a:r>
            <a:r>
              <a:rPr lang="en-US" altLang="en-US" sz="1600" i="1" u="sng" dirty="0"/>
              <a:t>Arrival </a:t>
            </a:r>
            <a:r>
              <a:rPr lang="en-US" altLang="en-US" sz="1600" u="sng" dirty="0" err="1"/>
              <a:t>Time</a:t>
            </a:r>
            <a:r>
              <a:rPr lang="en-US" altLang="en-US" sz="1600" u="sng" dirty="0" err="1">
                <a:solidFill>
                  <a:schemeClr val="bg1"/>
                </a:solidFill>
              </a:rPr>
              <a:t>T</a:t>
            </a:r>
            <a:r>
              <a:rPr lang="en-US" altLang="en-US" sz="1600" dirty="0"/>
              <a:t>	</a:t>
            </a:r>
            <a:r>
              <a:rPr lang="en-US" altLang="en-US" sz="1600" u="sng" dirty="0"/>
              <a:t>Burst Time</a:t>
            </a:r>
            <a:endParaRPr lang="en-US" altLang="en-US" sz="1600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1</a:t>
            </a:r>
            <a:r>
              <a:rPr lang="en-US" altLang="en-US" sz="1600" dirty="0"/>
              <a:t>	</a:t>
            </a:r>
            <a:r>
              <a:rPr lang="en-US" altLang="en-US" sz="1600" dirty="0">
                <a:solidFill>
                  <a:srgbClr val="000000"/>
                </a:solidFill>
              </a:rPr>
              <a:t>0</a:t>
            </a:r>
            <a:r>
              <a:rPr lang="en-US" altLang="en-US" sz="1600" dirty="0"/>
              <a:t>	8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2 	</a:t>
            </a:r>
            <a:r>
              <a:rPr lang="en-US" altLang="en-US" sz="1600" dirty="0">
                <a:solidFill>
                  <a:srgbClr val="000000"/>
                </a:solidFill>
              </a:rPr>
              <a:t>1</a:t>
            </a:r>
            <a:r>
              <a:rPr lang="en-US" altLang="en-US" sz="1600" dirty="0"/>
              <a:t>	4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3</a:t>
            </a:r>
            <a:r>
              <a:rPr lang="en-US" altLang="en-US" sz="1600" dirty="0"/>
              <a:t>	</a:t>
            </a:r>
            <a:r>
              <a:rPr lang="en-US" altLang="en-US" sz="1600" dirty="0">
                <a:solidFill>
                  <a:srgbClr val="000000"/>
                </a:solidFill>
              </a:rPr>
              <a:t>2</a:t>
            </a:r>
            <a:r>
              <a:rPr lang="en-US" altLang="en-US" sz="1600" dirty="0"/>
              <a:t>	9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1600" dirty="0"/>
              <a:t>		 </a:t>
            </a:r>
            <a:r>
              <a:rPr lang="en-US" altLang="en-US" sz="1600" i="1" dirty="0"/>
              <a:t>P</a:t>
            </a:r>
            <a:r>
              <a:rPr lang="en-US" altLang="en-US" sz="1600" i="1" baseline="-25000" dirty="0"/>
              <a:t>4</a:t>
            </a:r>
            <a:r>
              <a:rPr lang="en-US" altLang="en-US" sz="1600" dirty="0"/>
              <a:t>	</a:t>
            </a:r>
            <a:r>
              <a:rPr lang="en-US" altLang="en-US" sz="1600" dirty="0">
                <a:solidFill>
                  <a:srgbClr val="000000"/>
                </a:solidFill>
              </a:rPr>
              <a:t>3</a:t>
            </a:r>
            <a:r>
              <a:rPr lang="en-US" altLang="en-US" sz="1600" dirty="0"/>
              <a:t>	5</a:t>
            </a:r>
          </a:p>
          <a:p>
            <a:pPr>
              <a:buFont typeface="Monotype Sorts" pitchFamily="-84" charset="2"/>
              <a:buChar char="n"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1600" i="1" dirty="0"/>
              <a:t>Preemptive </a:t>
            </a:r>
            <a:r>
              <a:rPr lang="en-US" altLang="en-US" sz="1600" dirty="0"/>
              <a:t>SJF Gantt Chart</a:t>
            </a:r>
          </a:p>
          <a:p>
            <a:pPr marL="0" indent="0"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sz="1600" dirty="0"/>
          </a:p>
          <a:p>
            <a:endParaRPr lang="en-US" dirty="0"/>
          </a:p>
          <a:p>
            <a:pPr marL="0" indent="0">
              <a:buNone/>
            </a:pPr>
            <a:r>
              <a:rPr lang="en-US" altLang="en-US" sz="1800" dirty="0"/>
              <a:t>Average waiting time = [(10-1)+(1-1)+(17-2)+5-3)]/4 = 26/4 = 6.5 msec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2628E26-560B-B15F-0480-6CB44AF66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293096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1514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3BE7-109F-6FEE-0622-647C2736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Priority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8AE56-4DD9-6339-6D94-0F0DDBDA5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A priority number (integer) is associated with each process</a:t>
            </a:r>
          </a:p>
          <a:p>
            <a:r>
              <a:rPr lang="en-US" altLang="en-US" sz="2000" dirty="0"/>
              <a:t>The CPU is allocated to the process with the highest priority (smallest integer </a:t>
            </a:r>
            <a:r>
              <a:rPr lang="en-US" altLang="en-US" sz="2000" dirty="0">
                <a:sym typeface="Symbol" pitchFamily="2" charset="2"/>
              </a:rPr>
              <a:t> highest priority)</a:t>
            </a:r>
          </a:p>
          <a:p>
            <a:pPr lvl="1"/>
            <a:r>
              <a:rPr lang="en-US" altLang="en-US" sz="2000" b="1" dirty="0"/>
              <a:t>Preemptive</a:t>
            </a:r>
          </a:p>
          <a:p>
            <a:pPr lvl="1"/>
            <a:r>
              <a:rPr lang="en-US" altLang="en-US" sz="2000" b="1" dirty="0"/>
              <a:t>Non-preemptive</a:t>
            </a:r>
          </a:p>
          <a:p>
            <a:r>
              <a:rPr lang="en-US" altLang="en-US" sz="2000" dirty="0"/>
              <a:t>SJF is priority scheduling where priority is the inverse of predicted next CPU burst time</a:t>
            </a:r>
          </a:p>
          <a:p>
            <a:r>
              <a:rPr lang="en-US" altLang="en-US" sz="2000" dirty="0"/>
              <a:t>Problem </a:t>
            </a:r>
            <a:r>
              <a:rPr lang="en-US" altLang="en-US" sz="2000" dirty="0">
                <a:sym typeface="Symbol" pitchFamily="2" charset="2"/>
              </a:rPr>
              <a:t> </a:t>
            </a:r>
            <a:r>
              <a:rPr lang="en-US" altLang="en-US" sz="2000" b="1" dirty="0">
                <a:solidFill>
                  <a:srgbClr val="3366FF"/>
                </a:solidFill>
                <a:sym typeface="Symbol" pitchFamily="2" charset="2"/>
              </a:rPr>
              <a:t>Starvation</a:t>
            </a:r>
            <a:r>
              <a:rPr lang="en-US" altLang="en-US" sz="2000" b="1" dirty="0">
                <a:sym typeface="Symbol" pitchFamily="2" charset="2"/>
              </a:rPr>
              <a:t> </a:t>
            </a:r>
            <a:r>
              <a:rPr lang="en-US" altLang="en-US" sz="2000" dirty="0">
                <a:sym typeface="Symbol" pitchFamily="2" charset="2"/>
              </a:rPr>
              <a:t>– low-priority processes may never execute</a:t>
            </a:r>
          </a:p>
          <a:p>
            <a:r>
              <a:rPr lang="en-US" altLang="en-US" sz="2000" dirty="0">
                <a:sym typeface="Symbol" pitchFamily="2" charset="2"/>
              </a:rPr>
              <a:t>Solution  </a:t>
            </a:r>
            <a:r>
              <a:rPr lang="en-US" altLang="en-US" sz="2000" b="1" dirty="0">
                <a:solidFill>
                  <a:srgbClr val="3366FF"/>
                </a:solidFill>
                <a:sym typeface="Symbol" pitchFamily="2" charset="2"/>
              </a:rPr>
              <a:t>Aging</a:t>
            </a:r>
            <a:r>
              <a:rPr lang="en-US" altLang="en-US" sz="2000" b="1" dirty="0">
                <a:sym typeface="Symbol" pitchFamily="2" charset="2"/>
              </a:rPr>
              <a:t> </a:t>
            </a:r>
            <a:r>
              <a:rPr lang="en-US" altLang="en-US" sz="2000" dirty="0">
                <a:sym typeface="Symbol" pitchFamily="2" charset="2"/>
              </a:rPr>
              <a:t>– as time progresses increase the priority of the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2985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0B1C-DCCB-8B00-81E6-5BF90695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Priority Scheduling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8755-7C79-DB75-2CF3-11ED1C04C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 		</a:t>
            </a:r>
            <a:r>
              <a:rPr lang="en-US" altLang="en-US" sz="1800" dirty="0"/>
              <a:t>                    Process.           Burst Time.            Priority</a:t>
            </a:r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1</a:t>
            </a:r>
            <a:r>
              <a:rPr lang="en-US" altLang="en-US" sz="1800" dirty="0"/>
              <a:t>	1</a:t>
            </a:r>
            <a:r>
              <a:rPr lang="en-US" altLang="en-US" sz="1800" dirty="0">
                <a:solidFill>
                  <a:srgbClr val="000000"/>
                </a:solidFill>
              </a:rPr>
              <a:t>0</a:t>
            </a:r>
            <a:r>
              <a:rPr lang="en-US" altLang="en-US" sz="1800" dirty="0"/>
              <a:t>	3</a:t>
            </a:r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2 	</a:t>
            </a:r>
            <a:r>
              <a:rPr lang="en-US" altLang="en-US" sz="1800" dirty="0">
                <a:solidFill>
                  <a:srgbClr val="000000"/>
                </a:solidFill>
              </a:rPr>
              <a:t>1</a:t>
            </a:r>
            <a:r>
              <a:rPr lang="en-US" altLang="en-US" sz="1800" dirty="0"/>
              <a:t>	1</a:t>
            </a:r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3</a:t>
            </a: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rgbClr val="000000"/>
                </a:solidFill>
              </a:rPr>
              <a:t>2</a:t>
            </a:r>
            <a:r>
              <a:rPr lang="en-US" altLang="en-US" sz="1800" dirty="0"/>
              <a:t>	4</a:t>
            </a:r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4</a:t>
            </a:r>
            <a:r>
              <a:rPr lang="en-US" altLang="en-US" sz="1800" dirty="0"/>
              <a:t>	</a:t>
            </a:r>
            <a:r>
              <a:rPr lang="en-US" altLang="en-US" sz="1800" dirty="0">
                <a:solidFill>
                  <a:srgbClr val="000000"/>
                </a:solidFill>
              </a:rPr>
              <a:t>1</a:t>
            </a:r>
            <a:r>
              <a:rPr lang="en-US" altLang="en-US" sz="1800" dirty="0"/>
              <a:t>	5</a:t>
            </a:r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		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5	</a:t>
            </a:r>
            <a:r>
              <a:rPr lang="en-US" altLang="en-US" sz="1800" dirty="0"/>
              <a:t>5	2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Priority scheduling Gantt Chart</a:t>
            </a:r>
          </a:p>
          <a:p>
            <a:pPr marL="0" indent="0"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sz="1800" dirty="0"/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sz="18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1800" dirty="0"/>
              <a:t>Average waiting time = 8.2 msec</a:t>
            </a:r>
            <a:endParaRPr lang="en-US" altLang="en-US" sz="1800" i="1" baseline="-25000" dirty="0"/>
          </a:p>
          <a:p>
            <a:pPr>
              <a:buFont typeface="Monotype Sorts" pitchFamily="2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sz="1800" dirty="0"/>
          </a:p>
        </p:txBody>
      </p:sp>
      <p:pic>
        <p:nvPicPr>
          <p:cNvPr id="4" name="Picture 5" descr="C:\Users\as668\Desktop\in-5_6.jpg">
            <a:extLst>
              <a:ext uri="{FF2B5EF4-FFF2-40B4-BE49-F238E27FC236}">
                <a16:creationId xmlns:a16="http://schemas.microsoft.com/office/drawing/2014/main" id="{463182AE-8EC5-D78B-6B66-16133FAA2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869160"/>
            <a:ext cx="631825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0288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C8E4-4176-163A-17F4-71DC43E0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Round Robin (RR)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D519-6CB6-8BC8-0B35-DC127757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600" dirty="0"/>
              <a:t>Each process gets a small unit of CPU time (</a:t>
            </a:r>
            <a:r>
              <a:rPr lang="en-US" altLang="en-US" sz="1600" b="1" dirty="0">
                <a:solidFill>
                  <a:srgbClr val="3366FF"/>
                </a:solidFill>
              </a:rPr>
              <a:t>time</a:t>
            </a:r>
            <a:r>
              <a:rPr lang="en-US" altLang="en-US" sz="1600" b="1" dirty="0"/>
              <a:t> </a:t>
            </a:r>
            <a:r>
              <a:rPr lang="en-US" altLang="en-US" sz="1600" b="1" dirty="0">
                <a:solidFill>
                  <a:srgbClr val="3366FF"/>
                </a:solidFill>
              </a:rPr>
              <a:t>quantum</a:t>
            </a:r>
            <a:r>
              <a:rPr lang="en-US" altLang="en-US" sz="1600" b="1" dirty="0"/>
              <a:t> </a:t>
            </a:r>
            <a:r>
              <a:rPr lang="en-US" altLang="en-US" sz="1600" i="1" dirty="0"/>
              <a:t>q</a:t>
            </a:r>
            <a:r>
              <a:rPr lang="en-US" altLang="en-US" sz="1600" dirty="0"/>
              <a:t>), usually 10-100 milliseconds.  After this time has elapsed, the process is preempted and added to the end of the ready queue.</a:t>
            </a:r>
          </a:p>
          <a:p>
            <a:r>
              <a:rPr lang="en-US" altLang="en-US" sz="1600" dirty="0"/>
              <a:t>If there are </a:t>
            </a:r>
            <a:r>
              <a:rPr lang="en-US" altLang="en-US" sz="1600" i="1" dirty="0"/>
              <a:t>n</a:t>
            </a:r>
            <a:r>
              <a:rPr lang="en-US" altLang="en-US" sz="1600" dirty="0"/>
              <a:t> processes in the ready queue and the time quantum is </a:t>
            </a:r>
            <a:r>
              <a:rPr lang="en-US" altLang="en-US" sz="1600" i="1" dirty="0"/>
              <a:t>q</a:t>
            </a:r>
            <a:r>
              <a:rPr lang="en-US" altLang="en-US" sz="1600" dirty="0"/>
              <a:t>, then each process gets 1/</a:t>
            </a:r>
            <a:r>
              <a:rPr lang="en-US" altLang="en-US" sz="1600" i="1" dirty="0"/>
              <a:t>n</a:t>
            </a:r>
            <a:r>
              <a:rPr lang="en-US" altLang="en-US" sz="1600" dirty="0"/>
              <a:t> of the CPU time in chunks of at most </a:t>
            </a:r>
            <a:r>
              <a:rPr lang="en-US" altLang="en-US" sz="1600" i="1" dirty="0"/>
              <a:t>q</a:t>
            </a:r>
            <a:r>
              <a:rPr lang="en-US" altLang="en-US" sz="1600" dirty="0"/>
              <a:t> time units at once.  No process waits more than (</a:t>
            </a:r>
            <a:r>
              <a:rPr lang="en-US" altLang="en-US" sz="1600" i="1" dirty="0"/>
              <a:t>n</a:t>
            </a:r>
            <a:r>
              <a:rPr lang="en-US" altLang="en-US" sz="1600" dirty="0"/>
              <a:t>-1)</a:t>
            </a:r>
            <a:r>
              <a:rPr lang="en-US" altLang="en-US" sz="1600" i="1" dirty="0"/>
              <a:t>q </a:t>
            </a:r>
            <a:r>
              <a:rPr lang="en-US" altLang="en-US" sz="1600" dirty="0"/>
              <a:t>time units.</a:t>
            </a:r>
          </a:p>
          <a:p>
            <a:r>
              <a:rPr lang="en-US" altLang="en-US" sz="1600" dirty="0"/>
              <a:t>Timer interrupts every quantum to schedule next process</a:t>
            </a:r>
          </a:p>
          <a:p>
            <a:r>
              <a:rPr lang="en-US" altLang="en-US" sz="1600" dirty="0"/>
              <a:t>Performance</a:t>
            </a:r>
          </a:p>
          <a:p>
            <a:pPr lvl="1"/>
            <a:r>
              <a:rPr lang="en-US" altLang="en-US" sz="1600" i="1" dirty="0"/>
              <a:t>q</a:t>
            </a:r>
            <a:r>
              <a:rPr lang="en-US" altLang="en-US" sz="1600" dirty="0"/>
              <a:t> large </a:t>
            </a:r>
            <a:r>
              <a:rPr lang="en-US" altLang="en-US" sz="1600" dirty="0">
                <a:sym typeface="Symbol" pitchFamily="2" charset="2"/>
              </a:rPr>
              <a:t> FIFO</a:t>
            </a:r>
          </a:p>
          <a:p>
            <a:pPr lvl="1"/>
            <a:r>
              <a:rPr lang="en-US" altLang="en-US" sz="1600" i="1" dirty="0">
                <a:sym typeface="Symbol" pitchFamily="2" charset="2"/>
              </a:rPr>
              <a:t>q </a:t>
            </a:r>
            <a:r>
              <a:rPr lang="en-US" altLang="en-US" sz="1600" dirty="0">
                <a:sym typeface="Symbol" pitchFamily="2" charset="2"/>
              </a:rPr>
              <a:t>small  </a:t>
            </a:r>
            <a:r>
              <a:rPr lang="en-US" altLang="en-US" sz="1600" i="1" dirty="0">
                <a:sym typeface="Symbol" pitchFamily="2" charset="2"/>
              </a:rPr>
              <a:t>q </a:t>
            </a:r>
            <a:r>
              <a:rPr lang="en-US" altLang="en-US" sz="1600" dirty="0">
                <a:sym typeface="Symbol" pitchFamily="2" charset="2"/>
              </a:rPr>
              <a:t>must be large with respect to context switch, otherwise overhead is too high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94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B577-E6F6-29C2-8C17-D029CB69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RR with Time Quantum = 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FCED-A38D-6F2C-18DC-BDAA0DC7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sz="1800" dirty="0"/>
              <a:t>  		</a:t>
            </a:r>
            <a:r>
              <a:rPr lang="en-US" altLang="en-US" sz="1800" u="sng" dirty="0"/>
              <a:t>Process</a:t>
            </a:r>
            <a:r>
              <a:rPr lang="en-US" altLang="en-US" sz="1800" dirty="0"/>
              <a:t>	</a:t>
            </a:r>
            <a:r>
              <a:rPr lang="en-US" altLang="en-US" sz="1800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sz="1800" i="1" dirty="0"/>
              <a:t>		P</a:t>
            </a:r>
            <a:r>
              <a:rPr lang="en-US" altLang="en-US" sz="1800" i="1" baseline="-25000" dirty="0"/>
              <a:t>1	</a:t>
            </a:r>
            <a:r>
              <a:rPr lang="en-US" altLang="en-US" sz="1800" dirty="0"/>
              <a:t>24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sz="1800" dirty="0"/>
              <a:t>		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2	 </a:t>
            </a:r>
            <a:r>
              <a:rPr lang="en-US" altLang="en-US" sz="1800" dirty="0"/>
              <a:t>3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sz="1800" dirty="0"/>
              <a:t>		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3	</a:t>
            </a:r>
            <a:r>
              <a:rPr lang="en-US" altLang="en-US" sz="1800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sz="1800" dirty="0"/>
              <a:t>The Gantt chart is: </a:t>
            </a: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endParaRPr lang="en-US" altLang="en-US" sz="1800" dirty="0"/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sz="1800" dirty="0"/>
              <a:t>Typically, higher average turnaround than SJF, but better </a:t>
            </a:r>
            <a:r>
              <a:rPr lang="en-US" altLang="en-US" sz="1800" b="1" i="1" dirty="0"/>
              <a:t>response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sz="1800" dirty="0"/>
              <a:t>q should be large compared to context switch time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sz="1800" dirty="0"/>
              <a:t>q usually 10ms to 100ms, context switch &lt; 10 </a:t>
            </a:r>
            <a:r>
              <a:rPr lang="en-US" altLang="en-US" sz="1800" dirty="0" err="1"/>
              <a:t>usec</a:t>
            </a:r>
            <a:endParaRPr lang="en-US" altLang="en-US" sz="1800" dirty="0"/>
          </a:p>
          <a:p>
            <a:endParaRPr lang="en-US" sz="18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7DB8D538-A658-986F-B91F-D392EA3F3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3227388"/>
            <a:ext cx="6770687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11311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5B23-8F42-ABDD-21F7-464AB19B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Time Quantum and Context Switch Time</a:t>
            </a:r>
            <a:endParaRPr lang="en-U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749B78A5-FCA7-4176-096F-357FB346B7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01541"/>
            <a:ext cx="7924800" cy="3523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1296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2ACC-7788-9EC3-D181-8ABC69A4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Turnaround Time Varies With The Time Quantum</a:t>
            </a:r>
            <a:endParaRPr lang="en-U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3AFB1D62-BB57-A535-C5E0-76DA72FA77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658" y="1371600"/>
            <a:ext cx="6050284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14C2319C-E854-8356-BDBA-23EFB2C6D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3744913"/>
            <a:ext cx="23129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300"/>
              <a:t>80% of CPU bursts should be shorter than q</a:t>
            </a:r>
          </a:p>
        </p:txBody>
      </p:sp>
    </p:spTree>
    <p:extLst>
      <p:ext uri="{BB962C8B-B14F-4D97-AF65-F5344CB8AC3E}">
        <p14:creationId xmlns:p14="http://schemas.microsoft.com/office/powerpoint/2010/main" val="28702930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166A-89E3-F775-89E3-7C78ADEE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Tree of Processes in Linux</a:t>
            </a:r>
            <a:endParaRPr lang="en-US" dirty="0"/>
          </a:p>
        </p:txBody>
      </p:sp>
      <p:pic>
        <p:nvPicPr>
          <p:cNvPr id="4" name="Picture 1" descr="3_08.pdf">
            <a:extLst>
              <a:ext uri="{FF2B5EF4-FFF2-40B4-BE49-F238E27FC236}">
                <a16:creationId xmlns:a16="http://schemas.microsoft.com/office/drawing/2014/main" id="{C7A0AEE1-83C3-A07A-B8A3-C2562ABC6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96557"/>
            <a:ext cx="7924800" cy="373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39133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38F8E-083C-EF98-F321-589208A6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Creation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3C33F-B57C-3350-E213-33CCA36A3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/>
              <a:t>Address space</a:t>
            </a:r>
          </a:p>
          <a:p>
            <a:pPr lvl="1"/>
            <a:r>
              <a:rPr lang="en-US" altLang="en-US" sz="1800" dirty="0"/>
              <a:t>Child duplicate of parent</a:t>
            </a:r>
          </a:p>
          <a:p>
            <a:pPr lvl="1"/>
            <a:r>
              <a:rPr lang="en-US" altLang="en-US" sz="1800" dirty="0"/>
              <a:t>Child has a program loaded into it</a:t>
            </a:r>
          </a:p>
          <a:p>
            <a:r>
              <a:rPr lang="en-US" altLang="en-US" sz="1800" dirty="0"/>
              <a:t>UNIX examples</a:t>
            </a:r>
          </a:p>
          <a:p>
            <a:pPr lvl="1"/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en-US" sz="1800" dirty="0">
                <a:solidFill>
                  <a:srgbClr val="000000"/>
                </a:solidFill>
              </a:rPr>
              <a:t> </a:t>
            </a:r>
            <a:r>
              <a:rPr lang="en-US" altLang="en-US" sz="1800" dirty="0"/>
              <a:t>system call creates new process</a:t>
            </a:r>
          </a:p>
          <a:p>
            <a:pPr lvl="1"/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r>
              <a:rPr lang="en-US" altLang="en-US" sz="1800" dirty="0"/>
              <a:t> system call used after a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en-US" sz="1800" dirty="0"/>
              <a:t> to replace the process</a:t>
            </a:r>
            <a:r>
              <a:rPr lang="ja-JP" altLang="en-US" sz="1800"/>
              <a:t>’</a:t>
            </a:r>
            <a:r>
              <a:rPr lang="en-US" altLang="ja-JP" sz="1800" dirty="0"/>
              <a:t> memory space with a new program</a:t>
            </a:r>
            <a:endParaRPr lang="en-US" altLang="en-US" sz="1800" dirty="0"/>
          </a:p>
          <a:p>
            <a:endParaRPr lang="en-US" dirty="0"/>
          </a:p>
        </p:txBody>
      </p:sp>
      <p:pic>
        <p:nvPicPr>
          <p:cNvPr id="4" name="Picture 4" descr="3">
            <a:extLst>
              <a:ext uri="{FF2B5EF4-FFF2-40B4-BE49-F238E27FC236}">
                <a16:creationId xmlns:a16="http://schemas.microsoft.com/office/drawing/2014/main" id="{A5A48323-F09F-5053-6CAF-2DA1C5660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678362"/>
            <a:ext cx="64198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4244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0E20-448C-F409-4F94-5FE193E5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Termination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5C4A-2401-6FBE-3F1D-FAC3CCC57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/>
              <a:t>Process executes last statement and then asks the operating system to delete it using the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lang="en-US" altLang="en-US" sz="1800" dirty="0">
                <a:cs typeface="Courier New" panose="02070309020205020404" pitchFamily="49" charset="0"/>
              </a:rPr>
              <a:t> system call.</a:t>
            </a:r>
            <a:endParaRPr lang="en-US" altLang="en-US" sz="1800" dirty="0"/>
          </a:p>
          <a:p>
            <a:pPr lvl="1"/>
            <a:r>
              <a:rPr lang="en-US" altLang="en-US" sz="1800" dirty="0"/>
              <a:t>Returns  status data from child to parent (via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sz="1800" dirty="0"/>
              <a:t>)</a:t>
            </a:r>
          </a:p>
          <a:p>
            <a:pPr lvl="1"/>
            <a:r>
              <a:rPr lang="en-US" altLang="en-US" sz="1800" dirty="0"/>
              <a:t>Process</a:t>
            </a:r>
            <a:r>
              <a:rPr lang="ja-JP" altLang="en-US" sz="1800"/>
              <a:t>’</a:t>
            </a:r>
            <a:r>
              <a:rPr lang="en-US" altLang="ja-JP" sz="1800" dirty="0"/>
              <a:t> resources are deallocated by operating system</a:t>
            </a:r>
            <a:endParaRPr lang="en-US" altLang="en-US" sz="1800" dirty="0"/>
          </a:p>
          <a:p>
            <a:r>
              <a:rPr lang="en-US" altLang="en-US" sz="1800" dirty="0"/>
              <a:t>Parent may terminate the execution of children processes  using the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abort()</a:t>
            </a:r>
            <a:r>
              <a:rPr lang="en-US" altLang="en-US" sz="1800" dirty="0">
                <a:cs typeface="Courier New" panose="02070309020205020404" pitchFamily="49" charset="0"/>
              </a:rPr>
              <a:t> system call.  Some reasons for doing so:</a:t>
            </a:r>
            <a:endParaRPr lang="en-US" altLang="en-US" sz="1800" dirty="0"/>
          </a:p>
          <a:p>
            <a:pPr lvl="1"/>
            <a:r>
              <a:rPr lang="en-US" altLang="en-US" sz="1800" dirty="0"/>
              <a:t>Child has exceeded allocated resources</a:t>
            </a:r>
          </a:p>
          <a:p>
            <a:pPr lvl="1"/>
            <a:r>
              <a:rPr lang="en-US" altLang="en-US" sz="1800" dirty="0"/>
              <a:t>Task assigned to child is no longer required</a:t>
            </a:r>
          </a:p>
          <a:p>
            <a:pPr lvl="1"/>
            <a:r>
              <a:rPr lang="en-US" altLang="en-US" sz="1800" dirty="0"/>
              <a:t>The parent is exiting and the operating systems does not allow  a child to continue if its parent terminates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3864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78715-59EE-5663-6460-44CCD794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Termination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389A9-6EBA-011F-DEAE-FA55F290E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sz="1800" b="1" dirty="0"/>
              <a:t>cascading termination.  </a:t>
            </a:r>
            <a:r>
              <a:rPr lang="en-US" altLang="en-US" sz="1800" dirty="0"/>
              <a:t>All children, grandchildren, etc.  are  terminated.</a:t>
            </a:r>
            <a:endParaRPr lang="en-US" altLang="en-US" sz="1800" b="1" dirty="0"/>
          </a:p>
          <a:p>
            <a:pPr lvl="1"/>
            <a:r>
              <a:rPr lang="en-US" altLang="en-US" sz="1800" dirty="0"/>
              <a:t>The termination is initiated by the operating system.</a:t>
            </a:r>
            <a:endParaRPr lang="en-US" altLang="en-US" sz="1800" b="1" dirty="0"/>
          </a:p>
          <a:p>
            <a:r>
              <a:rPr lang="en-US" altLang="en-US" sz="1800" dirty="0"/>
              <a:t>The parent process may wait for termination of a child process by using the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sz="1800" dirty="0"/>
              <a:t>system call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altLang="en-US" sz="1800" dirty="0"/>
              <a:t>The call returns status information and the </a:t>
            </a:r>
            <a:r>
              <a:rPr lang="en-US" altLang="en-US" sz="1800" dirty="0" err="1"/>
              <a:t>pid</a:t>
            </a:r>
            <a:r>
              <a:rPr lang="en-US" altLang="en-US" sz="1800" dirty="0"/>
              <a:t> of the terminated process</a:t>
            </a:r>
            <a:endParaRPr lang="en-US" alt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wait(&amp;status); </a:t>
            </a:r>
          </a:p>
          <a:p>
            <a:r>
              <a:rPr lang="en-US" altLang="en-US" sz="1800" dirty="0"/>
              <a:t>If no parent waiting (did not invoke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sz="1800" dirty="0">
                <a:cs typeface="Courier New" panose="02070309020205020404" pitchFamily="49" charset="0"/>
              </a:rPr>
              <a:t>) </a:t>
            </a:r>
            <a:r>
              <a:rPr lang="en-US" altLang="en-US" sz="1800" dirty="0"/>
              <a:t>process is a </a:t>
            </a:r>
            <a:r>
              <a:rPr lang="en-US" altLang="en-US" sz="1800" b="1" dirty="0">
                <a:solidFill>
                  <a:srgbClr val="3366FF"/>
                </a:solidFill>
              </a:rPr>
              <a:t>zombie</a:t>
            </a:r>
          </a:p>
          <a:p>
            <a:r>
              <a:rPr lang="en-US" altLang="en-US" sz="1800" dirty="0"/>
              <a:t>If parent terminated without invoking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wait</a:t>
            </a:r>
            <a:r>
              <a:rPr lang="en-US" altLang="en-US" sz="1800" dirty="0"/>
              <a:t> , process is an </a:t>
            </a:r>
            <a:r>
              <a:rPr lang="en-US" altLang="en-US" sz="1800" b="1" dirty="0">
                <a:solidFill>
                  <a:srgbClr val="3366FF"/>
                </a:solidFill>
              </a:rPr>
              <a:t>orphan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148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4E08-BB55-7253-0036-8EE9706C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Multiprocess</a:t>
            </a:r>
            <a:r>
              <a:rPr lang="en-US" altLang="en-US" dirty="0"/>
              <a:t> Architecture – Chrome Browser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21BF1-C87F-0BED-DC51-4C77D2261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/>
              <a:t>Many web browsers ran as single process (some still do)</a:t>
            </a:r>
          </a:p>
          <a:p>
            <a:pPr lvl="1"/>
            <a:r>
              <a:rPr lang="en-US" altLang="en-US" sz="1800" dirty="0"/>
              <a:t>If one web site causes trouble, entire browser can hang or crash</a:t>
            </a:r>
          </a:p>
          <a:p>
            <a:r>
              <a:rPr lang="en-US" altLang="en-US" sz="1800" dirty="0"/>
              <a:t>Google Chrome Browser is </a:t>
            </a:r>
            <a:r>
              <a:rPr lang="en-US" altLang="en-US" sz="1800" dirty="0" err="1"/>
              <a:t>multiprocess</a:t>
            </a:r>
            <a:r>
              <a:rPr lang="en-US" altLang="en-US" sz="1800" dirty="0"/>
              <a:t> with 3 different types of processes: </a:t>
            </a:r>
          </a:p>
          <a:p>
            <a:pPr lvl="1"/>
            <a:r>
              <a:rPr lang="en-US" altLang="en-US" sz="1800" b="1" dirty="0">
                <a:solidFill>
                  <a:srgbClr val="3366FF"/>
                </a:solidFill>
              </a:rPr>
              <a:t>Browser</a:t>
            </a:r>
            <a:r>
              <a:rPr lang="en-US" altLang="en-US" sz="1800" dirty="0"/>
              <a:t> process manages user interface, disk and network I/O</a:t>
            </a:r>
          </a:p>
          <a:p>
            <a:pPr lvl="1"/>
            <a:r>
              <a:rPr lang="en-US" altLang="en-US" sz="1800" b="1" dirty="0">
                <a:solidFill>
                  <a:srgbClr val="3366FF"/>
                </a:solidFill>
              </a:rPr>
              <a:t>Renderer</a:t>
            </a:r>
            <a:r>
              <a:rPr lang="en-US" altLang="en-US" sz="1800" dirty="0"/>
              <a:t> process renders web pages, deals with HTML, </a:t>
            </a:r>
            <a:r>
              <a:rPr lang="en-US" altLang="en-US" sz="1800" dirty="0" err="1"/>
              <a:t>Javascript</a:t>
            </a:r>
            <a:r>
              <a:rPr lang="en-US" altLang="en-US" sz="1800" dirty="0"/>
              <a:t>. A new renderer created for each website opened</a:t>
            </a:r>
          </a:p>
          <a:p>
            <a:pPr lvl="2"/>
            <a:r>
              <a:rPr lang="en-US" altLang="en-US" sz="1800" dirty="0"/>
              <a:t>Runs in </a:t>
            </a:r>
            <a:r>
              <a:rPr lang="en-US" altLang="en-US" sz="1800" b="1" dirty="0">
                <a:solidFill>
                  <a:srgbClr val="3366FF"/>
                </a:solidFill>
              </a:rPr>
              <a:t>sandbox</a:t>
            </a:r>
            <a:r>
              <a:rPr lang="en-US" altLang="en-US" sz="1800" dirty="0"/>
              <a:t> restricting disk and network I/O, minimizing effect of security exploits</a:t>
            </a:r>
          </a:p>
          <a:p>
            <a:pPr lvl="1"/>
            <a:r>
              <a:rPr lang="en-US" altLang="en-US" sz="1800" b="1" dirty="0">
                <a:solidFill>
                  <a:srgbClr val="3366FF"/>
                </a:solidFill>
              </a:rPr>
              <a:t>Plug-in </a:t>
            </a:r>
            <a:r>
              <a:rPr lang="en-US" altLang="en-US" sz="1800" dirty="0"/>
              <a:t>process for each type of plug-in</a:t>
            </a:r>
          </a:p>
          <a:p>
            <a:pPr lvl="1"/>
            <a:endParaRPr lang="en-US" altLang="en-US" sz="1800" dirty="0"/>
          </a:p>
          <a:p>
            <a:endParaRPr lang="en-US" sz="1800" dirty="0"/>
          </a:p>
        </p:txBody>
      </p:sp>
      <p:pic>
        <p:nvPicPr>
          <p:cNvPr id="4" name="Picture 1" descr="in-3_2.pdf">
            <a:extLst>
              <a:ext uri="{FF2B5EF4-FFF2-40B4-BE49-F238E27FC236}">
                <a16:creationId xmlns:a16="http://schemas.microsoft.com/office/drawing/2014/main" id="{CA4D9ADE-0A28-E6B4-7043-D534D5B4E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5486400"/>
            <a:ext cx="6292850" cy="114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60206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3F9F-EEFE-981C-3497-D68415BF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Interprocess</a:t>
            </a:r>
            <a:r>
              <a:rPr lang="en-US" altLang="en-US" dirty="0"/>
              <a:t> Communication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1EA20-721F-FA83-C73F-C70EAD75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600" dirty="0"/>
              <a:t>Processes within a system may be </a:t>
            </a:r>
            <a:r>
              <a:rPr lang="en-US" altLang="en-US" sz="1600" b="1" i="1" dirty="0"/>
              <a:t>independent</a:t>
            </a:r>
            <a:r>
              <a:rPr lang="en-US" altLang="en-US" sz="1600" b="1" dirty="0"/>
              <a:t> </a:t>
            </a:r>
            <a:r>
              <a:rPr lang="en-US" altLang="en-US" sz="1600" dirty="0"/>
              <a:t>or </a:t>
            </a:r>
            <a:r>
              <a:rPr lang="en-US" altLang="en-US" sz="1600" b="1" i="1" dirty="0"/>
              <a:t>cooperating</a:t>
            </a:r>
          </a:p>
          <a:p>
            <a:r>
              <a:rPr lang="en-US" altLang="en-US" sz="1600" dirty="0"/>
              <a:t>Cooperating process can affect or be affected by other processes, including sharing data</a:t>
            </a:r>
          </a:p>
          <a:p>
            <a:r>
              <a:rPr lang="en-US" altLang="en-US" sz="1600" dirty="0"/>
              <a:t>Reasons for cooperating processes:</a:t>
            </a:r>
          </a:p>
          <a:p>
            <a:pPr lvl="1"/>
            <a:r>
              <a:rPr lang="en-US" altLang="en-US" sz="1600" dirty="0"/>
              <a:t>Information sharing</a:t>
            </a:r>
          </a:p>
          <a:p>
            <a:pPr lvl="1"/>
            <a:r>
              <a:rPr lang="en-US" altLang="en-US" sz="1600" dirty="0"/>
              <a:t>Computation speedup</a:t>
            </a:r>
          </a:p>
          <a:p>
            <a:pPr lvl="1"/>
            <a:r>
              <a:rPr lang="en-US" altLang="en-US" sz="1600" dirty="0"/>
              <a:t>Modularity</a:t>
            </a:r>
          </a:p>
          <a:p>
            <a:pPr lvl="1"/>
            <a:r>
              <a:rPr lang="en-US" altLang="en-US" sz="1600" dirty="0"/>
              <a:t>Convenience	</a:t>
            </a:r>
          </a:p>
          <a:p>
            <a:r>
              <a:rPr lang="en-US" altLang="en-US" sz="1600" dirty="0"/>
              <a:t>Cooperating processes need </a:t>
            </a:r>
            <a:r>
              <a:rPr lang="en-US" altLang="en-US" sz="1600" b="1" dirty="0" err="1">
                <a:solidFill>
                  <a:srgbClr val="3366FF"/>
                </a:solidFill>
              </a:rPr>
              <a:t>interprocess</a:t>
            </a:r>
            <a:r>
              <a:rPr lang="en-US" altLang="en-US" sz="1600" b="1" dirty="0">
                <a:solidFill>
                  <a:srgbClr val="3366FF"/>
                </a:solidFill>
              </a:rPr>
              <a:t> communication </a:t>
            </a:r>
            <a:r>
              <a:rPr lang="en-US" altLang="en-US" sz="1600" dirty="0"/>
              <a:t>(</a:t>
            </a:r>
            <a:r>
              <a:rPr lang="en-US" altLang="en-US" sz="1600" b="1" dirty="0">
                <a:solidFill>
                  <a:srgbClr val="3366FF"/>
                </a:solidFill>
              </a:rPr>
              <a:t>IPC</a:t>
            </a:r>
            <a:r>
              <a:rPr lang="en-US" altLang="en-US" sz="1600" dirty="0"/>
              <a:t>)</a:t>
            </a:r>
          </a:p>
          <a:p>
            <a:r>
              <a:rPr lang="en-US" altLang="en-US" sz="1600" dirty="0"/>
              <a:t>Two models of IPC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</a:rPr>
              <a:t>Shared memory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</a:rPr>
              <a:t>Message passing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56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B76E-0D9C-027C-620D-561E4F34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Communications Models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75749-44BE-6CFE-1FF4-BF9011C67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a) Message passing.  (b) shared memory. </a:t>
            </a:r>
            <a:r>
              <a:rPr lang="en-US" altLang="en-US" dirty="0">
                <a:latin typeface="Verdana" panose="020B0604030504040204" pitchFamily="34" charset="0"/>
                <a:cs typeface="Courier New" panose="02070309020205020404" pitchFamily="49" charset="0"/>
              </a:rPr>
              <a:t> </a:t>
            </a:r>
          </a:p>
          <a:p>
            <a:endParaRPr lang="en-US" dirty="0"/>
          </a:p>
        </p:txBody>
      </p:sp>
      <p:pic>
        <p:nvPicPr>
          <p:cNvPr id="4" name="Picture 1" descr="3_12.pdf">
            <a:extLst>
              <a:ext uri="{FF2B5EF4-FFF2-40B4-BE49-F238E27FC236}">
                <a16:creationId xmlns:a16="http://schemas.microsoft.com/office/drawing/2014/main" id="{A2E38AF7-3555-7F1F-5C5C-DC975332A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619" y="2241997"/>
            <a:ext cx="6100762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39774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CE56-B840-E9D3-3D64-42E522ED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Cooperating Processes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1940F-F568-FDF5-BE7A-6BD48D2EC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b="1" i="1" dirty="0"/>
              <a:t>Independent</a:t>
            </a:r>
            <a:r>
              <a:rPr lang="en-US" altLang="en-US" sz="1800" dirty="0"/>
              <a:t> process cannot affect or be affected by the execution of another process</a:t>
            </a:r>
          </a:p>
          <a:p>
            <a:r>
              <a:rPr lang="en-US" altLang="en-US" sz="1800" b="1" i="1" dirty="0">
                <a:solidFill>
                  <a:srgbClr val="000000"/>
                </a:solidFill>
              </a:rPr>
              <a:t>Cooperating</a:t>
            </a:r>
            <a:r>
              <a:rPr lang="en-US" altLang="en-US" sz="1800" dirty="0"/>
              <a:t> process can affect or be affected by the execution of another process</a:t>
            </a:r>
          </a:p>
          <a:p>
            <a:r>
              <a:rPr lang="en-US" altLang="en-US" sz="1800" dirty="0"/>
              <a:t>Advantages of process cooperation</a:t>
            </a:r>
          </a:p>
          <a:p>
            <a:pPr lvl="1"/>
            <a:r>
              <a:rPr lang="en-US" altLang="en-US" sz="1800" dirty="0"/>
              <a:t>Information sharing </a:t>
            </a:r>
          </a:p>
          <a:p>
            <a:pPr lvl="1"/>
            <a:r>
              <a:rPr lang="en-US" altLang="en-US" sz="1800" dirty="0"/>
              <a:t>Computation speed-up</a:t>
            </a:r>
          </a:p>
          <a:p>
            <a:pPr lvl="1"/>
            <a:r>
              <a:rPr lang="en-US" altLang="en-US" sz="1800" dirty="0"/>
              <a:t>Modularity</a:t>
            </a:r>
          </a:p>
          <a:p>
            <a:pPr lvl="1"/>
            <a:r>
              <a:rPr lang="en-US" altLang="en-US" sz="1800" dirty="0"/>
              <a:t>Convenience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5571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C50D-04AA-4505-27F3-08754F32A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Producer-Consumer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47205-8332-EA81-E4D8-C7F87F7C7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Paradigm for cooperating processes, </a:t>
            </a:r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unbounded-buffer </a:t>
            </a:r>
            <a:r>
              <a:rPr lang="en-US" altLang="en-US" dirty="0"/>
              <a:t>places no practical limit on the size of the buffer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bounded-buffer </a:t>
            </a:r>
            <a:r>
              <a:rPr lang="en-US" altLang="en-US" dirty="0"/>
              <a:t>assumes that there is a fixed buffer size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3689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E608739F-DFAC-325F-6093-9E7F65E84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300038"/>
            <a:ext cx="8074025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Bounded-Buffer – Shared-Memory Solution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313677C9-BB4C-2CAD-9223-B40CDD479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5388" y="1203325"/>
            <a:ext cx="7131050" cy="4700588"/>
          </a:xfrm>
        </p:spPr>
        <p:txBody>
          <a:bodyPr/>
          <a:lstStyle/>
          <a:p>
            <a:r>
              <a:rPr lang="en-US" altLang="en-US" sz="1600"/>
              <a:t>Shared data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typedef struct {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int in = 0;</a:t>
            </a:r>
          </a:p>
          <a:p>
            <a:pPr marL="1598613" lvl="3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int out = 0;</a:t>
            </a:r>
          </a:p>
          <a:p>
            <a:pPr marL="1598613" lvl="3">
              <a:buFontTx/>
              <a:buNone/>
            </a:pPr>
            <a:endParaRPr lang="en-US" altLang="en-US" sz="1600"/>
          </a:p>
          <a:p>
            <a:r>
              <a:rPr lang="en-US" altLang="en-US" sz="1600"/>
              <a:t>Solution is correct, but can only use BUFFER_SIZE-1 elements</a:t>
            </a:r>
          </a:p>
          <a:p>
            <a:pPr marL="1598613" lvl="3">
              <a:buFontTx/>
              <a:buNone/>
            </a:pPr>
            <a:endParaRPr lang="en-US" altLang="en-US" sz="2000" b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9AC24D87-BFF0-8B20-8380-1257E4160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03200"/>
            <a:ext cx="7569200" cy="576263"/>
          </a:xfrm>
        </p:spPr>
        <p:txBody>
          <a:bodyPr/>
          <a:lstStyle/>
          <a:p>
            <a:pPr eaLnBrk="1" hangingPunct="1"/>
            <a:r>
              <a:rPr lang="en-US" altLang="en-US"/>
              <a:t>Bounded-Buffer – Producer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4B1B904-1BC0-43DC-231F-30273964FA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charset="0"/>
              <a:buNone/>
              <a:defRPr/>
            </a:pPr>
            <a:endParaRPr lang="en-US" sz="16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item </a:t>
            </a:r>
            <a:r>
              <a:rPr lang="en-US" sz="1600" dirty="0" err="1"/>
              <a:t>next_produced</a:t>
            </a:r>
            <a:r>
              <a:rPr lang="en-US" sz="1600" dirty="0"/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while (true) {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while (((in + 1) % BUFFER_SIZE) == out)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	; /* do nothing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buffer[in] = </a:t>
            </a:r>
            <a:r>
              <a:rPr lang="en-US" sz="1600" dirty="0" err="1"/>
              <a:t>next_produced</a:t>
            </a:r>
            <a:r>
              <a:rPr lang="en-US" sz="1600" dirty="0"/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in = (in + 1) % BUFFER_SIZE;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} </a:t>
            </a:r>
          </a:p>
          <a:p>
            <a:pPr>
              <a:buFont typeface="Monotype Sorts" charset="0"/>
              <a:buNone/>
              <a:defRPr/>
            </a:pPr>
            <a:endParaRPr lang="en-US" sz="20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r>
              <a:rPr lang="en-US" sz="1400" dirty="0">
                <a:ea typeface="ＭＳ Ｐゴシック" charset="0"/>
                <a:cs typeface="ＭＳ Ｐゴシック" charset="0"/>
              </a:rPr>
              <a:t>	</a:t>
            </a:r>
          </a:p>
          <a:p>
            <a:pPr marL="7168674" lvl="4">
              <a:buFontTx/>
              <a:buNone/>
              <a:defRPr/>
            </a:pPr>
            <a:endParaRPr lang="en-US" sz="1100" dirty="0"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1B95DC08-6A70-0B36-14CA-3B4D9AD94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Bounded Buffer – Consumer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3C9C398A-B043-75F7-83FD-2269386FF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item next_consumed;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  <a:b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	; /* do nothing */</a:t>
            </a:r>
            <a:b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next_consumed = buffer[out];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out = (out + 1) % BUFFER_SIZE;</a:t>
            </a:r>
            <a:b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6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Monotype Sort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4228E6B4-E7D2-5BE4-7678-E59AB777B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7275" y="95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 Shared Memory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E42C3408-1DE7-4BF9-6BF5-802D1258E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8525" y="1233488"/>
            <a:ext cx="6621463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/>
              <a:t>Major issues is to provide mechanism that will allow the user processes to synchronize 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/>
              <a:t>Synchronization is discussed in great details in Chapter 5.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C323EB8B-B11D-F1B7-6F87-5C1B55944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Message Passing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C49BBD72-E89A-67FC-06E5-9175F8DA6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934200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Mechanism for processes to communicate and to synchronize their actions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n-US" altLang="en-US"/>
              <a:t>(</a:t>
            </a:r>
            <a:r>
              <a:rPr lang="en-US" altLang="en-US" i="1"/>
              <a:t>message</a:t>
            </a:r>
            <a:r>
              <a:rPr lang="en-US" altLang="en-US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message</a:t>
            </a:r>
            <a:r>
              <a:rPr lang="en-US" altLang="en-US"/>
              <a:t>)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The</a:t>
            </a:r>
            <a:r>
              <a:rPr lang="en-US" altLang="en-US" i="1"/>
              <a:t> message</a:t>
            </a:r>
            <a:r>
              <a:rPr lang="en-US" altLang="en-US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836E5A00-E03F-5645-2511-14B5BA377E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1079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Message Passing (Cont.)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67DBC5EA-19EE-BC6A-CA3B-FDB9B1DB7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0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If processes </a:t>
            </a:r>
            <a:r>
              <a:rPr lang="en-US" altLang="en-US" i="1"/>
              <a:t>P</a:t>
            </a:r>
            <a:r>
              <a:rPr lang="en-US" altLang="en-US"/>
              <a:t> and </a:t>
            </a:r>
            <a:r>
              <a:rPr lang="en-US" altLang="en-US" i="1"/>
              <a:t>Q</a:t>
            </a:r>
            <a:r>
              <a:rPr lang="en-US" altLang="en-US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Establish a </a:t>
            </a:r>
            <a:r>
              <a:rPr lang="en-US" altLang="en-US" b="1" i="1"/>
              <a:t>communication</a:t>
            </a:r>
            <a:r>
              <a:rPr lang="en-US" altLang="en-US" b="1"/>
              <a:t> </a:t>
            </a:r>
            <a:r>
              <a:rPr lang="en-US" altLang="en-US" b="1" i="1"/>
              <a:t>link</a:t>
            </a:r>
            <a:r>
              <a:rPr lang="en-US" altLang="en-US" b="1"/>
              <a:t> </a:t>
            </a:r>
            <a:r>
              <a:rPr lang="en-US" altLang="en-US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/>
              <a:t>Implementation issues:</a:t>
            </a:r>
          </a:p>
          <a:p>
            <a:pPr lvl="1"/>
            <a:r>
              <a:rPr lang="en-US" altLang="en-US"/>
              <a:t>How are links established?</a:t>
            </a:r>
          </a:p>
          <a:p>
            <a:pPr lvl="1"/>
            <a:r>
              <a:rPr lang="en-US" altLang="en-US"/>
              <a:t>Can a link be associated with more than two processes?</a:t>
            </a:r>
          </a:p>
          <a:p>
            <a:pPr lvl="1"/>
            <a:r>
              <a:rPr lang="en-US" altLang="en-US"/>
              <a:t>How many links can there be between every pair of communicating processes?</a:t>
            </a:r>
          </a:p>
          <a:p>
            <a:pPr lvl="1"/>
            <a:r>
              <a:rPr lang="en-US" altLang="en-US"/>
              <a:t>What is the capacity of a link?</a:t>
            </a:r>
          </a:p>
          <a:p>
            <a:pPr lvl="1"/>
            <a:r>
              <a:rPr lang="en-US" altLang="en-US"/>
              <a:t>Is the size of a message that the link can accommodate fixed or variable?</a:t>
            </a:r>
          </a:p>
          <a:p>
            <a:pPr lvl="1"/>
            <a:r>
              <a:rPr lang="en-US" altLang="en-US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8BE3D450-6764-51EB-1E82-4BF9DD681B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450" y="1238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Message Passing (Cont.)</a:t>
            </a: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55D2E7F9-5278-EB42-322F-D6475162C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Implementation of communication link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Physical: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Shared memory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Hardware bus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Network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Logical: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 Direct or indirect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 Synchronous or asynchronous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 Automatic or explicit buffering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850DAF24-C570-A1FF-616F-BE75209BF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Direct Communication</a:t>
            </a:r>
          </a:p>
        </p:txBody>
      </p:sp>
      <p:sp>
        <p:nvSpPr>
          <p:cNvPr id="83970" name="Rectangle 3">
            <a:extLst>
              <a:ext uri="{FF2B5EF4-FFF2-40B4-BE49-F238E27FC236}">
                <a16:creationId xmlns:a16="http://schemas.microsoft.com/office/drawing/2014/main" id="{0E944645-5D56-2B91-CC32-8F168D66D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BDFC272A-69F5-5CC5-0C9A-495216F120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86018" name="Rectangle 3">
            <a:extLst>
              <a:ext uri="{FF2B5EF4-FFF2-40B4-BE49-F238E27FC236}">
                <a16:creationId xmlns:a16="http://schemas.microsoft.com/office/drawing/2014/main" id="{2917C905-0F3A-2DF3-E699-1537FD7610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166813"/>
            <a:ext cx="7391400" cy="4159250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8CBAE066-3B00-486F-B2E9-95614CADA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65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0BD2B947-766F-8A3D-920E-501CC0FDD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35063"/>
            <a:ext cx="7580313" cy="3821112"/>
          </a:xfrm>
        </p:spPr>
        <p:txBody>
          <a:bodyPr/>
          <a:lstStyle/>
          <a:p>
            <a:r>
              <a:rPr lang="en-US" altLang="en-US"/>
              <a:t>Operations</a:t>
            </a:r>
          </a:p>
          <a:p>
            <a:pPr lvl="1"/>
            <a:r>
              <a:rPr lang="en-US" altLang="en-US"/>
              <a:t>create a new mailbox (port)</a:t>
            </a:r>
          </a:p>
          <a:p>
            <a:pPr lvl="1"/>
            <a:r>
              <a:rPr lang="en-US" altLang="en-US"/>
              <a:t>send and receive messages through mailbox</a:t>
            </a:r>
          </a:p>
          <a:p>
            <a:pPr lvl="1"/>
            <a:r>
              <a:rPr lang="en-US" altLang="en-US"/>
              <a:t>destroy a mailbox</a:t>
            </a:r>
          </a:p>
          <a:p>
            <a:r>
              <a:rPr lang="en-US" altLang="en-US"/>
              <a:t>Primitives are defined as: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n-US" altLang="en-US"/>
              <a:t>(</a:t>
            </a:r>
            <a:r>
              <a:rPr lang="en-US" altLang="en-US" i="1"/>
              <a:t>A, message</a:t>
            </a:r>
            <a:r>
              <a:rPr lang="en-US" altLang="en-US"/>
              <a:t>) – send a message to mailbox A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A, message</a:t>
            </a:r>
            <a:r>
              <a:rPr lang="en-US" altLang="en-US"/>
              <a:t>) – receive a message from mailbox 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2199CEF6-1BA4-7AE1-A15A-597ECB73E0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18256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912B0457-FCAD-B970-550B-1956CC9B24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FBB70D62-AC75-92ED-415B-481460A80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82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B23B5B8-80B1-55C5-F4BF-9CA6CFE921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1050925"/>
            <a:ext cx="7267575" cy="4984750"/>
          </a:xfrm>
        </p:spPr>
        <p:txBody>
          <a:bodyPr/>
          <a:lstStyle/>
          <a:p>
            <a:pPr marL="379413" indent="-379413">
              <a:buFont typeface="Monotype Sorts" pitchFamily="-84" charset="2"/>
              <a:buChar char="n"/>
              <a:defRPr/>
            </a:pPr>
            <a:r>
              <a:rPr lang="en-US" dirty="0"/>
              <a:t>Message passing may be either blocking or non-blocking</a:t>
            </a:r>
          </a:p>
          <a:p>
            <a:pPr marL="379413" indent="-379413">
              <a:buFont typeface="Monotype Sorts" pitchFamily="-84" charset="2"/>
              <a:buChar char="n"/>
              <a:defRPr/>
            </a:pPr>
            <a:r>
              <a:rPr lang="en-US" b="1" dirty="0">
                <a:solidFill>
                  <a:srgbClr val="3366FF"/>
                </a:solidFill>
              </a:rPr>
              <a:t>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synchronous</a:t>
            </a:r>
          </a:p>
          <a:p>
            <a:pPr marL="798513" lvl="1" indent="-341313">
              <a:buFont typeface="Monotype Sorts" pitchFamily="-84" charset="2"/>
              <a:buChar char="l"/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buFont typeface="Monotype Sorts" pitchFamily="-84" charset="2"/>
              <a:buChar char="l"/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buFont typeface="Monotype Sorts" pitchFamily="-84" charset="2"/>
              <a:buChar char="n"/>
              <a:defRPr/>
            </a:pPr>
            <a:r>
              <a:rPr lang="en-US" b="1" dirty="0">
                <a:solidFill>
                  <a:srgbClr val="3366FF"/>
                </a:solidFill>
              </a:rPr>
              <a:t>Non-blocking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asynchronous</a:t>
            </a:r>
          </a:p>
          <a:p>
            <a:pPr marL="798513" lvl="1" indent="-341313">
              <a:buFont typeface="Monotype Sorts" pitchFamily="-84" charset="2"/>
              <a:buChar char="l"/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buFont typeface="Monotype Sorts" pitchFamily="-84" charset="2"/>
              <a:buChar char="l"/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buFont typeface="Monotype Sorts" pitchFamily="-84" charset="2"/>
              <a:buChar char="l"/>
              <a:defRPr/>
            </a:pPr>
            <a:r>
              <a:rPr lang="en-US" dirty="0"/>
              <a:t> A valid message,  or </a:t>
            </a:r>
          </a:p>
          <a:p>
            <a:pPr marL="1141413" lvl="2" indent="-341313">
              <a:buFont typeface="Monotype Sorts" pitchFamily="-84" charset="2"/>
              <a:buChar char="l"/>
              <a:defRPr/>
            </a:pPr>
            <a:r>
              <a:rPr lang="en-US" dirty="0"/>
              <a:t> Null message</a:t>
            </a:r>
          </a:p>
          <a:p>
            <a:pPr marL="398939"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Different combinations possible</a:t>
            </a:r>
          </a:p>
          <a:p>
            <a:pPr marL="798989"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rendezvous</a:t>
            </a:r>
          </a:p>
          <a:p>
            <a:pPr marL="398463" indent="-341313">
              <a:buFont typeface="Monotype Sorts" pitchFamily="-84" charset="2"/>
              <a:buChar char="n"/>
              <a:defRPr/>
            </a:pPr>
            <a:endParaRPr lang="en-US" dirty="0"/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FE9A050B-A809-4384-D36E-66BAC79E2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Synchronization (Cont.)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A0D259B7-169B-037D-9FE8-AB079C228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1063" y="1203325"/>
            <a:ext cx="6599237" cy="534988"/>
          </a:xfrm>
        </p:spPr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Producer-consumer becomes trivial</a:t>
            </a:r>
            <a:br>
              <a:rPr lang="en-US" dirty="0">
                <a:ea typeface="ＭＳ Ｐゴシック" charset="0"/>
              </a:rPr>
            </a:br>
            <a:endParaRPr lang="en-US" dirty="0">
              <a:ea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  message </a:t>
            </a:r>
            <a:r>
              <a:rPr lang="en-US" sz="1600" dirty="0" err="1">
                <a:latin typeface="Courier New"/>
                <a:ea typeface="ＭＳ Ｐゴシック" charset="-128"/>
                <a:cs typeface="Courier New"/>
              </a:rPr>
              <a:t>next_produced</a:t>
            </a: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  while (true) {</a:t>
            </a:r>
            <a:br>
              <a:rPr lang="en-US" sz="1600" dirty="0">
                <a:latin typeface="Courier New"/>
                <a:ea typeface="ＭＳ Ｐゴシック" charset="-128"/>
                <a:cs typeface="Courier New"/>
              </a:rPr>
            </a:b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      /* produce an item in next produced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  send(</a:t>
            </a:r>
            <a:r>
              <a:rPr lang="en-US" sz="1600" dirty="0" err="1">
                <a:latin typeface="Courier New"/>
                <a:ea typeface="ＭＳ Ｐゴシック" charset="-128"/>
                <a:cs typeface="Courier New"/>
              </a:rPr>
              <a:t>next_produced</a:t>
            </a: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);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>
                <a:latin typeface="Courier New"/>
                <a:ea typeface="ＭＳ Ｐゴシック" charset="-128"/>
                <a:cs typeface="Courier New"/>
              </a:rPr>
              <a:t>       } </a:t>
            </a:r>
          </a:p>
        </p:txBody>
      </p:sp>
      <p:sp>
        <p:nvSpPr>
          <p:cNvPr id="94211" name="TextBox 1">
            <a:extLst>
              <a:ext uri="{FF2B5EF4-FFF2-40B4-BE49-F238E27FC236}">
                <a16:creationId xmlns:a16="http://schemas.microsoft.com/office/drawing/2014/main" id="{7328ECA1-DF50-76CB-6DF3-3A9141A52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598863"/>
            <a:ext cx="6370638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0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essage next_consumed;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receive(next_consumed);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   /* consume the item in next consumed */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D32AAF9B-0E89-8B0D-5579-143F94978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4E8729E8-77C0-51A0-DFE1-589D265A3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121525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</a:p>
          <a:p>
            <a:r>
              <a:rPr lang="en-US" altLang="en-US"/>
              <a:t>implemented in one of three ways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39975" y="1557338"/>
            <a:ext cx="6188075" cy="2303462"/>
          </a:xfrm>
        </p:spPr>
        <p:txBody>
          <a:bodyPr/>
          <a:lstStyle/>
          <a:p>
            <a:pPr eaLnBrk="1" hangingPunct="1"/>
            <a:br>
              <a:rPr lang="fr-FR" sz="2400" b="1" i="1">
                <a:latin typeface="Times New Roman" pitchFamily="18" charset="0"/>
                <a:cs typeface="Times New Roman" pitchFamily="18" charset="0"/>
              </a:rPr>
            </a:br>
            <a:br>
              <a:rPr lang="fr-FR" sz="2400" b="1" i="1">
                <a:latin typeface="Times New Roman" pitchFamily="18" charset="0"/>
                <a:cs typeface="Times New Roman" pitchFamily="18" charset="0"/>
              </a:rPr>
            </a:br>
            <a:br>
              <a:rPr lang="fr-FR" sz="2400" b="1" i="1">
                <a:latin typeface="Times New Roman" pitchFamily="18" charset="0"/>
                <a:cs typeface="Times New Roman" pitchFamily="18" charset="0"/>
              </a:rPr>
            </a:br>
            <a:endParaRPr lang="fr-FR" sz="2400" b="1" i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0707" name="Picture 6" descr="logoHom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0510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0708" name="Subtitle 7"/>
          <p:cNvSpPr>
            <a:spLocks noGrp="1"/>
          </p:cNvSpPr>
          <p:nvPr>
            <p:ph type="subTitle" idx="1"/>
          </p:nvPr>
        </p:nvSpPr>
        <p:spPr>
          <a:xfrm>
            <a:off x="2195513" y="2708275"/>
            <a:ext cx="6400800" cy="1752600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rgbClr val="FF0000"/>
                </a:solidFill>
              </a:rPr>
              <a:t>Thank You!!</a:t>
            </a:r>
            <a:endParaRPr lang="en-IN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4262</TotalTime>
  <Words>3803</Words>
  <Application>Microsoft Macintosh PowerPoint</Application>
  <PresentationFormat>On-screen Show (4:3)</PresentationFormat>
  <Paragraphs>620</Paragraphs>
  <Slides>69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9" baseType="lpstr">
      <vt:lpstr>MS PGothic</vt:lpstr>
      <vt:lpstr>Arial</vt:lpstr>
      <vt:lpstr>Calibri</vt:lpstr>
      <vt:lpstr>Courier New</vt:lpstr>
      <vt:lpstr>Monaco</vt:lpstr>
      <vt:lpstr>Monotype Sorts</vt:lpstr>
      <vt:lpstr>Symbol</vt:lpstr>
      <vt:lpstr>Times New Roman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 in Memory</vt:lpstr>
      <vt:lpstr>Diagram of Process State</vt:lpstr>
      <vt:lpstr>Process Scheduling</vt:lpstr>
      <vt:lpstr>Ready Queue And Various I/O Device Queues </vt:lpstr>
      <vt:lpstr>Representation of Process Scheduling </vt:lpstr>
      <vt:lpstr>Process State</vt:lpstr>
      <vt:lpstr>Process Control Block (PCB)</vt:lpstr>
      <vt:lpstr>CPU Switch From Process to Process</vt:lpstr>
      <vt:lpstr>Operations on Processes</vt:lpstr>
      <vt:lpstr>Process Creation</vt:lpstr>
      <vt:lpstr>Threads</vt:lpstr>
      <vt:lpstr>CPU Scheduler</vt:lpstr>
      <vt:lpstr>CPU Scheduler. Cont…..</vt:lpstr>
      <vt:lpstr>Preemptive CPU Scheduling</vt:lpstr>
      <vt:lpstr>Preemptive CPU Scheduling</vt:lpstr>
      <vt:lpstr>Preemptive CPU Scheduling Cont….</vt:lpstr>
      <vt:lpstr>Preemptive CPU Scheduling Cont….</vt:lpstr>
      <vt:lpstr>Non-Preemptive CPU Scheduling</vt:lpstr>
      <vt:lpstr>Example of Non-Preemptive CPU Scheduling </vt:lpstr>
      <vt:lpstr>Context Switching</vt:lpstr>
      <vt:lpstr>What is Saved? </vt:lpstr>
      <vt:lpstr>Context Switiching Cont…</vt:lpstr>
      <vt:lpstr>Context Switiching Cont…</vt:lpstr>
      <vt:lpstr>Dispatcher</vt:lpstr>
      <vt:lpstr>Scheduling Criteria</vt:lpstr>
      <vt:lpstr>Process Scheduling</vt:lpstr>
      <vt:lpstr>Scheduling Algorithms</vt:lpstr>
      <vt:lpstr>FCFS Scheduling (Cont.) </vt:lpstr>
      <vt:lpstr>Shortest-Job-First (SJF) Scheduling</vt:lpstr>
      <vt:lpstr>Example of SJF </vt:lpstr>
      <vt:lpstr>Example of Shortest-remaining-time-first</vt:lpstr>
      <vt:lpstr>Priority Scheduling</vt:lpstr>
      <vt:lpstr>Example of Priority Scheduling</vt:lpstr>
      <vt:lpstr>Round Robin (RR)</vt:lpstr>
      <vt:lpstr>Example of RR with Time Quantum = 4</vt:lpstr>
      <vt:lpstr>Time Quantum and Context Switch Time</vt:lpstr>
      <vt:lpstr>Turnaround Time Varies With The Time Quantum</vt:lpstr>
      <vt:lpstr>A Tree of Processes in Linux</vt:lpstr>
      <vt:lpstr>Process Creation (Cont.)</vt:lpstr>
      <vt:lpstr>Process Termination</vt:lpstr>
      <vt:lpstr>Process Termination</vt:lpstr>
      <vt:lpstr>Multiprocess Architecture – Chrome Browser</vt:lpstr>
      <vt:lpstr>Interprocess Communication</vt:lpstr>
      <vt:lpstr>Communications Models </vt:lpstr>
      <vt:lpstr>Cooperating Processes</vt:lpstr>
      <vt:lpstr>Producer-Consumer Problem</vt:lpstr>
      <vt:lpstr>Bounded-Buffer – Shared-Memory Solution</vt:lpstr>
      <vt:lpstr>Bounded-Buffer – Producer</vt:lpstr>
      <vt:lpstr>Bounded Buffer – Consumer</vt:lpstr>
      <vt:lpstr>Interprocess Communication –  Shared Memory</vt:lpstr>
      <vt:lpstr>Interprocess Communication – Message Passing</vt:lpstr>
      <vt:lpstr>Message Passing (Cont.)</vt:lpstr>
      <vt:lpstr>Message Passing (Cont.)</vt:lpstr>
      <vt:lpstr>Direct Communication</vt:lpstr>
      <vt:lpstr>Indirect Communication</vt:lpstr>
      <vt:lpstr>Indirect Communication</vt:lpstr>
      <vt:lpstr>Indirect Communication</vt:lpstr>
      <vt:lpstr>Synchronization</vt:lpstr>
      <vt:lpstr>Synchronization (Cont.)</vt:lpstr>
      <vt:lpstr>Buffering</vt:lpstr>
      <vt:lpstr>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Rakesh Bhaskar</dc:creator>
  <cp:lastModifiedBy>Kamal Soni</cp:lastModifiedBy>
  <cp:revision>362</cp:revision>
  <cp:lastPrinted>2013-10-07T09:34:34Z</cp:lastPrinted>
  <dcterms:created xsi:type="dcterms:W3CDTF">2012-12-04T10:32:16Z</dcterms:created>
  <dcterms:modified xsi:type="dcterms:W3CDTF">2026-08-31T10:57:19Z</dcterms:modified>
</cp:coreProperties>
</file>