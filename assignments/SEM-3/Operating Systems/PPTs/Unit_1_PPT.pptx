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4"/>
  </p:notesMasterIdLst>
  <p:handoutMasterIdLst>
    <p:handoutMasterId r:id="rId95"/>
  </p:handoutMasterIdLst>
  <p:sldIdLst>
    <p:sldId id="281" r:id="rId2"/>
    <p:sldId id="385" r:id="rId3"/>
    <p:sldId id="470" r:id="rId4"/>
    <p:sldId id="471" r:id="rId5"/>
    <p:sldId id="474" r:id="rId6"/>
    <p:sldId id="475" r:id="rId7"/>
    <p:sldId id="386" r:id="rId8"/>
    <p:sldId id="387" r:id="rId9"/>
    <p:sldId id="388" r:id="rId10"/>
    <p:sldId id="389" r:id="rId11"/>
    <p:sldId id="390" r:id="rId12"/>
    <p:sldId id="391" r:id="rId13"/>
    <p:sldId id="392" r:id="rId14"/>
    <p:sldId id="393" r:id="rId15"/>
    <p:sldId id="394" r:id="rId16"/>
    <p:sldId id="395" r:id="rId17"/>
    <p:sldId id="396"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3" r:id="rId75"/>
    <p:sldId id="454" r:id="rId76"/>
    <p:sldId id="455" r:id="rId77"/>
    <p:sldId id="456" r:id="rId78"/>
    <p:sldId id="457" r:id="rId79"/>
    <p:sldId id="458" r:id="rId80"/>
    <p:sldId id="459" r:id="rId81"/>
    <p:sldId id="460" r:id="rId82"/>
    <p:sldId id="461" r:id="rId83"/>
    <p:sldId id="462" r:id="rId84"/>
    <p:sldId id="463" r:id="rId85"/>
    <p:sldId id="464" r:id="rId86"/>
    <p:sldId id="465" r:id="rId87"/>
    <p:sldId id="466" r:id="rId88"/>
    <p:sldId id="467" r:id="rId89"/>
    <p:sldId id="468" r:id="rId90"/>
    <p:sldId id="469" r:id="rId91"/>
    <p:sldId id="476" r:id="rId92"/>
    <p:sldId id="384" r:id="rId9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0000"/>
    <a:srgbClr val="260000"/>
    <a:srgbClr val="FFFFFF"/>
    <a:srgbClr val="000066"/>
    <a:srgbClr val="006600"/>
    <a:srgbClr val="FF3399"/>
    <a:srgbClr val="33CCFF"/>
    <a:srgbClr val="FF0000"/>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94" autoAdjust="0"/>
    <p:restoredTop sz="86092" autoAdjust="0"/>
  </p:normalViewPr>
  <p:slideViewPr>
    <p:cSldViewPr>
      <p:cViewPr varScale="1">
        <p:scale>
          <a:sx n="67" d="100"/>
          <a:sy n="67" d="100"/>
        </p:scale>
        <p:origin x="1272" y="3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a:defRPr sz="1200"/>
            </a:lvl1pPr>
          </a:lstStyle>
          <a:p>
            <a:pPr>
              <a:defRPr/>
            </a:pPr>
            <a:fld id="{1F97CC94-77CE-46D8-BBD2-3A9CB870576E}" type="datetimeFigureOut">
              <a:rPr lang="en-US"/>
              <a:pPr>
                <a:defRPr/>
              </a:pPr>
              <a:t>11/12/2025</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3177" tIns="46589" rIns="93177" bIns="46589" rtlCol="0" anchor="b"/>
          <a:lstStyle>
            <a:lvl1pPr algn="r">
              <a:defRPr sz="1200"/>
            </a:lvl1pPr>
          </a:lstStyle>
          <a:p>
            <a:pPr>
              <a:defRPr/>
            </a:pPr>
            <a:fld id="{AA33767F-25E3-46D9-93B5-7A0FA54E61CC}"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88FFC1C1-C5D8-4A0F-A5B5-28FE1899DDE3}" type="datetimeFigureOut">
              <a:rPr lang="en-US"/>
              <a:pPr>
                <a:defRPr/>
              </a:pPr>
              <a:t>11/12/2025</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ED2B828A-C779-4795-8183-D9758A5B6C22}" type="slidenum">
              <a:rPr lang="en-US"/>
              <a:pPr>
                <a:defRPr/>
              </a:pPr>
              <a:t>‹#›</a:t>
            </a:fld>
            <a:endParaRPr lang="en-US"/>
          </a:p>
        </p:txBody>
      </p:sp>
    </p:spTree>
    <p:extLst>
      <p:ext uri="{BB962C8B-B14F-4D97-AF65-F5344CB8AC3E}">
        <p14:creationId xmlns:p14="http://schemas.microsoft.com/office/powerpoint/2010/main" val="23764943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560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C308B30-E594-431C-8FCD-89CB4F3BE307}" type="slidenum">
              <a:rPr lang="en-US" smtClean="0">
                <a:cs typeface="Arial" charset="0"/>
              </a:rPr>
              <a:pPr fontAlgn="base">
                <a:spcBef>
                  <a:spcPct val="0"/>
                </a:spcBef>
                <a:spcAft>
                  <a:spcPct val="0"/>
                </a:spcAft>
                <a:defRPr/>
              </a:pPr>
              <a:t>1</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1"/>
          <p:cNvSpPr>
            <a:spLocks noGrp="1" noChangeArrowheads="1"/>
          </p:cNvSpPr>
          <p:nvPr>
            <p:ph type="sldNum" sz="quarter" idx="5"/>
          </p:nvPr>
        </p:nvSpPr>
        <p:spPr>
          <a:noFill/>
        </p:spPr>
        <p:txBody>
          <a:bodyPr/>
          <a:lstStyle/>
          <a:p>
            <a:fld id="{0DAFB8BC-29C4-4BAA-B593-9AEF85E6AF32}" type="slidenum">
              <a:rPr lang="en-US" smtClean="0"/>
              <a:pPr/>
              <a:t>14</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5820B073-C9D8-4EC7-8E4C-BED65563A3BB}" type="slidenum">
              <a:rPr lang="he-IL" smtClean="0"/>
              <a:pPr/>
              <a:t>57</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917A9429-3AFC-4FFF-B24B-062022264D48}" type="slidenum">
              <a:rPr lang="he-IL" smtClean="0"/>
              <a:pPr/>
              <a:t>59</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A24CFC5-6C73-403C-B7BC-3F1551FB75BE}" type="slidenum">
              <a:rPr lang="he-IL" smtClean="0"/>
              <a:pPr/>
              <a:t>67</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6C844CFD-F898-43A4-BEBD-01E5C8C53F4F}" type="slidenum">
              <a:rPr lang="he-IL" smtClean="0"/>
              <a:pPr/>
              <a:t>68</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1D550371-ABCD-49E6-9E8C-F4F0083505E4}" type="slidenum">
              <a:rPr lang="he-IL" smtClean="0"/>
              <a:pPr/>
              <a:t>69</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BD1F82FE-627C-45E3-9B1C-CC323C40A001}" type="slidenum">
              <a:rPr lang="he-IL" smtClean="0"/>
              <a:pPr/>
              <a:t>70</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AED14872-A250-469D-B432-CF8DC9C781DA}" type="slidenum">
              <a:rPr lang="he-IL" smtClean="0"/>
              <a:pPr/>
              <a:t>71</a:t>
            </a:fld>
            <a:endParaRPr lang="en-US"/>
          </a:p>
        </p:txBody>
      </p:sp>
      <p:sp>
        <p:nvSpPr>
          <p:cNvPr id="98307" name="Rectangle 7"/>
          <p:cNvSpPr txBox="1">
            <a:spLocks noGrp="1" noChangeArrowheads="1"/>
          </p:cNvSpPr>
          <p:nvPr/>
        </p:nvSpPr>
        <p:spPr bwMode="auto">
          <a:xfrm>
            <a:off x="3972560" y="8833194"/>
            <a:ext cx="3037840" cy="463206"/>
          </a:xfrm>
          <a:prstGeom prst="rect">
            <a:avLst/>
          </a:prstGeom>
          <a:noFill/>
          <a:ln w="9525">
            <a:noFill/>
            <a:miter lim="800000"/>
            <a:headEnd/>
            <a:tailEnd/>
          </a:ln>
        </p:spPr>
        <p:txBody>
          <a:bodyPr wrap="none" lIns="93154" tIns="46576" rIns="93154" bIns="46576" anchor="b"/>
          <a:lstStyle/>
          <a:p>
            <a:pPr defTabSz="930156" eaLnBrk="0" hangingPunct="0"/>
            <a:fld id="{58FAD422-859B-4D5A-BD29-AB3C9BF9E234}" type="slidenum">
              <a:rPr lang="he-IL" sz="1200">
                <a:ea typeface="MS PGothic" pitchFamily="34" charset="-128"/>
                <a:cs typeface="Times New Roman" pitchFamily="18" charset="0"/>
              </a:rPr>
              <a:pPr defTabSz="930156" eaLnBrk="0" hangingPunct="0"/>
              <a:t>71</a:t>
            </a:fld>
            <a:endParaRPr lang="en-US" sz="1200" dirty="0">
              <a:ea typeface="MS PGothic" pitchFamily="34" charset="-128"/>
              <a:cs typeface="Times New Roman" pitchFamily="18" charset="0"/>
            </a:endParaRPr>
          </a:p>
        </p:txBody>
      </p:sp>
      <p:sp>
        <p:nvSpPr>
          <p:cNvPr id="98308" name="Rectangle 2"/>
          <p:cNvSpPr>
            <a:spLocks noGrp="1" noRot="1" noChangeAspect="1" noChangeArrowheads="1" noTextEdit="1"/>
          </p:cNvSpPr>
          <p:nvPr>
            <p:ph type="sldImg"/>
          </p:nvPr>
        </p:nvSpPr>
        <p:spPr>
          <a:xfrm>
            <a:off x="1181100" y="698500"/>
            <a:ext cx="4648200" cy="3486150"/>
          </a:xfrm>
          <a:ln/>
        </p:spPr>
      </p:sp>
      <p:sp>
        <p:nvSpPr>
          <p:cNvPr id="98309" name="Rectangle 3"/>
          <p:cNvSpPr>
            <a:spLocks noGrp="1" noChangeArrowheads="1"/>
          </p:cNvSpPr>
          <p:nvPr>
            <p:ph type="body" idx="1"/>
          </p:nvPr>
        </p:nvSpPr>
        <p:spPr>
          <a:xfrm>
            <a:off x="934720" y="4415790"/>
            <a:ext cx="5140960" cy="4181767"/>
          </a:xfrm>
          <a:noFill/>
          <a:ln/>
        </p:spPr>
        <p:txBody>
          <a:bodyPr lIns="93154" tIns="46576" rIns="93154" bIns="46576"/>
          <a:lstStyle/>
          <a:p>
            <a:endParaRPr lang="he-I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2E2FFB29-2FA5-47ED-8E6F-4E68BDB46796}" type="slidenum">
              <a:rPr lang="he-IL" smtClean="0"/>
              <a:pPr/>
              <a:t>72</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4992559-9A96-4252-8A77-BECAE73D3D18}" type="slidenum">
              <a:rPr lang="he-IL" smtClean="0"/>
              <a:pPr/>
              <a:t>73</a:t>
            </a:fld>
            <a:endParaRPr lang="en-US"/>
          </a:p>
        </p:txBody>
      </p:sp>
      <p:sp>
        <p:nvSpPr>
          <p:cNvPr id="100355" name="Rectangle 7"/>
          <p:cNvSpPr txBox="1">
            <a:spLocks noGrp="1" noChangeArrowheads="1"/>
          </p:cNvSpPr>
          <p:nvPr/>
        </p:nvSpPr>
        <p:spPr bwMode="auto">
          <a:xfrm>
            <a:off x="3972560" y="8833194"/>
            <a:ext cx="3037840" cy="463206"/>
          </a:xfrm>
          <a:prstGeom prst="rect">
            <a:avLst/>
          </a:prstGeom>
          <a:noFill/>
          <a:ln w="9525">
            <a:noFill/>
            <a:miter lim="800000"/>
            <a:headEnd/>
            <a:tailEnd/>
          </a:ln>
        </p:spPr>
        <p:txBody>
          <a:bodyPr wrap="none" lIns="93154" tIns="46576" rIns="93154" bIns="46576" anchor="b"/>
          <a:lstStyle/>
          <a:p>
            <a:pPr defTabSz="930156" eaLnBrk="0" hangingPunct="0"/>
            <a:fld id="{65D2A9AD-EEC9-4B18-B54A-FE846CE8769F}" type="slidenum">
              <a:rPr lang="he-IL" sz="1200">
                <a:ea typeface="MS PGothic" pitchFamily="34" charset="-128"/>
                <a:cs typeface="Times New Roman" pitchFamily="18" charset="0"/>
              </a:rPr>
              <a:pPr defTabSz="930156" eaLnBrk="0" hangingPunct="0"/>
              <a:t>73</a:t>
            </a:fld>
            <a:endParaRPr lang="en-US" sz="1200" dirty="0">
              <a:ea typeface="MS PGothic" pitchFamily="34" charset="-128"/>
              <a:cs typeface="Times New Roman" pitchFamily="18" charset="0"/>
            </a:endParaRPr>
          </a:p>
        </p:txBody>
      </p:sp>
      <p:sp>
        <p:nvSpPr>
          <p:cNvPr id="100356" name="Rectangle 2"/>
          <p:cNvSpPr>
            <a:spLocks noGrp="1" noRot="1" noChangeAspect="1" noChangeArrowheads="1" noTextEdit="1"/>
          </p:cNvSpPr>
          <p:nvPr>
            <p:ph type="sldImg"/>
          </p:nvPr>
        </p:nvSpPr>
        <p:spPr>
          <a:xfrm>
            <a:off x="1181100" y="698500"/>
            <a:ext cx="4648200" cy="3486150"/>
          </a:xfrm>
          <a:ln/>
        </p:spPr>
      </p:sp>
      <p:sp>
        <p:nvSpPr>
          <p:cNvPr id="100357" name="Rectangle 3"/>
          <p:cNvSpPr>
            <a:spLocks noGrp="1" noChangeArrowheads="1"/>
          </p:cNvSpPr>
          <p:nvPr>
            <p:ph type="body" idx="1"/>
          </p:nvPr>
        </p:nvSpPr>
        <p:spPr>
          <a:xfrm>
            <a:off x="934720" y="4415790"/>
            <a:ext cx="5140960" cy="4181767"/>
          </a:xfrm>
          <a:noFill/>
          <a:ln/>
        </p:spPr>
        <p:txBody>
          <a:bodyPr lIns="93154" tIns="46576" rIns="93154" bIns="46576"/>
          <a:lstStyle/>
          <a:p>
            <a:endParaRPr lang="he-I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CEAC7AC3-D9A5-4B42-AB10-AFD38D3AB98D}" type="slidenum">
              <a:rPr lang="he-IL" smtClean="0"/>
              <a:pPr/>
              <a:t>74</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p:spPr>
        <p:txBody>
          <a:bodyPr/>
          <a:lstStyle/>
          <a:p>
            <a:endParaRPr lang="he-IL"/>
          </a:p>
        </p:txBody>
      </p:sp>
      <p:sp>
        <p:nvSpPr>
          <p:cNvPr id="102404" name="Slide Number Placeholder 3"/>
          <p:cNvSpPr>
            <a:spLocks noGrp="1"/>
          </p:cNvSpPr>
          <p:nvPr>
            <p:ph type="sldNum" sz="quarter" idx="5"/>
          </p:nvPr>
        </p:nvSpPr>
        <p:spPr>
          <a:noFill/>
        </p:spPr>
        <p:txBody>
          <a:bodyPr/>
          <a:lstStyle/>
          <a:p>
            <a:fld id="{FE6B4DA3-3A1A-4979-A2E0-BC7ADBA90C23}" type="slidenum">
              <a:rPr lang="he-IL" smtClean="0"/>
              <a:pPr/>
              <a:t>75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lnSpc>
                <a:spcPct val="150000"/>
              </a:lnSpc>
              <a:defRPr/>
            </a:lvl1pPr>
            <a:lvl2pPr>
              <a:lnSpc>
                <a:spcPct val="150000"/>
              </a:lnSpc>
              <a:buNone/>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8382000" cy="609600"/>
          </a:xfrm>
        </p:spPr>
        <p:txBody>
          <a:bodyPr/>
          <a:lstStyle/>
          <a:p>
            <a:r>
              <a:rPr lang="en-US"/>
              <a:t>Click to edit Master title style</a:t>
            </a:r>
            <a:endParaRPr lang="he-IL"/>
          </a:p>
        </p:txBody>
      </p:sp>
      <p:sp>
        <p:nvSpPr>
          <p:cNvPr id="3" name="Text Placeholder 2"/>
          <p:cNvSpPr>
            <a:spLocks noGrp="1"/>
          </p:cNvSpPr>
          <p:nvPr>
            <p:ph type="body" sz="half" idx="1"/>
          </p:nvPr>
        </p:nvSpPr>
        <p:spPr>
          <a:xfrm>
            <a:off x="762000" y="16002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5029200" y="16002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Footer Placeholder 4"/>
          <p:cNvSpPr>
            <a:spLocks noGrp="1" noChangeArrowheads="1"/>
          </p:cNvSpPr>
          <p:nvPr>
            <p:ph type="ftr" sz="quarter" idx="10"/>
          </p:nvPr>
        </p:nvSpPr>
        <p:spPr>
          <a:xfrm>
            <a:off x="3124200" y="6248400"/>
            <a:ext cx="2895600" cy="457200"/>
          </a:xfrm>
          <a:prstGeom prst="rect">
            <a:avLst/>
          </a:prstGeom>
        </p:spPr>
        <p:txBody>
          <a:bodyPr/>
          <a:lstStyle>
            <a:lvl1pPr>
              <a:defRPr/>
            </a:lvl1pPr>
          </a:lstStyle>
          <a:p>
            <a:pPr>
              <a:defRPr/>
            </a:pPr>
            <a:r>
              <a:rPr lang="en-US" altLang="en-US"/>
              <a:t>A. Frank - P. Weisberg</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t="-36000" b="-36000"/>
          </a:stretch>
        </a:blipFill>
        <a:effectLst/>
      </p:bgPr>
    </p:bg>
    <p:spTree>
      <p:nvGrpSpPr>
        <p:cNvPr id="1" name=""/>
        <p:cNvGrpSpPr/>
        <p:nvPr/>
      </p:nvGrpSpPr>
      <p:grpSpPr>
        <a:xfrm>
          <a:off x="0" y="0"/>
          <a:ext cx="0" cy="0"/>
          <a:chOff x="0" y="0"/>
          <a:chExt cx="0" cy="0"/>
        </a:xfrm>
      </p:grpSpPr>
      <p:pic>
        <p:nvPicPr>
          <p:cNvPr id="1026" name="Picture 6" descr="JU_PPT-template_option1b.jpg"/>
          <p:cNvPicPr>
            <a:picLocks noChangeAspect="1"/>
          </p:cNvPicPr>
          <p:nvPr/>
        </p:nvPicPr>
        <p:blipFill>
          <a:blip r:embed="rId22"/>
          <a:srcRect/>
          <a:stretch>
            <a:fillRect/>
          </a:stretch>
        </p:blipFill>
        <p:spPr bwMode="auto">
          <a:xfrm>
            <a:off x="0" y="0"/>
            <a:ext cx="9144000" cy="6858000"/>
          </a:xfrm>
          <a:prstGeom prst="rect">
            <a:avLst/>
          </a:prstGeom>
          <a:noFill/>
          <a:ln w="9525">
            <a:noFill/>
            <a:miter lim="800000"/>
            <a:headEnd/>
            <a:tailEnd/>
          </a:ln>
        </p:spPr>
      </p:pic>
      <p:sp>
        <p:nvSpPr>
          <p:cNvPr id="1027" name="Title Placeholder 1"/>
          <p:cNvSpPr>
            <a:spLocks noGrp="1"/>
          </p:cNvSpPr>
          <p:nvPr>
            <p:ph type="title"/>
          </p:nvPr>
        </p:nvSpPr>
        <p:spPr bwMode="auto">
          <a:xfrm>
            <a:off x="457200" y="228600"/>
            <a:ext cx="82296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533400" y="1371600"/>
            <a:ext cx="7924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p:txBody>
      </p:sp>
    </p:spTree>
  </p:cSld>
  <p:clrMap bg1="lt1" tx1="dk1" bg2="lt2" tx2="dk2" accent1="accent1" accent2="accent2" accent3="accent3" accent4="accent4" accent5="accent5" accent6="accent6" hlink="hlink" folHlink="folHlink"/>
  <p:sldLayoutIdLst>
    <p:sldLayoutId id="2147483661" r:id="rId1"/>
    <p:sldLayoutId id="2147483677" r:id="rId2"/>
    <p:sldLayoutId id="2147483678"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9" r:id="rId19"/>
  </p:sldLayoutIdLst>
  <p:transition>
    <p:fade/>
  </p:transition>
  <p:txStyles>
    <p:titleStyle>
      <a:lvl1pPr algn="l" defTabSz="912813" rtl="0" eaLnBrk="0" fontAlgn="base" hangingPunct="0">
        <a:spcBef>
          <a:spcPct val="0"/>
        </a:spcBef>
        <a:spcAft>
          <a:spcPct val="0"/>
        </a:spcAft>
        <a:defRPr sz="2800" b="1" kern="1200">
          <a:solidFill>
            <a:schemeClr val="bg1"/>
          </a:solidFill>
          <a:latin typeface="Times New Roman" pitchFamily="18" charset="0"/>
          <a:ea typeface="+mj-ea"/>
          <a:cs typeface="Times New Roman" pitchFamily="18" charset="0"/>
        </a:defRPr>
      </a:lvl1pPr>
      <a:lvl2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2pPr>
      <a:lvl3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3pPr>
      <a:lvl4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4pPr>
      <a:lvl5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5pPr>
      <a:lvl6pPr marL="457200" algn="l" defTabSz="912813" rtl="0" fontAlgn="base">
        <a:spcBef>
          <a:spcPct val="0"/>
        </a:spcBef>
        <a:spcAft>
          <a:spcPct val="0"/>
        </a:spcAft>
        <a:defRPr sz="2800" b="1">
          <a:solidFill>
            <a:schemeClr val="bg1"/>
          </a:solidFill>
          <a:latin typeface="Times New Roman" pitchFamily="18" charset="0"/>
          <a:cs typeface="Times New Roman" pitchFamily="18" charset="0"/>
        </a:defRPr>
      </a:lvl6pPr>
      <a:lvl7pPr marL="914400" algn="l" defTabSz="912813" rtl="0" fontAlgn="base">
        <a:spcBef>
          <a:spcPct val="0"/>
        </a:spcBef>
        <a:spcAft>
          <a:spcPct val="0"/>
        </a:spcAft>
        <a:defRPr sz="2800" b="1">
          <a:solidFill>
            <a:schemeClr val="bg1"/>
          </a:solidFill>
          <a:latin typeface="Times New Roman" pitchFamily="18" charset="0"/>
          <a:cs typeface="Times New Roman" pitchFamily="18" charset="0"/>
        </a:defRPr>
      </a:lvl7pPr>
      <a:lvl8pPr marL="1371600" algn="l" defTabSz="912813" rtl="0" fontAlgn="base">
        <a:spcBef>
          <a:spcPct val="0"/>
        </a:spcBef>
        <a:spcAft>
          <a:spcPct val="0"/>
        </a:spcAft>
        <a:defRPr sz="2800" b="1">
          <a:solidFill>
            <a:schemeClr val="bg1"/>
          </a:solidFill>
          <a:latin typeface="Times New Roman" pitchFamily="18" charset="0"/>
          <a:cs typeface="Times New Roman" pitchFamily="18" charset="0"/>
        </a:defRPr>
      </a:lvl8pPr>
      <a:lvl9pPr marL="1828800" algn="l" defTabSz="912813" rtl="0" fontAlgn="base">
        <a:spcBef>
          <a:spcPct val="0"/>
        </a:spcBef>
        <a:spcAft>
          <a:spcPct val="0"/>
        </a:spcAft>
        <a:defRPr sz="2800" b="1">
          <a:solidFill>
            <a:schemeClr val="bg1"/>
          </a:solidFill>
          <a:latin typeface="Times New Roman" pitchFamily="18" charset="0"/>
          <a:cs typeface="Times New Roman" pitchFamily="18" charset="0"/>
        </a:defRPr>
      </a:lvl9pPr>
    </p:titleStyle>
    <p:bodyStyle>
      <a:lvl1pPr marL="341313" indent="-341313" algn="l" defTabSz="912813" rtl="0" eaLnBrk="0" fontAlgn="base" hangingPunct="0">
        <a:spcBef>
          <a:spcPct val="20000"/>
        </a:spcBef>
        <a:spcAft>
          <a:spcPct val="0"/>
        </a:spcAft>
        <a:buChar char="•"/>
        <a:defRPr sz="2400" kern="1200">
          <a:solidFill>
            <a:schemeClr val="tx1"/>
          </a:solidFill>
          <a:latin typeface="Times New Roman" pitchFamily="18" charset="0"/>
          <a:ea typeface="+mn-ea"/>
          <a:cs typeface="Times New Roman" pitchFamily="18" charset="0"/>
        </a:defRPr>
      </a:lvl1pPr>
      <a:lvl2pPr marL="741363" indent="-284163" algn="l" defTabSz="912813" rtl="0" eaLnBrk="0" fontAlgn="base" hangingPunct="0">
        <a:spcBef>
          <a:spcPct val="20000"/>
        </a:spcBef>
        <a:spcAft>
          <a:spcPct val="0"/>
        </a:spcAft>
        <a:buFont typeface="Arial" charset="0"/>
        <a:buChar char="•"/>
        <a:defRPr sz="2200" kern="1200">
          <a:solidFill>
            <a:schemeClr val="tx1"/>
          </a:solidFill>
          <a:latin typeface="Times New Roman" pitchFamily="18" charset="0"/>
          <a:ea typeface="+mn-ea"/>
          <a:cs typeface="Times New Roman" pitchFamily="18" charset="0"/>
        </a:defRPr>
      </a:lvl2pPr>
      <a:lvl3pPr marL="1141413" indent="-227013" algn="l" defTabSz="912813" rtl="0" eaLnBrk="0" fontAlgn="base" hangingPunct="0">
        <a:spcBef>
          <a:spcPct val="20000"/>
        </a:spcBef>
        <a:spcAft>
          <a:spcPct val="0"/>
        </a:spcAft>
        <a:buFont typeface="Arial" charset="0"/>
        <a:buChar char="•"/>
        <a:defRPr sz="2400" kern="1200">
          <a:solidFill>
            <a:schemeClr val="tx1"/>
          </a:solidFill>
          <a:latin typeface="+mn-lt"/>
          <a:ea typeface="+mn-ea"/>
          <a:cs typeface="Times New Roman" pitchFamily="18" charset="0"/>
        </a:defRPr>
      </a:lvl3pPr>
      <a:lvl4pPr marL="15986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4pPr>
      <a:lvl5pPr marL="20558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www.geeksforgeeks.org/operating-systems/"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32.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3.xml"/><Relationship Id="rId4" Type="http://schemas.openxmlformats.org/officeDocument/2006/relationships/image" Target="../media/image38.jpeg"/></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tags" Target="../tags/tag4.xml"/><Relationship Id="rId4" Type="http://schemas.openxmlformats.org/officeDocument/2006/relationships/image" Target="../media/image40.png"/></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tags" Target="../tags/tag5.xml"/><Relationship Id="rId4" Type="http://schemas.openxmlformats.org/officeDocument/2006/relationships/image" Target="../media/image42.jpeg"/></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44.png"/></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 descr="JU_PPT-template_option1a.jpg"/>
          <p:cNvPicPr>
            <a:picLocks noChangeAspect="1"/>
          </p:cNvPicPr>
          <p:nvPr/>
        </p:nvPicPr>
        <p:blipFill>
          <a:blip r:embed="rId3"/>
          <a:srcRect/>
          <a:stretch>
            <a:fillRect/>
          </a:stretch>
        </p:blipFill>
        <p:spPr bwMode="auto">
          <a:xfrm>
            <a:off x="-142875" y="-315416"/>
            <a:ext cx="9429750" cy="6858000"/>
          </a:xfrm>
          <a:prstGeom prst="rect">
            <a:avLst/>
          </a:prstGeom>
          <a:noFill/>
          <a:ln w="9525">
            <a:noFill/>
            <a:miter lim="800000"/>
            <a:headEnd/>
            <a:tailEnd/>
          </a:ln>
        </p:spPr>
      </p:pic>
      <p:pic>
        <p:nvPicPr>
          <p:cNvPr id="2051" name="Picture 2" descr="D:\job\jecrc\images for ppt\slide1_1.png"/>
          <p:cNvPicPr>
            <a:picLocks noChangeAspect="1" noChangeArrowheads="1"/>
          </p:cNvPicPr>
          <p:nvPr/>
        </p:nvPicPr>
        <p:blipFill>
          <a:blip r:embed="rId4"/>
          <a:srcRect/>
          <a:stretch>
            <a:fillRect/>
          </a:stretch>
        </p:blipFill>
        <p:spPr bwMode="auto">
          <a:xfrm>
            <a:off x="2992596" y="-1314927"/>
            <a:ext cx="2895283" cy="2629854"/>
          </a:xfrm>
          <a:prstGeom prst="rect">
            <a:avLst/>
          </a:prstGeom>
          <a:noFill/>
          <a:ln w="9525">
            <a:noFill/>
            <a:miter lim="800000"/>
            <a:headEnd/>
            <a:tailEnd/>
          </a:ln>
        </p:spPr>
      </p:pic>
      <p:sp>
        <p:nvSpPr>
          <p:cNvPr id="12" name="TextBox 11"/>
          <p:cNvSpPr txBox="1"/>
          <p:nvPr/>
        </p:nvSpPr>
        <p:spPr>
          <a:xfrm>
            <a:off x="0" y="5934670"/>
            <a:ext cx="6553200" cy="369332"/>
          </a:xfrm>
          <a:prstGeom prst="rect">
            <a:avLst/>
          </a:prstGeom>
          <a:noFill/>
        </p:spPr>
        <p:txBody>
          <a:bodyPr wrap="square" rtlCol="0">
            <a:spAutoFit/>
          </a:bodyPr>
          <a:lstStyle/>
          <a:p>
            <a:endParaRPr lang="en-US" dirty="0">
              <a:solidFill>
                <a:schemeClr val="bg1"/>
              </a:solidFill>
              <a:latin typeface="Times New Roman" pitchFamily="18" charset="0"/>
              <a:cs typeface="Times New Roman" pitchFamily="18" charset="0"/>
            </a:endParaRPr>
          </a:p>
        </p:txBody>
      </p:sp>
      <p:pic>
        <p:nvPicPr>
          <p:cNvPr id="13" name="Picture 3" descr="D:\job\jecrc\images for ppt\slide1.png"/>
          <p:cNvPicPr>
            <a:picLocks noChangeAspect="1" noChangeArrowheads="1"/>
          </p:cNvPicPr>
          <p:nvPr/>
        </p:nvPicPr>
        <p:blipFill>
          <a:blip r:embed="rId5"/>
          <a:srcRect/>
          <a:stretch>
            <a:fillRect/>
          </a:stretch>
        </p:blipFill>
        <p:spPr bwMode="auto">
          <a:xfrm>
            <a:off x="7315200" y="5410200"/>
            <a:ext cx="2305051" cy="1619250"/>
          </a:xfrm>
          <a:prstGeom prst="rect">
            <a:avLst/>
          </a:prstGeom>
          <a:noFill/>
          <a:ln w="9525">
            <a:noFill/>
            <a:miter lim="800000"/>
            <a:headEnd/>
            <a:tailEnd/>
          </a:ln>
        </p:spPr>
      </p:pic>
      <p:sp>
        <p:nvSpPr>
          <p:cNvPr id="2" name="Rectangle 1"/>
          <p:cNvSpPr/>
          <p:nvPr/>
        </p:nvSpPr>
        <p:spPr>
          <a:xfrm>
            <a:off x="755576" y="1340768"/>
            <a:ext cx="8208912" cy="1384995"/>
          </a:xfrm>
          <a:prstGeom prst="rect">
            <a:avLst/>
          </a:prstGeom>
        </p:spPr>
        <p:txBody>
          <a:bodyPr wrap="square">
            <a:spAutoFit/>
          </a:bodyPr>
          <a:lstStyle/>
          <a:p>
            <a:pPr algn="ctr">
              <a:spcBef>
                <a:spcPts val="13"/>
              </a:spcBef>
              <a:spcAft>
                <a:spcPts val="13"/>
              </a:spcAft>
              <a:buSzPct val="100000"/>
            </a:pPr>
            <a:r>
              <a:rPr lang="en-US" altLang="en-US" sz="2800" dirty="0">
                <a:ln w="18415" cmpd="sng">
                  <a:solidFill>
                    <a:srgbClr val="FFFFFF"/>
                  </a:solidFill>
                  <a:prstDash val="solid"/>
                </a:ln>
                <a:solidFill>
                  <a:srgbClr val="FFFFFF"/>
                </a:solidFill>
                <a:effectLst>
                  <a:outerShdw blurRad="63500" dir="3600000" algn="tl" rotWithShape="0">
                    <a:srgbClr val="000000">
                      <a:alpha val="70000"/>
                    </a:srgbClr>
                  </a:outerShdw>
                </a:effectLst>
              </a:rPr>
              <a:t>DEPARTMENT OF COMPUTER SCIENCE</a:t>
            </a:r>
          </a:p>
          <a:p>
            <a:pPr algn="ctr">
              <a:spcBef>
                <a:spcPts val="13"/>
              </a:spcBef>
              <a:spcAft>
                <a:spcPts val="13"/>
              </a:spcAft>
              <a:buSzPct val="100000"/>
            </a:pPr>
            <a:r>
              <a:rPr lang="en-US" altLang="en-US" sz="2800" dirty="0">
                <a:ln w="18415" cmpd="sng">
                  <a:solidFill>
                    <a:srgbClr val="FFFFFF"/>
                  </a:solidFill>
                  <a:prstDash val="solid"/>
                </a:ln>
                <a:solidFill>
                  <a:srgbClr val="FFFFFF"/>
                </a:solidFill>
                <a:effectLst>
                  <a:outerShdw blurRad="63500" dir="3600000" algn="tl" rotWithShape="0">
                    <a:srgbClr val="000000">
                      <a:alpha val="70000"/>
                    </a:srgbClr>
                  </a:outerShdw>
                </a:effectLst>
              </a:rPr>
              <a:t> &amp; </a:t>
            </a:r>
          </a:p>
          <a:p>
            <a:pPr algn="ctr">
              <a:spcBef>
                <a:spcPts val="13"/>
              </a:spcBef>
              <a:spcAft>
                <a:spcPts val="13"/>
              </a:spcAft>
              <a:buSzPct val="100000"/>
            </a:pPr>
            <a:r>
              <a:rPr lang="en-US" altLang="en-US" sz="2800" dirty="0">
                <a:ln w="18415" cmpd="sng">
                  <a:solidFill>
                    <a:srgbClr val="FFFFFF"/>
                  </a:solidFill>
                  <a:prstDash val="solid"/>
                </a:ln>
                <a:solidFill>
                  <a:srgbClr val="FFFFFF"/>
                </a:solidFill>
                <a:effectLst>
                  <a:outerShdw blurRad="63500" dir="3600000" algn="tl" rotWithShape="0">
                    <a:srgbClr val="000000">
                      <a:alpha val="70000"/>
                    </a:srgbClr>
                  </a:outerShdw>
                </a:effectLst>
              </a:rPr>
              <a:t>ENGINEERING</a:t>
            </a:r>
            <a:endParaRPr lang="en-US" sz="2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 name="Rectangle 2"/>
          <p:cNvSpPr/>
          <p:nvPr/>
        </p:nvSpPr>
        <p:spPr>
          <a:xfrm>
            <a:off x="875841" y="2967334"/>
            <a:ext cx="7128792" cy="461665"/>
          </a:xfrm>
          <a:prstGeom prst="rect">
            <a:avLst/>
          </a:prstGeom>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pPr algn="ctr">
              <a:spcBef>
                <a:spcPts val="13"/>
              </a:spcBef>
              <a:spcAft>
                <a:spcPts val="13"/>
              </a:spcAft>
              <a:buSzPct val="100000"/>
            </a:pPr>
            <a:r>
              <a:rPr lang="en-US" altLang="en-US" sz="2400" b="1" dirty="0" smtClean="0">
                <a:ln w="50800"/>
                <a:solidFill>
                  <a:schemeClr val="bg1">
                    <a:shade val="50000"/>
                  </a:schemeClr>
                </a:solidFill>
                <a:latin typeface="Times New Roman" pitchFamily="18" charset="0"/>
                <a:cs typeface="Times New Roman" pitchFamily="18" charset="0"/>
              </a:rPr>
              <a:t>Course </a:t>
            </a:r>
            <a:r>
              <a:rPr lang="en-US" altLang="en-US" sz="2400" b="1" dirty="0">
                <a:ln w="50800"/>
                <a:solidFill>
                  <a:schemeClr val="bg1">
                    <a:shade val="50000"/>
                  </a:schemeClr>
                </a:solidFill>
                <a:latin typeface="Times New Roman" pitchFamily="18" charset="0"/>
                <a:cs typeface="Times New Roman" pitchFamily="18" charset="0"/>
              </a:rPr>
              <a:t>Name: </a:t>
            </a:r>
            <a:r>
              <a:rPr lang="en-US" altLang="en-US" sz="2400" b="1" dirty="0" smtClean="0">
                <a:ln w="50800"/>
                <a:solidFill>
                  <a:schemeClr val="bg1">
                    <a:shade val="50000"/>
                  </a:schemeClr>
                </a:solidFill>
                <a:latin typeface="Times New Roman" pitchFamily="18" charset="0"/>
                <a:cs typeface="Times New Roman" pitchFamily="18" charset="0"/>
              </a:rPr>
              <a:t>Operation System (BCON008B )</a:t>
            </a:r>
            <a:endParaRPr lang="en-US" altLang="en-US" sz="2400" b="1" dirty="0">
              <a:ln w="50800"/>
              <a:solidFill>
                <a:schemeClr val="bg1">
                  <a:shade val="50000"/>
                </a:schemeClr>
              </a:solidFill>
              <a:latin typeface="Times New Roman" pitchFamily="18" charset="0"/>
              <a:cs typeface="Times New Roman"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p:cNvPr>
          <p:cNvSpPr txBox="1">
            <a:spLocks noChangeArrowheads="1"/>
          </p:cNvSpPr>
          <p:nvPr/>
        </p:nvSpPr>
        <p:spPr bwMode="auto">
          <a:xfrm>
            <a:off x="365125" y="1652588"/>
            <a:ext cx="8304213" cy="3060700"/>
          </a:xfrm>
          <a:prstGeom prst="rect">
            <a:avLst/>
          </a:prstGeom>
          <a:noFill/>
          <a:ln w="9525">
            <a:noFill/>
            <a:miter lim="800000"/>
            <a:headEnd/>
            <a:tailEnd/>
          </a:ln>
        </p:spPr>
        <p:txBody>
          <a:bodyPr anchor="ctr">
            <a:normAutofit fontScale="85000" lnSpcReduction="20000"/>
          </a:bodyPr>
          <a:lstStyle/>
          <a:p>
            <a:pPr algn="ctr">
              <a:defRPr/>
            </a:pPr>
            <a:r>
              <a:rPr lang="en-US" altLang="en-US" sz="4400" kern="0" dirty="0">
                <a:solidFill>
                  <a:srgbClr val="FF0000"/>
                </a:solidFill>
                <a:latin typeface="+mj-lt"/>
                <a:ea typeface="+mj-ea"/>
                <a:cs typeface="+mj-cs"/>
              </a:rPr>
              <a:t>    </a:t>
            </a:r>
            <a:r>
              <a:rPr lang="en-US" altLang="en-US" sz="4400" kern="0" dirty="0">
                <a:solidFill>
                  <a:srgbClr val="FF0000"/>
                </a:solidFill>
                <a:latin typeface="Times New Roman" panose="02020603050405020304" pitchFamily="18" charset="0"/>
                <a:ea typeface="+mj-ea"/>
                <a:cs typeface="Times New Roman" panose="02020603050405020304" pitchFamily="18" charset="0"/>
              </a:rPr>
              <a:t>BC0 008B </a:t>
            </a:r>
          </a:p>
          <a:p>
            <a:pPr algn="ctr">
              <a:defRPr/>
            </a:pPr>
            <a:r>
              <a:rPr lang="en-US" altLang="en-US" sz="4400" kern="0" dirty="0">
                <a:solidFill>
                  <a:srgbClr val="FF0000"/>
                </a:solidFill>
                <a:latin typeface="Times New Roman" panose="02020603050405020304" pitchFamily="18" charset="0"/>
                <a:ea typeface="+mj-ea"/>
                <a:cs typeface="Times New Roman" panose="02020603050405020304" pitchFamily="18" charset="0"/>
              </a:rPr>
              <a:t>Operating Systems</a:t>
            </a:r>
            <a:br>
              <a:rPr lang="en-US" altLang="en-US" sz="4400" kern="0" dirty="0">
                <a:solidFill>
                  <a:srgbClr val="FF0000"/>
                </a:solidFill>
                <a:latin typeface="Times New Roman" panose="02020603050405020304" pitchFamily="18" charset="0"/>
                <a:ea typeface="+mj-ea"/>
                <a:cs typeface="Times New Roman" panose="02020603050405020304" pitchFamily="18" charset="0"/>
              </a:rPr>
            </a:br>
            <a:r>
              <a:rPr lang="fr-FR" sz="4400" b="1" i="1" dirty="0">
                <a:solidFill>
                  <a:srgbClr val="FF0000"/>
                </a:solidFill>
                <a:latin typeface="Times New Roman" panose="02020603050405020304" pitchFamily="18" charset="0"/>
                <a:cs typeface="Times New Roman" pitchFamily="18" charset="0"/>
              </a:rPr>
              <a:t> </a:t>
            </a:r>
          </a:p>
          <a:p>
            <a:pPr algn="ctr">
              <a:defRPr/>
            </a:pPr>
            <a:r>
              <a:rPr lang="en-US" altLang="en-US" sz="4400" kern="0" dirty="0">
                <a:solidFill>
                  <a:srgbClr val="FF0000"/>
                </a:solidFill>
                <a:latin typeface="Times New Roman" panose="02020603050405020304" pitchFamily="18" charset="0"/>
                <a:ea typeface="+mj-ea"/>
                <a:cs typeface="Times New Roman" panose="02020603050405020304" pitchFamily="18" charset="0"/>
              </a:rPr>
              <a:t>Unit-I</a:t>
            </a:r>
          </a:p>
          <a:p>
            <a:pPr algn="ctr">
              <a:defRPr/>
            </a:pPr>
            <a:r>
              <a:rPr lang="en-US" altLang="en-US" sz="4400" kern="0" dirty="0">
                <a:solidFill>
                  <a:srgbClr val="FF0000"/>
                </a:solidFill>
                <a:latin typeface="+mj-lt"/>
                <a:ea typeface="+mj-ea"/>
                <a:cs typeface="+mj-cs"/>
              </a:rPr>
              <a:t/>
            </a:r>
            <a:br>
              <a:rPr lang="en-US" altLang="en-US" sz="4400" kern="0" dirty="0">
                <a:solidFill>
                  <a:srgbClr val="FF0000"/>
                </a:solidFill>
                <a:latin typeface="+mj-lt"/>
                <a:ea typeface="+mj-ea"/>
                <a:cs typeface="+mj-cs"/>
              </a:rPr>
            </a:br>
            <a:endParaRPr lang="en-US" altLang="en-US" sz="4400" kern="0" dirty="0">
              <a:solidFill>
                <a:srgbClr val="FF0000"/>
              </a:solidFill>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26367" t="15625" r="27929" b="7291"/>
          <a:stretch>
            <a:fillRect/>
          </a:stretch>
        </p:blipFill>
        <p:spPr bwMode="auto">
          <a:xfrm>
            <a:off x="0" y="214290"/>
            <a:ext cx="6858016" cy="664371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1800" b="1" i="1" dirty="0"/>
              <a:t>Text Books:</a:t>
            </a:r>
            <a:endParaRPr lang="en-US" sz="1800" dirty="0"/>
          </a:p>
          <a:p>
            <a:r>
              <a:rPr lang="en-US" sz="1800" dirty="0"/>
              <a:t>1. Operating Systems Concepts – </a:t>
            </a:r>
            <a:r>
              <a:rPr lang="en-US" sz="1800" dirty="0" err="1"/>
              <a:t>Silberschatz</a:t>
            </a:r>
            <a:r>
              <a:rPr lang="en-US" sz="1800" dirty="0"/>
              <a:t>, Galvin, Wiley Publications (2008)</a:t>
            </a:r>
          </a:p>
          <a:p>
            <a:r>
              <a:rPr lang="en-US" sz="1800" dirty="0"/>
              <a:t>2. Modern Operating Systems - Andrew S. </a:t>
            </a:r>
            <a:r>
              <a:rPr lang="en-US" sz="1800" dirty="0" err="1"/>
              <a:t>Tanenbaum</a:t>
            </a:r>
            <a:r>
              <a:rPr lang="en-US" sz="1800" dirty="0"/>
              <a:t>, Pearson Education Asia / PHI(2005)</a:t>
            </a:r>
          </a:p>
          <a:p>
            <a:pPr>
              <a:buNone/>
            </a:pPr>
            <a:r>
              <a:rPr lang="en-US" sz="1800" b="1" i="1" dirty="0"/>
              <a:t>Reference Books:</a:t>
            </a:r>
            <a:endParaRPr lang="en-US" sz="1800" dirty="0"/>
          </a:p>
          <a:p>
            <a:pPr lvl="0"/>
            <a:r>
              <a:rPr lang="en-US" sz="1800" dirty="0"/>
              <a:t>Operating Systems – William Stallings, Pearson Education Asia (2002)</a:t>
            </a:r>
          </a:p>
          <a:p>
            <a:pPr lvl="0"/>
            <a:r>
              <a:rPr lang="en-US" sz="1800" dirty="0"/>
              <a:t>UNIX System Programming Using C++, by Terrence Chan: Prentice Hall India, 1999.</a:t>
            </a:r>
          </a:p>
          <a:p>
            <a:pPr lvl="0"/>
            <a:r>
              <a:rPr lang="en-US" sz="1800" dirty="0"/>
              <a:t>Advanced Programming in UNIX Environment, by W. Richard Stevens: 2nd Ed, Pearson Education, 2005</a:t>
            </a:r>
          </a:p>
          <a:p>
            <a:r>
              <a:rPr lang="en-US" sz="1800" i="1" dirty="0"/>
              <a:t> </a:t>
            </a:r>
            <a:endParaRPr lang="en-US" sz="1800" dirty="0"/>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sz="2000" b="1" i="1" dirty="0"/>
              <a:t>Course Outcome (CO):</a:t>
            </a:r>
            <a:endParaRPr lang="en-US" sz="2000" dirty="0"/>
          </a:p>
          <a:p>
            <a:pPr>
              <a:buNone/>
            </a:pPr>
            <a:r>
              <a:rPr lang="en-US" sz="2000" dirty="0"/>
              <a:t>At the ends of this course </a:t>
            </a:r>
            <a:r>
              <a:rPr lang="en-US" sz="2000" dirty="0" err="1"/>
              <a:t>studentswill</a:t>
            </a:r>
            <a:r>
              <a:rPr lang="en-US" sz="2000" dirty="0"/>
              <a:t> have:</a:t>
            </a:r>
          </a:p>
          <a:p>
            <a:r>
              <a:rPr lang="en-US" sz="2000" dirty="0"/>
              <a:t>CO1: Classify Unix Kernel mode with user mode &amp; contrast between Kernel structures. </a:t>
            </a:r>
          </a:p>
          <a:p>
            <a:r>
              <a:rPr lang="en-US" sz="2000" dirty="0"/>
              <a:t>CO2: Identify and estimate process management &amp; thread management strategies along with their different operations </a:t>
            </a:r>
          </a:p>
          <a:p>
            <a:r>
              <a:rPr lang="en-US" sz="2000" dirty="0"/>
              <a:t>CO3: Implement deadlock and different system calls for various file handling operations. </a:t>
            </a:r>
          </a:p>
          <a:p>
            <a:r>
              <a:rPr lang="en-US" sz="2000" dirty="0"/>
              <a:t>CO4: Determine Paging and Caching techniques related to Virtual Memory.</a:t>
            </a:r>
            <a:r>
              <a:rPr lang="en-US" sz="2000" b="1" dirty="0"/>
              <a:t> </a:t>
            </a:r>
            <a:endParaRPr lang="en-US" sz="2000" dirty="0"/>
          </a:p>
          <a:p>
            <a:pPr>
              <a:buNone/>
            </a:pPr>
            <a:r>
              <a:rPr lang="en-US" sz="1200" b="1" dirty="0"/>
              <a:t> </a:t>
            </a:r>
            <a:endParaRPr lang="en-US" sz="1200" dirty="0"/>
          </a:p>
          <a:p>
            <a:pPr>
              <a:buNone/>
            </a:pPr>
            <a:r>
              <a:rPr lang="en-US" sz="1200" b="1" dirty="0"/>
              <a:t> </a:t>
            </a:r>
            <a:endParaRPr lang="en-US" sz="1200" dirty="0"/>
          </a:p>
          <a:p>
            <a:pPr>
              <a:buNone/>
            </a:pPr>
            <a:r>
              <a:rPr lang="en-US" sz="1200" b="1" dirty="0"/>
              <a:t> </a:t>
            </a:r>
            <a:endParaRPr lang="en-US" sz="1200" dirty="0"/>
          </a:p>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3" name="Table 2"/>
          <p:cNvGraphicFramePr>
            <a:graphicFrameLocks noGrp="1"/>
          </p:cNvGraphicFramePr>
          <p:nvPr/>
        </p:nvGraphicFramePr>
        <p:xfrm>
          <a:off x="285720" y="2428868"/>
          <a:ext cx="8715437" cy="2982627"/>
        </p:xfrm>
        <a:graphic>
          <a:graphicData uri="http://schemas.openxmlformats.org/drawingml/2006/table">
            <a:tbl>
              <a:tblPr/>
              <a:tblGrid>
                <a:gridCol w="821331">
                  <a:extLst>
                    <a:ext uri="{9D8B030D-6E8A-4147-A177-3AD203B41FA5}">
                      <a16:colId xmlns:a16="http://schemas.microsoft.com/office/drawing/2014/main" val="20000"/>
                    </a:ext>
                  </a:extLst>
                </a:gridCol>
                <a:gridCol w="517367">
                  <a:extLst>
                    <a:ext uri="{9D8B030D-6E8A-4147-A177-3AD203B41FA5}">
                      <a16:colId xmlns:a16="http://schemas.microsoft.com/office/drawing/2014/main" val="20001"/>
                    </a:ext>
                  </a:extLst>
                </a:gridCol>
                <a:gridCol w="615997">
                  <a:extLst>
                    <a:ext uri="{9D8B030D-6E8A-4147-A177-3AD203B41FA5}">
                      <a16:colId xmlns:a16="http://schemas.microsoft.com/office/drawing/2014/main" val="20002"/>
                    </a:ext>
                  </a:extLst>
                </a:gridCol>
                <a:gridCol w="517367">
                  <a:extLst>
                    <a:ext uri="{9D8B030D-6E8A-4147-A177-3AD203B41FA5}">
                      <a16:colId xmlns:a16="http://schemas.microsoft.com/office/drawing/2014/main" val="20003"/>
                    </a:ext>
                  </a:extLst>
                </a:gridCol>
                <a:gridCol w="517367">
                  <a:extLst>
                    <a:ext uri="{9D8B030D-6E8A-4147-A177-3AD203B41FA5}">
                      <a16:colId xmlns:a16="http://schemas.microsoft.com/office/drawing/2014/main" val="20004"/>
                    </a:ext>
                  </a:extLst>
                </a:gridCol>
                <a:gridCol w="517367">
                  <a:extLst>
                    <a:ext uri="{9D8B030D-6E8A-4147-A177-3AD203B41FA5}">
                      <a16:colId xmlns:a16="http://schemas.microsoft.com/office/drawing/2014/main" val="20005"/>
                    </a:ext>
                  </a:extLst>
                </a:gridCol>
                <a:gridCol w="517367">
                  <a:extLst>
                    <a:ext uri="{9D8B030D-6E8A-4147-A177-3AD203B41FA5}">
                      <a16:colId xmlns:a16="http://schemas.microsoft.com/office/drawing/2014/main" val="20006"/>
                    </a:ext>
                  </a:extLst>
                </a:gridCol>
                <a:gridCol w="517367">
                  <a:extLst>
                    <a:ext uri="{9D8B030D-6E8A-4147-A177-3AD203B41FA5}">
                      <a16:colId xmlns:a16="http://schemas.microsoft.com/office/drawing/2014/main" val="20007"/>
                    </a:ext>
                  </a:extLst>
                </a:gridCol>
                <a:gridCol w="517367">
                  <a:extLst>
                    <a:ext uri="{9D8B030D-6E8A-4147-A177-3AD203B41FA5}">
                      <a16:colId xmlns:a16="http://schemas.microsoft.com/office/drawing/2014/main" val="20008"/>
                    </a:ext>
                  </a:extLst>
                </a:gridCol>
                <a:gridCol w="517367">
                  <a:extLst>
                    <a:ext uri="{9D8B030D-6E8A-4147-A177-3AD203B41FA5}">
                      <a16:colId xmlns:a16="http://schemas.microsoft.com/office/drawing/2014/main" val="20009"/>
                    </a:ext>
                  </a:extLst>
                </a:gridCol>
                <a:gridCol w="522747">
                  <a:extLst>
                    <a:ext uri="{9D8B030D-6E8A-4147-A177-3AD203B41FA5}">
                      <a16:colId xmlns:a16="http://schemas.microsoft.com/office/drawing/2014/main" val="20010"/>
                    </a:ext>
                  </a:extLst>
                </a:gridCol>
                <a:gridCol w="522747">
                  <a:extLst>
                    <a:ext uri="{9D8B030D-6E8A-4147-A177-3AD203B41FA5}">
                      <a16:colId xmlns:a16="http://schemas.microsoft.com/office/drawing/2014/main" val="20011"/>
                    </a:ext>
                  </a:extLst>
                </a:gridCol>
                <a:gridCol w="522747">
                  <a:extLst>
                    <a:ext uri="{9D8B030D-6E8A-4147-A177-3AD203B41FA5}">
                      <a16:colId xmlns:a16="http://schemas.microsoft.com/office/drawing/2014/main" val="20012"/>
                    </a:ext>
                  </a:extLst>
                </a:gridCol>
                <a:gridCol w="523644">
                  <a:extLst>
                    <a:ext uri="{9D8B030D-6E8A-4147-A177-3AD203B41FA5}">
                      <a16:colId xmlns:a16="http://schemas.microsoft.com/office/drawing/2014/main" val="20013"/>
                    </a:ext>
                  </a:extLst>
                </a:gridCol>
                <a:gridCol w="523644">
                  <a:extLst>
                    <a:ext uri="{9D8B030D-6E8A-4147-A177-3AD203B41FA5}">
                      <a16:colId xmlns:a16="http://schemas.microsoft.com/office/drawing/2014/main" val="20014"/>
                    </a:ext>
                  </a:extLst>
                </a:gridCol>
                <a:gridCol w="523644">
                  <a:extLst>
                    <a:ext uri="{9D8B030D-6E8A-4147-A177-3AD203B41FA5}">
                      <a16:colId xmlns:a16="http://schemas.microsoft.com/office/drawing/2014/main" val="20015"/>
                    </a:ext>
                  </a:extLst>
                </a:gridCol>
              </a:tblGrid>
              <a:tr h="1300131">
                <a:tc>
                  <a:txBody>
                    <a:bodyPr/>
                    <a:lstStyle/>
                    <a:p>
                      <a:pPr algn="just">
                        <a:lnSpc>
                          <a:spcPct val="115000"/>
                        </a:lnSpc>
                        <a:spcAft>
                          <a:spcPts val="0"/>
                        </a:spcAft>
                      </a:pPr>
                      <a:r>
                        <a:rPr lang="en-US" sz="1600" b="1" i="1" dirty="0">
                          <a:solidFill>
                            <a:srgbClr val="000000"/>
                          </a:solidFill>
                          <a:latin typeface="Times New Roman"/>
                          <a:ea typeface="Times New Roman"/>
                          <a:cs typeface="Times New Roman"/>
                        </a:rPr>
                        <a:t>Course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lgn="ctr">
                        <a:lnSpc>
                          <a:spcPct val="115000"/>
                        </a:lnSpc>
                        <a:spcAft>
                          <a:spcPts val="0"/>
                        </a:spcAft>
                      </a:pPr>
                      <a:r>
                        <a:rPr lang="en-US" sz="1600" dirty="0">
                          <a:solidFill>
                            <a:srgbClr val="000000"/>
                          </a:solidFill>
                          <a:latin typeface="Times New Roman"/>
                          <a:ea typeface="Times New Roman"/>
                          <a:cs typeface="Times New Roman"/>
                        </a:rPr>
                        <a:t>Program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115000"/>
                        </a:lnSpc>
                        <a:spcAft>
                          <a:spcPts val="0"/>
                        </a:spcAft>
                      </a:pPr>
                      <a:r>
                        <a:rPr lang="en-US" sz="1600">
                          <a:solidFill>
                            <a:srgbClr val="000000"/>
                          </a:solidFill>
                          <a:latin typeface="Times New Roman"/>
                          <a:ea typeface="Times New Roman"/>
                          <a:cs typeface="Times New Roman"/>
                        </a:rPr>
                        <a:t>Program Specifice Outcome</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8037">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PO5</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PO6</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PO7</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PO8</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PO9</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PO10</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1073" name="Rectangle 1"/>
          <p:cNvSpPr>
            <a:spLocks noChangeArrowheads="1"/>
          </p:cNvSpPr>
          <p:nvPr/>
        </p:nvSpPr>
        <p:spPr bwMode="auto">
          <a:xfrm>
            <a:off x="0" y="0"/>
            <a:ext cx="8892480" cy="20621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rPr>
              <a:t>Mapping of COs with Pos</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MAPPING COURSE OUTCOMES LEADING TO THE ACHIEVEMENT OF</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 PROGRAM OUTCOMES AND PROGRAM SPECIFIC OUTCOMES: </a:t>
            </a:r>
            <a:endParaRPr kumimoji="0" lang="en-US" sz="1200" b="0" i="0" u="none" strike="noStrike" cap="none" normalizeH="0" baseline="0" dirty="0">
              <a:ln>
                <a:noFill/>
              </a:ln>
              <a:solidFill>
                <a:schemeClr val="tx1"/>
              </a:solidFill>
              <a:effectLst/>
              <a:latin typeface="Arial" pitchFamily="34" charset="0"/>
              <a:cs typeface="Arial" pitchFamily="34" charset="0"/>
            </a:endParaRPr>
          </a:p>
        </p:txBody>
      </p:sp>
      <p:sp>
        <p:nvSpPr>
          <p:cNvPr id="5" name="Rectangle 4"/>
          <p:cNvSpPr/>
          <p:nvPr/>
        </p:nvSpPr>
        <p:spPr>
          <a:xfrm>
            <a:off x="2436126" y="5845750"/>
            <a:ext cx="4271747" cy="369332"/>
          </a:xfrm>
          <a:prstGeom prst="rect">
            <a:avLst/>
          </a:prstGeom>
        </p:spPr>
        <p:txBody>
          <a:bodyPr wrap="none">
            <a:spAutoFit/>
          </a:bodyPr>
          <a:lstStyle/>
          <a:p>
            <a:pPr lvl="0" algn="just" eaLnBrk="0" hangingPunct="0"/>
            <a:r>
              <a:rPr lang="en-US" dirty="0">
                <a:latin typeface="Times New Roman" pitchFamily="18" charset="0"/>
                <a:ea typeface="Times New Roman" pitchFamily="18" charset="0"/>
                <a:cs typeface="Times New Roman" pitchFamily="18" charset="0"/>
              </a:rPr>
              <a:t>H = Highly Related; M = Medium  L = Low</a:t>
            </a:r>
            <a:endParaRPr lang="en-US" dirty="0">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214282" y="500042"/>
            <a:ext cx="8518556" cy="5786478"/>
          </a:xfrm>
        </p:spPr>
        <p:txBody>
          <a:bodyPr/>
          <a:lstStyle/>
          <a:p>
            <a:pPr>
              <a:buFontTx/>
              <a:buNone/>
            </a:pPr>
            <a:endParaRPr lang="en-IN" b="1" dirty="0"/>
          </a:p>
          <a:p>
            <a:pPr>
              <a:buFontTx/>
              <a:buNone/>
            </a:pPr>
            <a:r>
              <a:rPr lang="en-IN" b="1" dirty="0"/>
              <a:t>UNIT 1 - Operating System</a:t>
            </a:r>
          </a:p>
          <a:p>
            <a:pPr>
              <a:buFontTx/>
              <a:buNone/>
            </a:pPr>
            <a:r>
              <a:rPr lang="en-IN" sz="2800" dirty="0">
                <a:solidFill>
                  <a:schemeClr val="tx1"/>
                </a:solidFill>
              </a:rPr>
              <a:t>    Operating system and functions, Classification of Operating systems- Batch, Interactive, Time sharing, Real Time System, </a:t>
            </a:r>
            <a:r>
              <a:rPr lang="en-IN" sz="2800" dirty="0" err="1">
                <a:solidFill>
                  <a:schemeClr val="tx1"/>
                </a:solidFill>
              </a:rPr>
              <a:t>Multiprocessor,Systems</a:t>
            </a:r>
            <a:r>
              <a:rPr lang="en-IN" sz="2800" dirty="0">
                <a:solidFill>
                  <a:schemeClr val="tx1"/>
                </a:solidFill>
              </a:rPr>
              <a:t>, Multiuser Systems, Multiprocessor Systems, Multithreaded Systems, Operating System Structure- Layered structure, System Components, Operating System services, Monolithic and Microkernel Systems.</a:t>
            </a:r>
            <a:endParaRPr lang="en-US" sz="2800" dirty="0">
              <a:solidFill>
                <a:schemeClr val="tx1"/>
              </a:solidFill>
            </a:endParaRPr>
          </a:p>
          <a:p>
            <a:endParaRPr lang="en-US" sz="28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817EB2B8-1FC2-48AD-832F-E989BFD84448}"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7416A52D-CB77-40EA-A474-87A4987F0F6A}" type="slidenum">
              <a:rPr lang="en-US"/>
              <a:pPr>
                <a:defRPr/>
              </a:pPr>
              <a:t>8</a:t>
            </a:fld>
            <a:endParaRPr lang="en-US"/>
          </a:p>
        </p:txBody>
      </p:sp>
      <p:sp>
        <p:nvSpPr>
          <p:cNvPr id="5123" name="Rectangle 2"/>
          <p:cNvSpPr>
            <a:spLocks noGrp="1" noChangeArrowheads="1"/>
          </p:cNvSpPr>
          <p:nvPr>
            <p:ph type="ctrTitle"/>
          </p:nvPr>
        </p:nvSpPr>
        <p:spPr>
          <a:xfrm>
            <a:off x="142844" y="285728"/>
            <a:ext cx="8315356" cy="928694"/>
          </a:xfrm>
        </p:spPr>
        <p:txBody>
          <a:bodyPr/>
          <a:lstStyle/>
          <a:p>
            <a:pPr eaLnBrk="1" hangingPunct="1"/>
            <a:r>
              <a:rPr lang="en-US" dirty="0"/>
              <a:t/>
            </a:r>
            <a:br>
              <a:rPr lang="en-US" dirty="0"/>
            </a:br>
            <a:r>
              <a:rPr lang="en-US" dirty="0">
                <a:solidFill>
                  <a:schemeClr val="tx1"/>
                </a:solidFill>
              </a:rPr>
              <a:t>Introduction</a:t>
            </a:r>
          </a:p>
        </p:txBody>
      </p:sp>
      <p:sp>
        <p:nvSpPr>
          <p:cNvPr id="2052" name="Text Box 4"/>
          <p:cNvSpPr txBox="1">
            <a:spLocks noChangeArrowheads="1"/>
          </p:cNvSpPr>
          <p:nvPr/>
        </p:nvSpPr>
        <p:spPr bwMode="auto">
          <a:xfrm>
            <a:off x="914400" y="1357299"/>
            <a:ext cx="6875463" cy="4893647"/>
          </a:xfrm>
          <a:prstGeom prst="rect">
            <a:avLst/>
          </a:prstGeom>
          <a:noFill/>
          <a:ln w="9525">
            <a:noFill/>
            <a:miter lim="800000"/>
            <a:headEnd/>
            <a:tailEnd/>
          </a:ln>
          <a:effectLst/>
        </p:spPr>
        <p:txBody>
          <a:bodyPr wrap="square">
            <a:spAutoFit/>
          </a:bodyPr>
          <a:lstStyle/>
          <a:p>
            <a:pPr>
              <a:defRPr/>
            </a:pPr>
            <a:r>
              <a:rPr lang="en-US" sz="2400" dirty="0">
                <a:latin typeface="Times New Roman" pitchFamily="18" charset="0"/>
                <a:cs typeface="Times New Roman" pitchFamily="18" charset="0"/>
              </a:rPr>
              <a:t>1.1 What is an operating system</a:t>
            </a:r>
          </a:p>
          <a:p>
            <a:pPr>
              <a:defRPr/>
            </a:pPr>
            <a:r>
              <a:rPr lang="en-US" sz="2400" dirty="0">
                <a:latin typeface="Times New Roman" pitchFamily="18" charset="0"/>
                <a:cs typeface="Times New Roman" pitchFamily="18" charset="0"/>
              </a:rPr>
              <a:t>1.2 History of operating systems</a:t>
            </a:r>
          </a:p>
          <a:p>
            <a:pPr>
              <a:defRPr/>
            </a:pPr>
            <a:r>
              <a:rPr lang="en-IN" sz="2400" dirty="0">
                <a:latin typeface="Times New Roman" pitchFamily="18" charset="0"/>
                <a:cs typeface="Times New Roman" pitchFamily="18" charset="0"/>
              </a:rPr>
              <a:t>1.3 Operating system and functions</a:t>
            </a: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1.4 The operating system Types</a:t>
            </a:r>
          </a:p>
          <a:p>
            <a:pPr>
              <a:defRPr/>
            </a:pPr>
            <a:r>
              <a:rPr lang="en-US" sz="2400" dirty="0">
                <a:latin typeface="Times New Roman" pitchFamily="18" charset="0"/>
                <a:cs typeface="Times New Roman" pitchFamily="18" charset="0"/>
              </a:rPr>
              <a:t>1.5 Computer hardware review</a:t>
            </a:r>
          </a:p>
          <a:p>
            <a:pPr>
              <a:defRPr/>
            </a:pPr>
            <a:r>
              <a:rPr lang="en-US" sz="2400" dirty="0">
                <a:latin typeface="Times New Roman" pitchFamily="18" charset="0"/>
                <a:cs typeface="Times New Roman" pitchFamily="18" charset="0"/>
              </a:rPr>
              <a:t>1.6 Operating system concepts</a:t>
            </a:r>
          </a:p>
          <a:p>
            <a:pPr>
              <a:defRPr/>
            </a:pPr>
            <a:r>
              <a:rPr lang="en-US" sz="2400" dirty="0">
                <a:latin typeface="Times New Roman" pitchFamily="18" charset="0"/>
                <a:cs typeface="Times New Roman" pitchFamily="18" charset="0"/>
              </a:rPr>
              <a:t>1.7 System calls</a:t>
            </a:r>
          </a:p>
          <a:p>
            <a:pPr>
              <a:defRPr/>
            </a:pPr>
            <a:r>
              <a:rPr lang="en-US" sz="2400" dirty="0">
                <a:latin typeface="Times New Roman" pitchFamily="18" charset="0"/>
                <a:cs typeface="Times New Roman" pitchFamily="18" charset="0"/>
              </a:rPr>
              <a:t>1.8 Operating system structure -</a:t>
            </a:r>
            <a:r>
              <a:rPr lang="en-IN" sz="2400" dirty="0">
                <a:latin typeface="Times New Roman" pitchFamily="18" charset="0"/>
                <a:cs typeface="Times New Roman" pitchFamily="18" charset="0"/>
              </a:rPr>
              <a:t> Layered structure</a:t>
            </a:r>
          </a:p>
          <a:p>
            <a:pPr>
              <a:defRPr/>
            </a:pPr>
            <a:r>
              <a:rPr lang="en-IN" sz="2400" dirty="0">
                <a:latin typeface="Times New Roman" pitchFamily="18" charset="0"/>
                <a:cs typeface="Times New Roman" pitchFamily="18" charset="0"/>
              </a:rPr>
              <a:t>1.9 OS System Components and structures (</a:t>
            </a:r>
            <a:r>
              <a:rPr lang="en-IN" sz="2400" dirty="0" err="1">
                <a:latin typeface="Times New Roman" pitchFamily="18" charset="0"/>
                <a:cs typeface="Times New Roman" pitchFamily="18" charset="0"/>
              </a:rPr>
              <a:t>Windows,linux,MSDOS,UNIX</a:t>
            </a:r>
            <a:r>
              <a:rPr lang="en-IN" sz="2400" dirty="0">
                <a:latin typeface="Times New Roman" pitchFamily="18" charset="0"/>
                <a:cs typeface="Times New Roman" pitchFamily="18" charset="0"/>
              </a:rPr>
              <a:t>)</a:t>
            </a:r>
          </a:p>
          <a:p>
            <a:pPr>
              <a:defRPr/>
            </a:pPr>
            <a:r>
              <a:rPr lang="en-IN" sz="2400" dirty="0">
                <a:latin typeface="Times New Roman" pitchFamily="18" charset="0"/>
                <a:cs typeface="Times New Roman" pitchFamily="18" charset="0"/>
              </a:rPr>
              <a:t>2.0 </a:t>
            </a:r>
            <a:r>
              <a:rPr lang="en-IN" sz="2400" dirty="0" err="1">
                <a:latin typeface="Times New Roman" pitchFamily="18" charset="0"/>
                <a:cs typeface="Times New Roman" pitchFamily="18" charset="0"/>
              </a:rPr>
              <a:t>Operating,System</a:t>
            </a:r>
            <a:r>
              <a:rPr lang="en-IN" sz="2400" dirty="0">
                <a:latin typeface="Times New Roman" pitchFamily="18" charset="0"/>
                <a:cs typeface="Times New Roman" pitchFamily="18" charset="0"/>
              </a:rPr>
              <a:t> services</a:t>
            </a:r>
          </a:p>
          <a:p>
            <a:pPr>
              <a:defRPr/>
            </a:pPr>
            <a:r>
              <a:rPr lang="en-IN" sz="2400" dirty="0">
                <a:latin typeface="Times New Roman" pitchFamily="18" charset="0"/>
                <a:cs typeface="Times New Roman" pitchFamily="18" charset="0"/>
              </a:rPr>
              <a:t>2.1 Monolithic and Microkernel Systems.</a:t>
            </a:r>
            <a:endParaRPr lang="en-US" sz="2400" dirty="0">
              <a:latin typeface="Times New Roman" pitchFamily="18" charset="0"/>
              <a:cs typeface="Times New Roman" pitchFamily="18" charset="0"/>
            </a:endParaRPr>
          </a:p>
          <a:p>
            <a:pPr>
              <a:defRPr/>
            </a:pPr>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EF020846-E137-4D38-B9B0-AEE6F3682596}" type="slidenum">
              <a:rPr lang="en-US"/>
              <a:pPr>
                <a:defRPr/>
              </a:pPr>
              <a:t>9</a:t>
            </a:fld>
            <a:endParaRPr lang="en-US"/>
          </a:p>
        </p:txBody>
      </p:sp>
      <p:sp>
        <p:nvSpPr>
          <p:cNvPr id="6147" name="Rectangle 2"/>
          <p:cNvSpPr>
            <a:spLocks noGrp="1" noChangeArrowheads="1"/>
          </p:cNvSpPr>
          <p:nvPr>
            <p:ph type="title"/>
          </p:nvPr>
        </p:nvSpPr>
        <p:spPr>
          <a:xfrm>
            <a:off x="457200" y="0"/>
            <a:ext cx="7772400" cy="1143000"/>
          </a:xfrm>
        </p:spPr>
        <p:txBody>
          <a:bodyPr/>
          <a:lstStyle/>
          <a:p>
            <a:pPr eaLnBrk="1" hangingPunct="1"/>
            <a:r>
              <a:rPr lang="en-US"/>
              <a:t>1.1  Introduction</a:t>
            </a:r>
          </a:p>
        </p:txBody>
      </p:sp>
      <p:sp>
        <p:nvSpPr>
          <p:cNvPr id="6148" name="Rectangle 3"/>
          <p:cNvSpPr>
            <a:spLocks noGrp="1" noChangeArrowheads="1"/>
          </p:cNvSpPr>
          <p:nvPr>
            <p:ph type="body" idx="1"/>
          </p:nvPr>
        </p:nvSpPr>
        <p:spPr>
          <a:xfrm>
            <a:off x="2209800" y="4419600"/>
            <a:ext cx="5613400" cy="1828800"/>
          </a:xfrm>
        </p:spPr>
        <p:txBody>
          <a:bodyPr/>
          <a:lstStyle/>
          <a:p>
            <a:pPr eaLnBrk="1" hangingPunct="1"/>
            <a:r>
              <a:rPr lang="en-US"/>
              <a:t>A computer system consists of</a:t>
            </a:r>
            <a:endParaRPr lang="en-US" sz="2400"/>
          </a:p>
          <a:p>
            <a:pPr lvl="1" eaLnBrk="1" hangingPunct="1"/>
            <a:r>
              <a:rPr lang="en-US"/>
              <a:t>hardware</a:t>
            </a:r>
          </a:p>
          <a:p>
            <a:pPr lvl="1" eaLnBrk="1" hangingPunct="1"/>
            <a:r>
              <a:rPr lang="en-US"/>
              <a:t>system programs</a:t>
            </a:r>
          </a:p>
          <a:p>
            <a:pPr lvl="1" eaLnBrk="1" hangingPunct="1"/>
            <a:r>
              <a:rPr lang="en-US"/>
              <a:t>application programs</a:t>
            </a:r>
            <a:endParaRPr lang="en-US" sz="2000"/>
          </a:p>
        </p:txBody>
      </p:sp>
      <p:pic>
        <p:nvPicPr>
          <p:cNvPr id="6149" name="Picture 6" descr="1-1"/>
          <p:cNvPicPr>
            <a:picLocks noChangeAspect="1" noChangeArrowheads="1"/>
          </p:cNvPicPr>
          <p:nvPr/>
        </p:nvPicPr>
        <p:blipFill>
          <a:blip r:embed="rId2"/>
          <a:srcRect/>
          <a:stretch>
            <a:fillRect/>
          </a:stretch>
        </p:blipFill>
        <p:spPr bwMode="auto">
          <a:xfrm>
            <a:off x="2298700" y="1228725"/>
            <a:ext cx="5505450" cy="30797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2AC27AC0-5FC1-43EB-A11D-364F675739D9}" type="slidenum">
              <a:rPr lang="en-US"/>
              <a:pPr>
                <a:defRPr/>
              </a:pPr>
              <a:t>10</a:t>
            </a:fld>
            <a:endParaRPr lang="en-US"/>
          </a:p>
        </p:txBody>
      </p:sp>
      <p:sp>
        <p:nvSpPr>
          <p:cNvPr id="7171" name="Rectangle 2"/>
          <p:cNvSpPr>
            <a:spLocks noGrp="1" noChangeArrowheads="1"/>
          </p:cNvSpPr>
          <p:nvPr>
            <p:ph type="title"/>
          </p:nvPr>
        </p:nvSpPr>
        <p:spPr>
          <a:xfrm>
            <a:off x="628650" y="0"/>
            <a:ext cx="7772400" cy="1143000"/>
          </a:xfrm>
        </p:spPr>
        <p:txBody>
          <a:bodyPr/>
          <a:lstStyle/>
          <a:p>
            <a:pPr eaLnBrk="1" hangingPunct="1"/>
            <a:r>
              <a:rPr lang="en-US"/>
              <a:t>1.2 What is an Operating System</a:t>
            </a:r>
          </a:p>
        </p:txBody>
      </p:sp>
      <p:sp>
        <p:nvSpPr>
          <p:cNvPr id="7172" name="Rectangle 3"/>
          <p:cNvSpPr>
            <a:spLocks noGrp="1" noChangeArrowheads="1"/>
          </p:cNvSpPr>
          <p:nvPr>
            <p:ph type="body" idx="1"/>
          </p:nvPr>
        </p:nvSpPr>
        <p:spPr>
          <a:xfrm>
            <a:off x="685800" y="1981200"/>
            <a:ext cx="8458200" cy="4114800"/>
          </a:xfrm>
        </p:spPr>
        <p:txBody>
          <a:bodyPr/>
          <a:lstStyle/>
          <a:p>
            <a:pPr eaLnBrk="1" hangingPunct="1"/>
            <a:r>
              <a:rPr lang="en-US"/>
              <a:t>It is an extended machine</a:t>
            </a:r>
          </a:p>
          <a:p>
            <a:pPr lvl="1" eaLnBrk="1" hangingPunct="1"/>
            <a:r>
              <a:rPr lang="en-US"/>
              <a:t>Hides the messy details which must be performed</a:t>
            </a:r>
          </a:p>
          <a:p>
            <a:pPr lvl="1" eaLnBrk="1" hangingPunct="1"/>
            <a:r>
              <a:rPr lang="en-US"/>
              <a:t>Presents user with a virtual machine, easier to use</a:t>
            </a:r>
          </a:p>
          <a:p>
            <a:pPr lvl="1" eaLnBrk="1" hangingPunct="1"/>
            <a:endParaRPr lang="en-US"/>
          </a:p>
          <a:p>
            <a:pPr eaLnBrk="1" hangingPunct="1"/>
            <a:r>
              <a:rPr lang="en-US"/>
              <a:t>It is a resource manager</a:t>
            </a:r>
          </a:p>
          <a:p>
            <a:pPr lvl="1" eaLnBrk="1" hangingPunct="1"/>
            <a:r>
              <a:rPr lang="en-US"/>
              <a:t>Each program gets time with the resource</a:t>
            </a:r>
          </a:p>
          <a:p>
            <a:pPr lvl="1" eaLnBrk="1" hangingPunct="1"/>
            <a:r>
              <a:rPr lang="en-US"/>
              <a:t>Each program gets space on the resource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8D6C4F8-3A10-4C9C-9E59-EBA384551219}" type="slidenum">
              <a:rPr lang="en-US"/>
              <a:pPr>
                <a:defRPr/>
              </a:pPr>
              <a:t>11</a:t>
            </a:fld>
            <a:endParaRPr lang="en-US"/>
          </a:p>
        </p:txBody>
      </p:sp>
      <p:sp>
        <p:nvSpPr>
          <p:cNvPr id="8195" name="Rectangle 2"/>
          <p:cNvSpPr>
            <a:spLocks noGrp="1" noChangeArrowheads="1"/>
          </p:cNvSpPr>
          <p:nvPr>
            <p:ph type="title"/>
          </p:nvPr>
        </p:nvSpPr>
        <p:spPr>
          <a:xfrm>
            <a:off x="628650" y="0"/>
            <a:ext cx="7772400" cy="1143000"/>
          </a:xfrm>
        </p:spPr>
        <p:txBody>
          <a:bodyPr/>
          <a:lstStyle/>
          <a:p>
            <a:pPr eaLnBrk="1" hangingPunct="1"/>
            <a:r>
              <a:rPr lang="en-US"/>
              <a:t>1.2 History of Operating Systems (1)</a:t>
            </a:r>
          </a:p>
        </p:txBody>
      </p:sp>
      <p:sp>
        <p:nvSpPr>
          <p:cNvPr id="8196" name="Rectangle 3"/>
          <p:cNvSpPr>
            <a:spLocks noGrp="1" noChangeArrowheads="1"/>
          </p:cNvSpPr>
          <p:nvPr>
            <p:ph type="body" idx="1"/>
          </p:nvPr>
        </p:nvSpPr>
        <p:spPr>
          <a:xfrm>
            <a:off x="698500" y="4483100"/>
            <a:ext cx="7772400" cy="1600200"/>
          </a:xfrm>
        </p:spPr>
        <p:txBody>
          <a:bodyPr/>
          <a:lstStyle/>
          <a:p>
            <a:pPr eaLnBrk="1" hangingPunct="1">
              <a:lnSpc>
                <a:spcPct val="70000"/>
              </a:lnSpc>
              <a:buFontTx/>
              <a:buNone/>
            </a:pPr>
            <a:r>
              <a:rPr lang="en-US"/>
              <a:t>Early batch system</a:t>
            </a:r>
            <a:endParaRPr lang="en-US" sz="2800"/>
          </a:p>
          <a:p>
            <a:pPr lvl="1" eaLnBrk="1" hangingPunct="1">
              <a:lnSpc>
                <a:spcPct val="70000"/>
              </a:lnSpc>
            </a:pPr>
            <a:r>
              <a:rPr lang="en-US"/>
              <a:t>bring cards to 1401</a:t>
            </a:r>
          </a:p>
          <a:p>
            <a:pPr lvl="1" eaLnBrk="1" hangingPunct="1">
              <a:lnSpc>
                <a:spcPct val="70000"/>
              </a:lnSpc>
            </a:pPr>
            <a:r>
              <a:rPr lang="en-US"/>
              <a:t>read cards to tape</a:t>
            </a:r>
          </a:p>
          <a:p>
            <a:pPr lvl="1" eaLnBrk="1" hangingPunct="1">
              <a:lnSpc>
                <a:spcPct val="70000"/>
              </a:lnSpc>
            </a:pPr>
            <a:r>
              <a:rPr lang="en-US"/>
              <a:t>put tape on 7094 which does computing</a:t>
            </a:r>
          </a:p>
          <a:p>
            <a:pPr lvl="1" eaLnBrk="1" hangingPunct="1">
              <a:lnSpc>
                <a:spcPct val="70000"/>
              </a:lnSpc>
            </a:pPr>
            <a:r>
              <a:rPr lang="en-US"/>
              <a:t>put tape on 1401 which prints output</a:t>
            </a:r>
            <a:endParaRPr lang="en-US" sz="2400"/>
          </a:p>
          <a:p>
            <a:pPr lvl="1" eaLnBrk="1" hangingPunct="1">
              <a:lnSpc>
                <a:spcPct val="90000"/>
              </a:lnSpc>
            </a:pPr>
            <a:endParaRPr lang="en-US" sz="2400"/>
          </a:p>
          <a:p>
            <a:pPr lvl="1" eaLnBrk="1" hangingPunct="1">
              <a:lnSpc>
                <a:spcPct val="90000"/>
              </a:lnSpc>
            </a:pPr>
            <a:endParaRPr lang="en-US" sz="2400"/>
          </a:p>
        </p:txBody>
      </p:sp>
      <p:pic>
        <p:nvPicPr>
          <p:cNvPr id="8197" name="Picture 5"/>
          <p:cNvPicPr>
            <a:picLocks noChangeAspect="1" noChangeArrowheads="1"/>
          </p:cNvPicPr>
          <p:nvPr/>
        </p:nvPicPr>
        <p:blipFill>
          <a:blip r:embed="rId2"/>
          <a:srcRect/>
          <a:stretch>
            <a:fillRect/>
          </a:stretch>
        </p:blipFill>
        <p:spPr bwMode="auto">
          <a:xfrm>
            <a:off x="238125" y="1371600"/>
            <a:ext cx="8905875" cy="28575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B59AAB9A-10A8-4E70-9A63-A0B973C6F632}" type="slidenum">
              <a:rPr lang="en-US"/>
              <a:pPr>
                <a:defRPr/>
              </a:pPr>
              <a:t>12</a:t>
            </a:fld>
            <a:endParaRPr lang="en-US"/>
          </a:p>
        </p:txBody>
      </p:sp>
      <p:sp>
        <p:nvSpPr>
          <p:cNvPr id="9219" name="Rectangle 2"/>
          <p:cNvSpPr>
            <a:spLocks noGrp="1" noChangeArrowheads="1"/>
          </p:cNvSpPr>
          <p:nvPr>
            <p:ph type="title"/>
          </p:nvPr>
        </p:nvSpPr>
        <p:spPr>
          <a:xfrm>
            <a:off x="657225" y="0"/>
            <a:ext cx="7772400" cy="1143000"/>
          </a:xfrm>
        </p:spPr>
        <p:txBody>
          <a:bodyPr/>
          <a:lstStyle/>
          <a:p>
            <a:pPr eaLnBrk="1" hangingPunct="1"/>
            <a:r>
              <a:rPr lang="en-US"/>
              <a:t>History of Operating Systems (2)</a:t>
            </a:r>
          </a:p>
        </p:txBody>
      </p:sp>
      <p:sp>
        <p:nvSpPr>
          <p:cNvPr id="9220" name="Rectangle 3"/>
          <p:cNvSpPr>
            <a:spLocks noGrp="1" noChangeArrowheads="1"/>
          </p:cNvSpPr>
          <p:nvPr>
            <p:ph type="body" idx="1"/>
          </p:nvPr>
        </p:nvSpPr>
        <p:spPr/>
        <p:txBody>
          <a:bodyPr/>
          <a:lstStyle/>
          <a:p>
            <a:pPr eaLnBrk="1" hangingPunct="1">
              <a:lnSpc>
                <a:spcPct val="90000"/>
              </a:lnSpc>
            </a:pPr>
            <a:r>
              <a:rPr lang="en-US"/>
              <a:t>First generation 1945 - 1955</a:t>
            </a:r>
          </a:p>
          <a:p>
            <a:pPr lvl="1" eaLnBrk="1" hangingPunct="1">
              <a:lnSpc>
                <a:spcPct val="90000"/>
              </a:lnSpc>
            </a:pPr>
            <a:r>
              <a:rPr lang="en-US"/>
              <a:t>vacuum tubes, plug boards</a:t>
            </a:r>
          </a:p>
          <a:p>
            <a:pPr eaLnBrk="1" hangingPunct="1">
              <a:lnSpc>
                <a:spcPct val="90000"/>
              </a:lnSpc>
            </a:pPr>
            <a:r>
              <a:rPr lang="en-US"/>
              <a:t>Second generation 1955 - 1965</a:t>
            </a:r>
          </a:p>
          <a:p>
            <a:pPr lvl="1" eaLnBrk="1" hangingPunct="1">
              <a:lnSpc>
                <a:spcPct val="90000"/>
              </a:lnSpc>
            </a:pPr>
            <a:r>
              <a:rPr lang="en-US"/>
              <a:t>transistors, batch systems</a:t>
            </a:r>
          </a:p>
          <a:p>
            <a:pPr eaLnBrk="1" hangingPunct="1">
              <a:lnSpc>
                <a:spcPct val="90000"/>
              </a:lnSpc>
            </a:pPr>
            <a:r>
              <a:rPr lang="en-US"/>
              <a:t>Third generation  1965 – 1980</a:t>
            </a:r>
          </a:p>
          <a:p>
            <a:pPr lvl="1" eaLnBrk="1" hangingPunct="1">
              <a:lnSpc>
                <a:spcPct val="90000"/>
              </a:lnSpc>
            </a:pPr>
            <a:r>
              <a:rPr lang="en-US"/>
              <a:t>ICs and multiprogramming</a:t>
            </a:r>
          </a:p>
          <a:p>
            <a:pPr eaLnBrk="1" hangingPunct="1">
              <a:lnSpc>
                <a:spcPct val="90000"/>
              </a:lnSpc>
            </a:pPr>
            <a:r>
              <a:rPr lang="en-US"/>
              <a:t>Fourth generation 1980 – present</a:t>
            </a:r>
          </a:p>
          <a:p>
            <a:pPr lvl="1" eaLnBrk="1" hangingPunct="1">
              <a:lnSpc>
                <a:spcPct val="90000"/>
              </a:lnSpc>
            </a:pPr>
            <a:r>
              <a:rPr lang="en-US"/>
              <a:t>personal computers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CEEE85C7-6767-4CB1-8163-FD4864ED49CA}" type="slidenum">
              <a:rPr lang="en-US"/>
              <a:pPr>
                <a:defRPr/>
              </a:pPr>
              <a:t>13</a:t>
            </a:fld>
            <a:endParaRPr lang="en-US"/>
          </a:p>
        </p:txBody>
      </p:sp>
      <p:sp>
        <p:nvSpPr>
          <p:cNvPr id="10243" name="Rectangle 2"/>
          <p:cNvSpPr>
            <a:spLocks noGrp="1" noChangeArrowheads="1"/>
          </p:cNvSpPr>
          <p:nvPr>
            <p:ph type="title"/>
          </p:nvPr>
        </p:nvSpPr>
        <p:spPr>
          <a:xfrm>
            <a:off x="571500" y="0"/>
            <a:ext cx="7772400" cy="1143000"/>
          </a:xfrm>
        </p:spPr>
        <p:txBody>
          <a:bodyPr/>
          <a:lstStyle/>
          <a:p>
            <a:pPr eaLnBrk="1" hangingPunct="1"/>
            <a:r>
              <a:rPr lang="en-US"/>
              <a:t>History of Operating Systems (4)</a:t>
            </a:r>
          </a:p>
        </p:txBody>
      </p:sp>
      <p:sp>
        <p:nvSpPr>
          <p:cNvPr id="10244" name="Rectangle 3"/>
          <p:cNvSpPr>
            <a:spLocks noGrp="1" noChangeArrowheads="1"/>
          </p:cNvSpPr>
          <p:nvPr>
            <p:ph type="body" idx="1"/>
          </p:nvPr>
        </p:nvSpPr>
        <p:spPr>
          <a:xfrm>
            <a:off x="1371600" y="5486400"/>
            <a:ext cx="7772400" cy="685800"/>
          </a:xfrm>
        </p:spPr>
        <p:txBody>
          <a:bodyPr/>
          <a:lstStyle/>
          <a:p>
            <a:pPr eaLnBrk="1" hangingPunct="1">
              <a:lnSpc>
                <a:spcPct val="90000"/>
              </a:lnSpc>
            </a:pPr>
            <a:r>
              <a:rPr lang="en-US"/>
              <a:t>Multiprogramming system</a:t>
            </a:r>
            <a:r>
              <a:rPr lang="en-US" sz="2800"/>
              <a:t> </a:t>
            </a:r>
          </a:p>
          <a:p>
            <a:pPr lvl="1" eaLnBrk="1" hangingPunct="1">
              <a:lnSpc>
                <a:spcPct val="90000"/>
              </a:lnSpc>
            </a:pPr>
            <a:r>
              <a:rPr lang="en-US"/>
              <a:t>three jobs in memory – 3</a:t>
            </a:r>
            <a:r>
              <a:rPr lang="en-US" baseline="30000"/>
              <a:t>rd</a:t>
            </a:r>
            <a:r>
              <a:rPr lang="en-US"/>
              <a:t> generation</a:t>
            </a:r>
            <a:endParaRPr lang="en-US" sz="2400"/>
          </a:p>
        </p:txBody>
      </p:sp>
      <p:pic>
        <p:nvPicPr>
          <p:cNvPr id="10245" name="Picture 5" descr="1-4"/>
          <p:cNvPicPr>
            <a:picLocks noChangeAspect="1" noChangeArrowheads="1"/>
          </p:cNvPicPr>
          <p:nvPr/>
        </p:nvPicPr>
        <p:blipFill>
          <a:blip r:embed="rId2"/>
          <a:srcRect/>
          <a:stretch>
            <a:fillRect/>
          </a:stretch>
        </p:blipFill>
        <p:spPr bwMode="auto">
          <a:xfrm>
            <a:off x="2476500" y="1455738"/>
            <a:ext cx="4394200" cy="3251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normAutofit fontScale="92500"/>
          </a:bodyPr>
          <a:lstStyle/>
          <a:p>
            <a:pPr marL="365760" indent="-256032" eaLnBrk="1" fontAlgn="auto" hangingPunct="1">
              <a:spcAft>
                <a:spcPts val="0"/>
              </a:spcAft>
              <a:buFont typeface="Monotype Sorts" pitchFamily="2" charset="2"/>
              <a:buNone/>
              <a:defRPr/>
            </a:pPr>
            <a:r>
              <a:rPr lang="en-US"/>
              <a:t>1.	Hardware – provides basic computing resources (CPU, memory, I/O devices).</a:t>
            </a:r>
          </a:p>
          <a:p>
            <a:pPr marL="365760" indent="-256032" eaLnBrk="1" fontAlgn="auto" hangingPunct="1">
              <a:spcAft>
                <a:spcPts val="0"/>
              </a:spcAft>
              <a:buFont typeface="Monotype Sorts" pitchFamily="2" charset="2"/>
              <a:buNone/>
              <a:defRPr/>
            </a:pPr>
            <a:r>
              <a:rPr lang="en-US"/>
              <a:t>2.	Operating system – controls and coordinates the use of the hardware among the various application programs for the various users.</a:t>
            </a:r>
          </a:p>
          <a:p>
            <a:pPr marL="365760" indent="-256032" eaLnBrk="1" fontAlgn="auto" hangingPunct="1">
              <a:spcAft>
                <a:spcPts val="0"/>
              </a:spcAft>
              <a:buFont typeface="Monotype Sorts" pitchFamily="2" charset="2"/>
              <a:buNone/>
              <a:defRPr/>
            </a:pPr>
            <a:r>
              <a:rPr lang="en-US"/>
              <a:t>3.	Applications programs – define the ways in which the system resources are used to solve the computing problems of the users (compilers, database systems, video games, business programs).</a:t>
            </a:r>
          </a:p>
          <a:p>
            <a:pPr marL="365760" indent="-256032" eaLnBrk="1" fontAlgn="auto" hangingPunct="1">
              <a:spcAft>
                <a:spcPts val="0"/>
              </a:spcAft>
              <a:buFont typeface="Monotype Sorts" pitchFamily="2" charset="2"/>
              <a:buNone/>
              <a:defRPr/>
            </a:pPr>
            <a:r>
              <a:rPr lang="en-US"/>
              <a:t>4.	Users (people, machines, other computers). </a:t>
            </a:r>
          </a:p>
        </p:txBody>
      </p:sp>
      <p:sp>
        <p:nvSpPr>
          <p:cNvPr id="11267"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1268" name="Rectangle 2"/>
          <p:cNvSpPr>
            <a:spLocks noGrp="1" noChangeArrowheads="1"/>
          </p:cNvSpPr>
          <p:nvPr>
            <p:ph type="title"/>
          </p:nvPr>
        </p:nvSpPr>
        <p:spPr/>
        <p:txBody>
          <a:bodyPr/>
          <a:lstStyle/>
          <a:p>
            <a:pPr eaLnBrk="1" hangingPunct="1"/>
            <a:r>
              <a:rPr lang="en-US"/>
              <a:t>Computer System Components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055" name="Rectangle 7"/>
          <p:cNvSpPr>
            <a:spLocks noGrp="1" noChangeArrowheads="1"/>
          </p:cNvSpPr>
          <p:nvPr>
            <p:ph type="title"/>
          </p:nvPr>
        </p:nvSpPr>
        <p:spPr/>
        <p:txBody>
          <a:bodyPr>
            <a:normAutofit/>
          </a:bodyPr>
          <a:lstStyle/>
          <a:p>
            <a:pPr eaLnBrk="1" fontAlgn="auto" hangingPunct="1">
              <a:spcAft>
                <a:spcPts val="0"/>
              </a:spcAft>
              <a:defRPr/>
            </a:pPr>
            <a:r>
              <a:rPr lang="en-US">
                <a:latin typeface="Arial" charset="0"/>
              </a:rPr>
              <a:t>Abstract View of System Components</a:t>
            </a:r>
            <a:endParaRPr lang="en-US"/>
          </a:p>
        </p:txBody>
      </p:sp>
      <p:pic>
        <p:nvPicPr>
          <p:cNvPr id="12292" name="Picture 20"/>
          <p:cNvPicPr>
            <a:picLocks noChangeAspect="1" noChangeArrowheads="1"/>
          </p:cNvPicPr>
          <p:nvPr/>
        </p:nvPicPr>
        <p:blipFill>
          <a:blip r:embed="rId2"/>
          <a:srcRect l="6995" t="7478" r="7574" b="5096"/>
          <a:stretch>
            <a:fillRect/>
          </a:stretch>
        </p:blipFill>
        <p:spPr bwMode="auto">
          <a:xfrm>
            <a:off x="1593850" y="1244600"/>
            <a:ext cx="6076950" cy="4975225"/>
          </a:xfrm>
          <a:prstGeom prst="rect">
            <a:avLst/>
          </a:prstGeom>
          <a:noFill/>
          <a:ln w="57150" cmpd="thickThin">
            <a:solidFill>
              <a:schemeClr val="tx1"/>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1"/>
          </p:nvPr>
        </p:nvSpPr>
        <p:spPr>
          <a:xfrm>
            <a:off x="1085850" y="2124075"/>
            <a:ext cx="7029450" cy="4114800"/>
          </a:xfrm>
        </p:spPr>
        <p:txBody>
          <a:bodyPr/>
          <a:lstStyle/>
          <a:p>
            <a:pPr eaLnBrk="1" hangingPunct="1"/>
            <a:r>
              <a:rPr lang="en-US"/>
              <a:t>Resource allocator – manages and allocates resources.</a:t>
            </a:r>
          </a:p>
          <a:p>
            <a:pPr eaLnBrk="1" hangingPunct="1"/>
            <a:r>
              <a:rPr lang="en-US"/>
              <a:t>Control program – controls the execution of user programs and operations of I/O devices .</a:t>
            </a:r>
          </a:p>
          <a:p>
            <a:pPr eaLnBrk="1" hangingPunct="1"/>
            <a:r>
              <a:rPr lang="en-US"/>
              <a:t>Kernel – the one program running at all times (all else being application programs).</a:t>
            </a:r>
          </a:p>
        </p:txBody>
      </p:sp>
      <p:sp>
        <p:nvSpPr>
          <p:cNvPr id="13315"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3316" name="Rectangle 2"/>
          <p:cNvSpPr>
            <a:spLocks noGrp="1" noChangeArrowheads="1"/>
          </p:cNvSpPr>
          <p:nvPr>
            <p:ph type="title"/>
          </p:nvPr>
        </p:nvSpPr>
        <p:spPr/>
        <p:txBody>
          <a:bodyPr/>
          <a:lstStyle/>
          <a:p>
            <a:pPr eaLnBrk="1" hangingPunct="1"/>
            <a:r>
              <a:rPr lang="en-US"/>
              <a:t>Operating System Definitions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42844" y="352425"/>
            <a:ext cx="6572296" cy="790575"/>
          </a:xfrm>
        </p:spPr>
        <p:txBody>
          <a:bodyPr/>
          <a:lstStyle/>
          <a:p>
            <a:r>
              <a:rPr lang="en-US" sz="3600" b="0" dirty="0">
                <a:solidFill>
                  <a:schemeClr val="tx1"/>
                </a:solidFill>
              </a:rPr>
              <a:t>Functions of an operating System</a:t>
            </a:r>
          </a:p>
        </p:txBody>
      </p:sp>
      <p:sp>
        <p:nvSpPr>
          <p:cNvPr id="14339" name="Content Placeholder 2"/>
          <p:cNvSpPr>
            <a:spLocks noGrp="1"/>
          </p:cNvSpPr>
          <p:nvPr>
            <p:ph idx="1"/>
          </p:nvPr>
        </p:nvSpPr>
        <p:spPr>
          <a:xfrm>
            <a:off x="190500" y="1168400"/>
            <a:ext cx="3875088" cy="4927600"/>
          </a:xfrm>
        </p:spPr>
        <p:txBody>
          <a:bodyPr/>
          <a:lstStyle/>
          <a:p>
            <a:r>
              <a:rPr lang="en-US" sz="1800" dirty="0"/>
              <a:t>Memory Management</a:t>
            </a:r>
          </a:p>
          <a:p>
            <a:r>
              <a:rPr lang="en-US" sz="1800" dirty="0"/>
              <a:t>Processor Management</a:t>
            </a:r>
          </a:p>
          <a:p>
            <a:r>
              <a:rPr lang="en-US" sz="1800" dirty="0"/>
              <a:t>Device Management</a:t>
            </a:r>
          </a:p>
          <a:p>
            <a:r>
              <a:rPr lang="en-US" sz="1800" dirty="0"/>
              <a:t>File Management</a:t>
            </a:r>
          </a:p>
          <a:p>
            <a:r>
              <a:rPr lang="en-US" sz="1800" dirty="0"/>
              <a:t>Security</a:t>
            </a:r>
          </a:p>
          <a:p>
            <a:r>
              <a:rPr lang="en-US" sz="1800" dirty="0"/>
              <a:t>Control over system performance</a:t>
            </a:r>
          </a:p>
          <a:p>
            <a:r>
              <a:rPr lang="en-US" sz="1800" dirty="0"/>
              <a:t>Job accounting</a:t>
            </a:r>
          </a:p>
          <a:p>
            <a:r>
              <a:rPr lang="en-US" sz="1800" dirty="0"/>
              <a:t>Error detecting aids</a:t>
            </a:r>
          </a:p>
          <a:p>
            <a:r>
              <a:rPr lang="en-US" sz="1800" dirty="0"/>
              <a:t>Coordination between other software and us</a:t>
            </a:r>
            <a:r>
              <a:rPr lang="en-US" sz="2400" dirty="0"/>
              <a:t>ers</a:t>
            </a:r>
          </a:p>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3B951469-6ECE-4715-A178-A12B8BDDEFD6}" type="slidenum">
              <a:rPr lang="en-US" smtClean="0"/>
              <a:pPr>
                <a:defRPr/>
              </a:pPr>
              <a:t>17</a:t>
            </a:fld>
            <a:endParaRPr lang="en-US"/>
          </a:p>
        </p:txBody>
      </p:sp>
      <p:pic>
        <p:nvPicPr>
          <p:cNvPr id="14341" name="Picture 2" descr="Functions of Operating System"/>
          <p:cNvPicPr>
            <a:picLocks noChangeAspect="1" noChangeArrowheads="1"/>
          </p:cNvPicPr>
          <p:nvPr/>
        </p:nvPicPr>
        <p:blipFill>
          <a:blip r:embed="rId2"/>
          <a:srcRect/>
          <a:stretch>
            <a:fillRect/>
          </a:stretch>
        </p:blipFill>
        <p:spPr bwMode="auto">
          <a:xfrm>
            <a:off x="3600450" y="1330325"/>
            <a:ext cx="5353050" cy="4237038"/>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A4542A33-C99F-45F6-87D1-FB12FF64BB14}" type="slidenum">
              <a:rPr lang="en-US" smtClean="0"/>
              <a:pPr>
                <a:defRPr/>
              </a:pPr>
              <a:t>18</a:t>
            </a:fld>
            <a:endParaRPr lang="en-US"/>
          </a:p>
        </p:txBody>
      </p:sp>
      <p:pic>
        <p:nvPicPr>
          <p:cNvPr id="15364" name="Picture 2" descr="Market Share of Operating Systems"/>
          <p:cNvPicPr>
            <a:picLocks noChangeAspect="1" noChangeArrowheads="1"/>
          </p:cNvPicPr>
          <p:nvPr/>
        </p:nvPicPr>
        <p:blipFill>
          <a:blip r:embed="rId2"/>
          <a:srcRect/>
          <a:stretch>
            <a:fillRect/>
          </a:stretch>
        </p:blipFill>
        <p:spPr bwMode="auto">
          <a:xfrm>
            <a:off x="1023938" y="1158875"/>
            <a:ext cx="6834187" cy="49244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DF6CBAEE-8999-4020-877D-3B0251BC2001}" type="slidenum">
              <a:rPr lang="en-US"/>
              <a:pPr>
                <a:defRPr/>
              </a:pPr>
              <a:t>19</a:t>
            </a:fld>
            <a:endParaRPr lang="en-US"/>
          </a:p>
        </p:txBody>
      </p:sp>
      <p:sp>
        <p:nvSpPr>
          <p:cNvPr id="16387" name="Rectangle 2"/>
          <p:cNvSpPr>
            <a:spLocks noGrp="1" noChangeArrowheads="1"/>
          </p:cNvSpPr>
          <p:nvPr>
            <p:ph type="title"/>
          </p:nvPr>
        </p:nvSpPr>
        <p:spPr>
          <a:xfrm>
            <a:off x="600075" y="0"/>
            <a:ext cx="7772400" cy="1143000"/>
          </a:xfrm>
        </p:spPr>
        <p:txBody>
          <a:bodyPr/>
          <a:lstStyle/>
          <a:p>
            <a:pPr eaLnBrk="1" hangingPunct="1"/>
            <a:r>
              <a:rPr lang="en-US"/>
              <a:t>The Operating System Types</a:t>
            </a:r>
          </a:p>
        </p:txBody>
      </p:sp>
      <p:sp>
        <p:nvSpPr>
          <p:cNvPr id="16388" name="Rectangle 3"/>
          <p:cNvSpPr>
            <a:spLocks noGrp="1" noChangeArrowheads="1"/>
          </p:cNvSpPr>
          <p:nvPr>
            <p:ph type="body" idx="1"/>
          </p:nvPr>
        </p:nvSpPr>
        <p:spPr>
          <a:xfrm>
            <a:off x="685800" y="1352550"/>
            <a:ext cx="7772400" cy="4743450"/>
          </a:xfrm>
        </p:spPr>
        <p:txBody>
          <a:bodyPr/>
          <a:lstStyle/>
          <a:p>
            <a:pPr eaLnBrk="1" hangingPunct="1"/>
            <a:r>
              <a:rPr lang="en-US"/>
              <a:t>Mainframe operating systems</a:t>
            </a:r>
          </a:p>
          <a:p>
            <a:pPr eaLnBrk="1" hangingPunct="1"/>
            <a:r>
              <a:rPr lang="en-US"/>
              <a:t>Multiprocessor operating systems</a:t>
            </a:r>
          </a:p>
          <a:p>
            <a:pPr eaLnBrk="1" hangingPunct="1"/>
            <a:r>
              <a:rPr lang="en-IN"/>
              <a:t>Distributed Systems</a:t>
            </a:r>
            <a:endParaRPr lang="en-US"/>
          </a:p>
          <a:p>
            <a:pPr eaLnBrk="1" hangingPunct="1"/>
            <a:r>
              <a:rPr lang="en-US"/>
              <a:t>Personal computer operating systems</a:t>
            </a:r>
          </a:p>
          <a:p>
            <a:pPr eaLnBrk="1" hangingPunct="1"/>
            <a:r>
              <a:rPr lang="en-US"/>
              <a:t>Real-time operating systems</a:t>
            </a:r>
          </a:p>
          <a:p>
            <a:pPr eaLnBrk="1" hangingPunct="1"/>
            <a:r>
              <a:rPr lang="en-US"/>
              <a:t>Embedded operating systems</a:t>
            </a:r>
          </a:p>
          <a:p>
            <a:pPr eaLnBrk="1" hangingPunct="1"/>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117600" y="1270000"/>
            <a:ext cx="7029450" cy="4114800"/>
          </a:xfrm>
        </p:spPr>
        <p:txBody>
          <a:bodyPr>
            <a:normAutofit fontScale="92500" lnSpcReduction="10000"/>
          </a:bodyPr>
          <a:lstStyle/>
          <a:p>
            <a:pPr marL="365760" indent="-256032" eaLnBrk="1" fontAlgn="auto" hangingPunct="1">
              <a:spcAft>
                <a:spcPts val="0"/>
              </a:spcAft>
              <a:buFont typeface="Wingdings 3"/>
              <a:buChar char=""/>
              <a:defRPr/>
            </a:pPr>
            <a:r>
              <a:rPr lang="en-US">
                <a:sym typeface="Symbol" pitchFamily="18" charset="2"/>
              </a:rPr>
              <a:t>Reduce setup time by batching similar jobs</a:t>
            </a:r>
          </a:p>
          <a:p>
            <a:pPr marL="365760" indent="-256032" eaLnBrk="1" fontAlgn="auto" hangingPunct="1">
              <a:spcAft>
                <a:spcPts val="0"/>
              </a:spcAft>
              <a:buFont typeface="Wingdings 3"/>
              <a:buChar char=""/>
              <a:defRPr/>
            </a:pPr>
            <a:r>
              <a:rPr lang="en-US">
                <a:sym typeface="Symbol" pitchFamily="18" charset="2"/>
              </a:rPr>
              <a:t>Automatic job sequencing – automatically transfers control from one job to another.  First rudimentary operating system.</a:t>
            </a:r>
          </a:p>
          <a:p>
            <a:pPr marL="365760" indent="-256032" eaLnBrk="1" fontAlgn="auto" hangingPunct="1">
              <a:spcAft>
                <a:spcPts val="0"/>
              </a:spcAft>
              <a:buFont typeface="Wingdings 3"/>
              <a:buChar char=""/>
              <a:defRPr/>
            </a:pPr>
            <a:r>
              <a:rPr lang="en-US">
                <a:sym typeface="Symbol" pitchFamily="18" charset="2"/>
              </a:rPr>
              <a:t>Resident monitor</a:t>
            </a:r>
          </a:p>
          <a:p>
            <a:pPr marL="621792" lvl="1" eaLnBrk="1" fontAlgn="auto" hangingPunct="1">
              <a:spcBef>
                <a:spcPts val="324"/>
              </a:spcBef>
              <a:spcAft>
                <a:spcPts val="0"/>
              </a:spcAft>
              <a:buFont typeface="Verdana"/>
              <a:buChar char="◦"/>
              <a:defRPr/>
            </a:pPr>
            <a:r>
              <a:rPr lang="en-US"/>
              <a:t>initial control in monitor </a:t>
            </a:r>
          </a:p>
          <a:p>
            <a:pPr marL="621792" lvl="1" eaLnBrk="1" fontAlgn="auto" hangingPunct="1">
              <a:spcBef>
                <a:spcPts val="324"/>
              </a:spcBef>
              <a:spcAft>
                <a:spcPts val="0"/>
              </a:spcAft>
              <a:buFont typeface="Verdana"/>
              <a:buChar char="◦"/>
              <a:defRPr/>
            </a:pPr>
            <a:r>
              <a:rPr lang="en-US"/>
              <a:t>control transfers to job </a:t>
            </a:r>
          </a:p>
          <a:p>
            <a:pPr marL="621792" lvl="1" eaLnBrk="1" fontAlgn="auto" hangingPunct="1">
              <a:spcBef>
                <a:spcPts val="324"/>
              </a:spcBef>
              <a:spcAft>
                <a:spcPts val="0"/>
              </a:spcAft>
              <a:buFont typeface="Verdana"/>
              <a:buChar char="◦"/>
              <a:defRPr/>
            </a:pPr>
            <a:r>
              <a:rPr lang="en-US"/>
              <a:t>when job completes control transfers pack to monitor</a:t>
            </a:r>
          </a:p>
        </p:txBody>
      </p:sp>
      <p:sp>
        <p:nvSpPr>
          <p:cNvPr id="1741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7412" name="Rectangle 2"/>
          <p:cNvSpPr>
            <a:spLocks noGrp="1" noChangeArrowheads="1"/>
          </p:cNvSpPr>
          <p:nvPr>
            <p:ph type="title"/>
          </p:nvPr>
        </p:nvSpPr>
        <p:spPr/>
        <p:txBody>
          <a:bodyPr/>
          <a:lstStyle/>
          <a:p>
            <a:pPr eaLnBrk="1" hangingPunct="1"/>
            <a:r>
              <a:rPr lang="en-US"/>
              <a:t>1.4 Types of OS :Mainframe Systems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6626" name="Rectangle 1026"/>
          <p:cNvSpPr>
            <a:spLocks noGrp="1" noChangeArrowheads="1"/>
          </p:cNvSpPr>
          <p:nvPr>
            <p:ph type="title"/>
          </p:nvPr>
        </p:nvSpPr>
        <p:spPr>
          <a:xfrm>
            <a:off x="1119188" y="452438"/>
            <a:ext cx="8486775" cy="457200"/>
          </a:xfrm>
        </p:spPr>
        <p:txBody>
          <a:bodyPr>
            <a:normAutofit fontScale="90000"/>
          </a:bodyPr>
          <a:lstStyle/>
          <a:p>
            <a:pPr eaLnBrk="1" fontAlgn="auto" hangingPunct="1">
              <a:spcAft>
                <a:spcPts val="0"/>
              </a:spcAft>
              <a:defRPr/>
            </a:pPr>
            <a:r>
              <a:rPr lang="en-US" sz="2800" dirty="0"/>
              <a:t> </a:t>
            </a:r>
            <a:r>
              <a:rPr lang="en-US" sz="3600" dirty="0"/>
              <a:t>1.4 Types of OS : Simple Batch System</a:t>
            </a:r>
          </a:p>
        </p:txBody>
      </p:sp>
      <p:pic>
        <p:nvPicPr>
          <p:cNvPr id="18436" name="Picture 1031"/>
          <p:cNvPicPr>
            <a:picLocks noChangeAspect="1" noChangeArrowheads="1"/>
          </p:cNvPicPr>
          <p:nvPr/>
        </p:nvPicPr>
        <p:blipFill>
          <a:blip r:embed="rId2"/>
          <a:srcRect l="28365" t="1007" r="28203" b="806"/>
          <a:stretch>
            <a:fillRect/>
          </a:stretch>
        </p:blipFill>
        <p:spPr bwMode="auto">
          <a:xfrm>
            <a:off x="531813" y="1122363"/>
            <a:ext cx="2566987" cy="4641850"/>
          </a:xfrm>
          <a:prstGeom prst="rect">
            <a:avLst/>
          </a:prstGeom>
          <a:noFill/>
          <a:ln w="57150" cmpd="thickThin">
            <a:solidFill>
              <a:schemeClr val="tx1"/>
            </a:solidFill>
            <a:miter lim="800000"/>
            <a:headEnd/>
            <a:tailEnd/>
          </a:ln>
        </p:spPr>
      </p:pic>
      <p:sp>
        <p:nvSpPr>
          <p:cNvPr id="5" name="Rectangle 4"/>
          <p:cNvSpPr/>
          <p:nvPr/>
        </p:nvSpPr>
        <p:spPr>
          <a:xfrm>
            <a:off x="4589463" y="1728788"/>
            <a:ext cx="4056062" cy="2062162"/>
          </a:xfrm>
          <a:prstGeom prst="rect">
            <a:avLst/>
          </a:prstGeom>
        </p:spPr>
        <p:txBody>
          <a:bodyPr>
            <a:spAutoFit/>
          </a:bodyPr>
          <a:lstStyle/>
          <a:p>
            <a:pPr>
              <a:defRPr/>
            </a:pPr>
            <a:r>
              <a:rPr lang="en-US" sz="1600" dirty="0">
                <a:latin typeface="+mn-lt"/>
              </a:rPr>
              <a:t>The problems with Batch Systems are as follows −</a:t>
            </a:r>
          </a:p>
          <a:p>
            <a:pPr>
              <a:buFont typeface="Arial" pitchFamily="34" charset="0"/>
              <a:buChar char="•"/>
              <a:defRPr/>
            </a:pPr>
            <a:r>
              <a:rPr lang="en-US" sz="1600" dirty="0">
                <a:latin typeface="+mn-lt"/>
              </a:rPr>
              <a:t>Lack of interaction between the user and the job.</a:t>
            </a:r>
          </a:p>
          <a:p>
            <a:pPr>
              <a:buFont typeface="Arial" pitchFamily="34" charset="0"/>
              <a:buChar char="•"/>
              <a:defRPr/>
            </a:pPr>
            <a:r>
              <a:rPr lang="en-US" sz="1600" dirty="0">
                <a:latin typeface="+mn-lt"/>
              </a:rPr>
              <a:t>CPU is often idle, because the speed of the mechanical I/O devices is slower than the CPU.</a:t>
            </a:r>
          </a:p>
          <a:p>
            <a:pPr>
              <a:buFont typeface="Arial" pitchFamily="34" charset="0"/>
              <a:buChar char="•"/>
              <a:defRPr/>
            </a:pPr>
            <a:r>
              <a:rPr lang="en-US" sz="1600" dirty="0">
                <a:latin typeface="+mn-lt"/>
              </a:rPr>
              <a:t>Difficult to provide the desired priority.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 name="Rectangle 2"/>
          <p:cNvSpPr>
            <a:spLocks noGrp="1" noChangeArrowheads="1"/>
          </p:cNvSpPr>
          <p:nvPr>
            <p:ph type="title"/>
          </p:nvPr>
        </p:nvSpPr>
        <p:spPr/>
        <p:txBody>
          <a:bodyPr>
            <a:normAutofit/>
          </a:bodyPr>
          <a:lstStyle/>
          <a:p>
            <a:pPr eaLnBrk="1" fontAlgn="auto" hangingPunct="1">
              <a:spcAft>
                <a:spcPts val="0"/>
              </a:spcAft>
              <a:defRPr/>
            </a:pPr>
            <a:r>
              <a:rPr lang="en-US" dirty="0"/>
              <a:t>1.4 Types of OS : </a:t>
            </a:r>
            <a:r>
              <a:rPr lang="en-US" dirty="0" err="1"/>
              <a:t>Multiprogrammed</a:t>
            </a:r>
            <a:r>
              <a:rPr lang="en-US" dirty="0"/>
              <a:t> Batch Systems</a:t>
            </a:r>
          </a:p>
        </p:txBody>
      </p:sp>
      <p:sp>
        <p:nvSpPr>
          <p:cNvPr id="19460" name="Text Box 5"/>
          <p:cNvSpPr txBox="1">
            <a:spLocks noChangeArrowheads="1"/>
          </p:cNvSpPr>
          <p:nvPr/>
        </p:nvSpPr>
        <p:spPr bwMode="auto">
          <a:xfrm>
            <a:off x="898525" y="1393825"/>
            <a:ext cx="7454900" cy="641350"/>
          </a:xfrm>
          <a:prstGeom prst="rect">
            <a:avLst/>
          </a:prstGeom>
          <a:noFill/>
          <a:ln w="9525">
            <a:noFill/>
            <a:miter lim="800000"/>
            <a:headEnd/>
            <a:tailEnd/>
          </a:ln>
        </p:spPr>
        <p:txBody>
          <a:bodyPr anchor="ctr">
            <a:spAutoFit/>
          </a:bodyPr>
          <a:lstStyle/>
          <a:p>
            <a:r>
              <a:rPr lang="en-US"/>
              <a:t>Several jobs are kept in main memory at the same time, and the </a:t>
            </a:r>
          </a:p>
          <a:p>
            <a:r>
              <a:rPr lang="en-US"/>
              <a:t>CPU is multiplexed among them. </a:t>
            </a:r>
          </a:p>
        </p:txBody>
      </p:sp>
      <p:pic>
        <p:nvPicPr>
          <p:cNvPr id="19461" name="Picture 10"/>
          <p:cNvPicPr>
            <a:picLocks noChangeAspect="1" noChangeArrowheads="1"/>
          </p:cNvPicPr>
          <p:nvPr/>
        </p:nvPicPr>
        <p:blipFill>
          <a:blip r:embed="rId2"/>
          <a:srcRect l="25421" t="934" r="25233" b="934"/>
          <a:stretch>
            <a:fillRect/>
          </a:stretch>
        </p:blipFill>
        <p:spPr bwMode="auto">
          <a:xfrm>
            <a:off x="3198813" y="2257425"/>
            <a:ext cx="2514600" cy="4000500"/>
          </a:xfrm>
          <a:prstGeom prst="rect">
            <a:avLst/>
          </a:prstGeom>
          <a:noFill/>
          <a:ln w="57150" cmpd="thickThin">
            <a:solidFill>
              <a:schemeClr val="tx1"/>
            </a:solid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1169988" y="1366838"/>
            <a:ext cx="7029450" cy="4114800"/>
          </a:xfrm>
        </p:spPr>
        <p:txBody>
          <a:bodyPr/>
          <a:lstStyle/>
          <a:p>
            <a:pPr eaLnBrk="1" hangingPunct="1"/>
            <a:r>
              <a:rPr lang="en-US"/>
              <a:t>I/O routine supplied by the system.</a:t>
            </a:r>
          </a:p>
          <a:p>
            <a:pPr eaLnBrk="1" hangingPunct="1"/>
            <a:r>
              <a:rPr lang="en-US"/>
              <a:t>Memory management – the system must allocate the memory to several jobs.</a:t>
            </a:r>
          </a:p>
          <a:p>
            <a:pPr eaLnBrk="1" hangingPunct="1"/>
            <a:r>
              <a:rPr lang="en-US"/>
              <a:t>CPU scheduling – the system must choose among several jobs ready to run.</a:t>
            </a:r>
          </a:p>
          <a:p>
            <a:pPr eaLnBrk="1" hangingPunct="1"/>
            <a:r>
              <a:rPr lang="en-US"/>
              <a:t>Allocation of devices.</a:t>
            </a:r>
          </a:p>
        </p:txBody>
      </p:sp>
      <p:sp>
        <p:nvSpPr>
          <p:cNvPr id="2048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 name="Rectangle 2"/>
          <p:cNvSpPr>
            <a:spLocks noGrp="1" noChangeArrowheads="1"/>
          </p:cNvSpPr>
          <p:nvPr>
            <p:ph type="title"/>
          </p:nvPr>
        </p:nvSpPr>
        <p:spPr>
          <a:xfrm>
            <a:off x="1022350" y="212725"/>
            <a:ext cx="7885113" cy="457200"/>
          </a:xfrm>
        </p:spPr>
        <p:txBody>
          <a:bodyPr>
            <a:normAutofit fontScale="90000"/>
          </a:bodyPr>
          <a:lstStyle/>
          <a:p>
            <a:pPr eaLnBrk="1" fontAlgn="auto" hangingPunct="1">
              <a:spcAft>
                <a:spcPts val="0"/>
              </a:spcAft>
              <a:defRPr/>
            </a:pPr>
            <a:r>
              <a:rPr lang="en-US" sz="2800"/>
              <a:t>OS Features Needed for Multiprogramming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271463" y="1265238"/>
            <a:ext cx="4264025" cy="4114800"/>
          </a:xfrm>
        </p:spPr>
        <p:txBody>
          <a:bodyPr>
            <a:normAutofit fontScale="62500" lnSpcReduction="20000"/>
          </a:bodyPr>
          <a:lstStyle/>
          <a:p>
            <a:pPr marL="365760" indent="-256032" eaLnBrk="1" fontAlgn="auto" hangingPunct="1">
              <a:spcAft>
                <a:spcPts val="0"/>
              </a:spcAft>
              <a:buFont typeface="Wingdings 3"/>
              <a:buChar char=""/>
              <a:defRPr/>
            </a:pPr>
            <a:r>
              <a:rPr lang="en-US" dirty="0"/>
              <a:t>The CPU is multiplexed among several jobs that are kept in memory and on disk (the CPU is allocated to a job only if the job is in memory).</a:t>
            </a:r>
          </a:p>
          <a:p>
            <a:pPr marL="365760" indent="-256032" eaLnBrk="1" fontAlgn="auto" hangingPunct="1">
              <a:spcAft>
                <a:spcPts val="0"/>
              </a:spcAft>
              <a:buFont typeface="Wingdings 3"/>
              <a:buChar char=""/>
              <a:defRPr/>
            </a:pPr>
            <a:r>
              <a:rPr lang="en-US" dirty="0"/>
              <a:t>A job swapped in and out of memory to the disk.</a:t>
            </a:r>
          </a:p>
          <a:p>
            <a:pPr marL="365760" indent="-256032" eaLnBrk="1" fontAlgn="auto" hangingPunct="1">
              <a:spcAft>
                <a:spcPts val="0"/>
              </a:spcAft>
              <a:buFont typeface="Wingdings 3"/>
              <a:buChar char=""/>
              <a:defRPr/>
            </a:pPr>
            <a:r>
              <a:rPr lang="en-US" dirty="0"/>
              <a:t>On-line communication between the user and the system is provided; when the operating system finishes the execution of one command, it seeks the next “control statement” from the user’s keyboard.</a:t>
            </a:r>
          </a:p>
          <a:p>
            <a:pPr marL="365760" indent="-256032" eaLnBrk="1" fontAlgn="auto" hangingPunct="1">
              <a:spcAft>
                <a:spcPts val="0"/>
              </a:spcAft>
              <a:buFont typeface="Wingdings 3"/>
              <a:buChar char=""/>
              <a:defRPr/>
            </a:pPr>
            <a:r>
              <a:rPr lang="en-US" dirty="0"/>
              <a:t>On-line system must be available for users to access data and code.</a:t>
            </a:r>
          </a:p>
        </p:txBody>
      </p:sp>
      <p:sp>
        <p:nvSpPr>
          <p:cNvPr id="21507" name="Footer Placeholder 3"/>
          <p:cNvSpPr>
            <a:spLocks noGrp="1"/>
          </p:cNvSpPr>
          <p:nvPr>
            <p:ph type="ftr" sz="quarter" idx="4294967295"/>
          </p:nvPr>
        </p:nvSpPr>
        <p:spPr>
          <a:xfrm>
            <a:off x="3124200" y="6248400"/>
            <a:ext cx="2895600" cy="457200"/>
          </a:xfrm>
          <a:prstGeom prst="rect">
            <a:avLst/>
          </a:prstGeom>
          <a:noFill/>
        </p:spPr>
        <p:txBody>
          <a:bodyPr/>
          <a:lstStyle/>
          <a:p>
            <a:r>
              <a:rPr lang="en-US" dirty="0">
                <a:latin typeface="Helvetica" pitchFamily="2" charset="0"/>
              </a:rPr>
              <a:t>Operating System Concepts</a:t>
            </a:r>
          </a:p>
        </p:txBody>
      </p:sp>
      <p:sp>
        <p:nvSpPr>
          <p:cNvPr id="19458" name="Rectangle 2"/>
          <p:cNvSpPr>
            <a:spLocks noGrp="1" noChangeArrowheads="1"/>
          </p:cNvSpPr>
          <p:nvPr>
            <p:ph type="title"/>
          </p:nvPr>
        </p:nvSpPr>
        <p:spPr>
          <a:xfrm>
            <a:off x="719138" y="163513"/>
            <a:ext cx="8518525" cy="457200"/>
          </a:xfrm>
        </p:spPr>
        <p:txBody>
          <a:bodyPr>
            <a:normAutofit fontScale="90000"/>
          </a:bodyPr>
          <a:lstStyle/>
          <a:p>
            <a:pPr eaLnBrk="1" fontAlgn="auto" hangingPunct="1">
              <a:spcAft>
                <a:spcPts val="0"/>
              </a:spcAft>
              <a:defRPr/>
            </a:pPr>
            <a:r>
              <a:rPr lang="en-US" sz="2400" dirty="0"/>
              <a:t>1.4 Types of OS : </a:t>
            </a:r>
            <a:r>
              <a:rPr lang="en-US" sz="2800" dirty="0"/>
              <a:t>Time-Sharing Systems–Interactive Computing </a:t>
            </a:r>
          </a:p>
        </p:txBody>
      </p:sp>
      <p:sp>
        <p:nvSpPr>
          <p:cNvPr id="21509" name="Rectangle 4"/>
          <p:cNvSpPr>
            <a:spLocks noChangeArrowheads="1"/>
          </p:cNvSpPr>
          <p:nvPr/>
        </p:nvSpPr>
        <p:spPr bwMode="auto">
          <a:xfrm>
            <a:off x="4635500" y="1222375"/>
            <a:ext cx="4191000" cy="3786188"/>
          </a:xfrm>
          <a:prstGeom prst="rect">
            <a:avLst/>
          </a:prstGeom>
          <a:noFill/>
          <a:ln w="9525">
            <a:noFill/>
            <a:miter lim="800000"/>
            <a:headEnd/>
            <a:tailEnd/>
          </a:ln>
        </p:spPr>
        <p:txBody>
          <a:bodyPr>
            <a:spAutoFit/>
          </a:bodyPr>
          <a:lstStyle/>
          <a:p>
            <a:r>
              <a:rPr lang="en-US" sz="2000"/>
              <a:t>Advantages of Timesharing operating systems</a:t>
            </a:r>
          </a:p>
          <a:p>
            <a:pPr>
              <a:buFont typeface="Arial" pitchFamily="34" charset="0"/>
              <a:buChar char="•"/>
            </a:pPr>
            <a:r>
              <a:rPr lang="en-US" sz="2000"/>
              <a:t>Provides the advantage of quick response.</a:t>
            </a:r>
          </a:p>
          <a:p>
            <a:pPr>
              <a:buFont typeface="Arial" pitchFamily="34" charset="0"/>
              <a:buChar char="•"/>
            </a:pPr>
            <a:r>
              <a:rPr lang="en-US" sz="2000"/>
              <a:t>Avoids duplication of software.</a:t>
            </a:r>
          </a:p>
          <a:p>
            <a:pPr>
              <a:buFont typeface="Arial" pitchFamily="34" charset="0"/>
              <a:buChar char="•"/>
            </a:pPr>
            <a:r>
              <a:rPr lang="en-US" sz="2000"/>
              <a:t>Reduces CPU idle time.</a:t>
            </a:r>
          </a:p>
          <a:p>
            <a:r>
              <a:rPr lang="en-US" sz="2000"/>
              <a:t>Disadvantages of Time-sharing operating systems</a:t>
            </a:r>
          </a:p>
          <a:p>
            <a:pPr>
              <a:buFont typeface="Arial" pitchFamily="34" charset="0"/>
              <a:buChar char="•"/>
            </a:pPr>
            <a:r>
              <a:rPr lang="en-US" sz="2000"/>
              <a:t>Problem of reliability.</a:t>
            </a:r>
          </a:p>
          <a:p>
            <a:pPr>
              <a:buFont typeface="Arial" pitchFamily="34" charset="0"/>
              <a:buChar char="•"/>
            </a:pPr>
            <a:r>
              <a:rPr lang="en-US" sz="2000"/>
              <a:t>Question of security and integrity of user programs and data.</a:t>
            </a:r>
          </a:p>
          <a:p>
            <a:pPr>
              <a:buFont typeface="Arial" pitchFamily="34" charset="0"/>
              <a:buChar char="•"/>
            </a:pPr>
            <a:r>
              <a:rPr lang="en-US" sz="2000"/>
              <a:t>Problem of data communication.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1065213" y="1314450"/>
            <a:ext cx="7029450" cy="4114800"/>
          </a:xfrm>
        </p:spPr>
        <p:txBody>
          <a:bodyPr>
            <a:normAutofit fontScale="85000" lnSpcReduction="20000"/>
          </a:bodyPr>
          <a:lstStyle/>
          <a:p>
            <a:pPr marL="365760" indent="-256032" eaLnBrk="1" fontAlgn="auto" hangingPunct="1">
              <a:spcAft>
                <a:spcPts val="0"/>
              </a:spcAft>
              <a:buFont typeface="Wingdings 3"/>
              <a:buChar char=""/>
              <a:tabLst>
                <a:tab pos="6000750" algn="l"/>
              </a:tabLst>
              <a:defRPr/>
            </a:pPr>
            <a:r>
              <a:rPr lang="en-US" i="1"/>
              <a:t>Personal computers</a:t>
            </a:r>
            <a:r>
              <a:rPr lang="en-US"/>
              <a:t> – computer system dedicated to a single user.</a:t>
            </a:r>
          </a:p>
          <a:p>
            <a:pPr marL="365760" indent="-256032" eaLnBrk="1" fontAlgn="auto" hangingPunct="1">
              <a:spcAft>
                <a:spcPts val="0"/>
              </a:spcAft>
              <a:buFont typeface="Wingdings 3"/>
              <a:buChar char=""/>
              <a:tabLst>
                <a:tab pos="6000750" algn="l"/>
              </a:tabLst>
              <a:defRPr/>
            </a:pPr>
            <a:r>
              <a:rPr lang="en-US"/>
              <a:t>I/O devices – keyboards, mice, display screens, small printers.</a:t>
            </a:r>
          </a:p>
          <a:p>
            <a:pPr marL="365760" indent="-256032" eaLnBrk="1" fontAlgn="auto" hangingPunct="1">
              <a:spcAft>
                <a:spcPts val="0"/>
              </a:spcAft>
              <a:buFont typeface="Wingdings 3"/>
              <a:buChar char=""/>
              <a:tabLst>
                <a:tab pos="6000750" algn="l"/>
              </a:tabLst>
              <a:defRPr/>
            </a:pPr>
            <a:r>
              <a:rPr lang="en-US"/>
              <a:t>User convenience and responsiveness.</a:t>
            </a:r>
          </a:p>
          <a:p>
            <a:pPr marL="365760" indent="-256032" eaLnBrk="1" fontAlgn="auto" hangingPunct="1">
              <a:spcAft>
                <a:spcPts val="0"/>
              </a:spcAft>
              <a:buFont typeface="Wingdings 3"/>
              <a:buChar char=""/>
              <a:tabLst>
                <a:tab pos="6000750" algn="l"/>
              </a:tabLst>
              <a:defRPr/>
            </a:pPr>
            <a:r>
              <a:rPr lang="en-US"/>
              <a:t>Can adopt technology developed for larger operating system’ often individuals have sole use of computer and do not need advanced CPU utilization of protection features.</a:t>
            </a:r>
          </a:p>
          <a:p>
            <a:pPr marL="365760" indent="-256032" eaLnBrk="1" fontAlgn="auto" hangingPunct="1">
              <a:spcAft>
                <a:spcPts val="0"/>
              </a:spcAft>
              <a:buFont typeface="Wingdings 3"/>
              <a:buChar char=""/>
              <a:tabLst>
                <a:tab pos="6000750" algn="l"/>
              </a:tabLst>
              <a:defRPr/>
            </a:pPr>
            <a:r>
              <a:rPr lang="en-US"/>
              <a:t>May run several different types of operating systems (Windows, MacOS, UNIX, Linux)</a:t>
            </a:r>
          </a:p>
        </p:txBody>
      </p:sp>
      <p:sp>
        <p:nvSpPr>
          <p:cNvPr id="2253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2532" name="Rectangle 2"/>
          <p:cNvSpPr>
            <a:spLocks noGrp="1" noChangeArrowheads="1"/>
          </p:cNvSpPr>
          <p:nvPr>
            <p:ph type="title"/>
          </p:nvPr>
        </p:nvSpPr>
        <p:spPr/>
        <p:txBody>
          <a:bodyPr/>
          <a:lstStyle/>
          <a:p>
            <a:pPr eaLnBrk="1" hangingPunct="1"/>
            <a:r>
              <a:rPr lang="en-US" sz="3200"/>
              <a:t>1.4 Types of OS :  Desktop Systems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3200"/>
              <a:t>1.4 Types of OS : Network operating System</a:t>
            </a:r>
            <a:r>
              <a:rPr lang="en-US"/>
              <a:t/>
            </a:r>
            <a:br>
              <a:rPr lang="en-US"/>
            </a:br>
            <a:endParaRPr lang="en-US"/>
          </a:p>
        </p:txBody>
      </p:sp>
      <p:sp>
        <p:nvSpPr>
          <p:cNvPr id="23555" name="Content Placeholder 2"/>
          <p:cNvSpPr>
            <a:spLocks noGrp="1"/>
          </p:cNvSpPr>
          <p:nvPr>
            <p:ph idx="1"/>
          </p:nvPr>
        </p:nvSpPr>
        <p:spPr>
          <a:xfrm>
            <a:off x="142844" y="1500174"/>
            <a:ext cx="8315356" cy="4595826"/>
          </a:xfrm>
        </p:spPr>
        <p:txBody>
          <a:bodyPr/>
          <a:lstStyle/>
          <a:p>
            <a:r>
              <a:rPr lang="en-US" sz="1600" dirty="0"/>
              <a:t>The primary purpose of the network operating system is to allow shared file and printer access among multiple computers in a network, typically a local area network (LAN), a private network or to other networks</a:t>
            </a:r>
          </a:p>
          <a:p>
            <a:pPr>
              <a:buFontTx/>
              <a:buNone/>
            </a:pPr>
            <a:r>
              <a:rPr lang="en-US" sz="1600" dirty="0"/>
              <a:t>The advantages of network operating systems are −</a:t>
            </a:r>
          </a:p>
          <a:p>
            <a:r>
              <a:rPr lang="en-US" sz="1600" dirty="0"/>
              <a:t>Centralized servers are highly stable.</a:t>
            </a:r>
          </a:p>
          <a:p>
            <a:r>
              <a:rPr lang="en-US" sz="1600" dirty="0"/>
              <a:t>Security is server managed.</a:t>
            </a:r>
          </a:p>
          <a:p>
            <a:r>
              <a:rPr lang="en-US" sz="1600" dirty="0"/>
              <a:t>Upgrades to new technologies and hardware can be easily integrated into the system.</a:t>
            </a:r>
          </a:p>
          <a:p>
            <a:r>
              <a:rPr lang="en-US" sz="1600" dirty="0"/>
              <a:t>Remote access to servers is possible from different locations and types of systems.</a:t>
            </a:r>
          </a:p>
          <a:p>
            <a:pPr>
              <a:buFontTx/>
              <a:buNone/>
            </a:pPr>
            <a:r>
              <a:rPr lang="en-US" sz="1600" dirty="0"/>
              <a:t>The disadvantages of network operating systems are as follows −</a:t>
            </a:r>
          </a:p>
          <a:p>
            <a:r>
              <a:rPr lang="en-US" sz="1600" dirty="0"/>
              <a:t>High cost of buying and running a server.</a:t>
            </a:r>
          </a:p>
          <a:p>
            <a:r>
              <a:rPr lang="en-US" sz="1600" dirty="0"/>
              <a:t>Dependency on a central location for most operations.</a:t>
            </a:r>
          </a:p>
          <a:p>
            <a:r>
              <a:rPr lang="en-US" sz="1600" dirty="0"/>
              <a:t>Regular maintenance and updates are required</a:t>
            </a:r>
          </a:p>
          <a:p>
            <a:endParaRPr lang="en-US" sz="16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9964A5ED-F718-42C1-A6C4-BA4E720335F0}"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normAutofit fontScale="92500" lnSpcReduction="20000"/>
          </a:bodyPr>
          <a:lstStyle/>
          <a:p>
            <a:pPr marL="365760" indent="-256032" eaLnBrk="1" fontAlgn="auto" hangingPunct="1">
              <a:spcAft>
                <a:spcPts val="0"/>
              </a:spcAft>
              <a:buFont typeface="Wingdings 3"/>
              <a:buChar char=""/>
              <a:defRPr/>
            </a:pPr>
            <a:r>
              <a:rPr lang="en-US"/>
              <a:t>Multiprocessor systems with more than on CPU in close communication.</a:t>
            </a:r>
          </a:p>
          <a:p>
            <a:pPr marL="365760" indent="-256032" eaLnBrk="1" fontAlgn="auto" hangingPunct="1">
              <a:spcAft>
                <a:spcPts val="0"/>
              </a:spcAft>
              <a:buFont typeface="Wingdings 3"/>
              <a:buChar char=""/>
              <a:defRPr/>
            </a:pPr>
            <a:r>
              <a:rPr lang="en-US" i="1"/>
              <a:t>Tightly coupled system</a:t>
            </a:r>
            <a:r>
              <a:rPr lang="en-US"/>
              <a:t> – processors share memory and a clock; communication usually takes place through the shared memory.</a:t>
            </a:r>
          </a:p>
          <a:p>
            <a:pPr marL="365760" indent="-256032" eaLnBrk="1" fontAlgn="auto" hangingPunct="1">
              <a:spcAft>
                <a:spcPts val="0"/>
              </a:spcAft>
              <a:buFont typeface="Wingdings 3"/>
              <a:buChar char=""/>
              <a:defRPr/>
            </a:pPr>
            <a:r>
              <a:rPr lang="en-US"/>
              <a:t>Advantages of parallel system: </a:t>
            </a:r>
          </a:p>
          <a:p>
            <a:pPr marL="621792" lvl="1" eaLnBrk="1" fontAlgn="auto" hangingPunct="1">
              <a:spcBef>
                <a:spcPts val="324"/>
              </a:spcBef>
              <a:spcAft>
                <a:spcPts val="0"/>
              </a:spcAft>
              <a:buFont typeface="Verdana"/>
              <a:buChar char="◦"/>
              <a:defRPr/>
            </a:pPr>
            <a:r>
              <a:rPr lang="en-US"/>
              <a:t>Increased </a:t>
            </a:r>
            <a:r>
              <a:rPr lang="en-US" i="1"/>
              <a:t>throughput</a:t>
            </a:r>
          </a:p>
          <a:p>
            <a:pPr marL="621792" lvl="1" eaLnBrk="1" fontAlgn="auto" hangingPunct="1">
              <a:spcBef>
                <a:spcPts val="324"/>
              </a:spcBef>
              <a:spcAft>
                <a:spcPts val="0"/>
              </a:spcAft>
              <a:buFont typeface="Verdana"/>
              <a:buChar char="◦"/>
              <a:defRPr/>
            </a:pPr>
            <a:r>
              <a:rPr lang="en-US"/>
              <a:t>Economical</a:t>
            </a:r>
            <a:r>
              <a:rPr lang="en-US" i="1"/>
              <a:t> </a:t>
            </a:r>
          </a:p>
          <a:p>
            <a:pPr marL="621792" lvl="1" eaLnBrk="1" fontAlgn="auto" hangingPunct="1">
              <a:spcBef>
                <a:spcPts val="324"/>
              </a:spcBef>
              <a:spcAft>
                <a:spcPts val="0"/>
              </a:spcAft>
              <a:buFont typeface="Verdana"/>
              <a:buChar char="◦"/>
              <a:defRPr/>
            </a:pPr>
            <a:r>
              <a:rPr lang="en-US"/>
              <a:t>Increased reliability</a:t>
            </a:r>
          </a:p>
          <a:p>
            <a:pPr marL="859536" lvl="2" eaLnBrk="1" fontAlgn="auto" hangingPunct="1">
              <a:spcAft>
                <a:spcPts val="0"/>
              </a:spcAft>
              <a:buFont typeface="Wingdings 2"/>
              <a:buChar char=""/>
              <a:defRPr/>
            </a:pPr>
            <a:r>
              <a:rPr lang="en-US"/>
              <a:t>graceful degradation</a:t>
            </a:r>
          </a:p>
          <a:p>
            <a:pPr marL="859536" lvl="2" eaLnBrk="1" fontAlgn="auto" hangingPunct="1">
              <a:spcAft>
                <a:spcPts val="0"/>
              </a:spcAft>
              <a:buFont typeface="Wingdings 2"/>
              <a:buChar char=""/>
              <a:defRPr/>
            </a:pPr>
            <a:r>
              <a:rPr lang="en-US"/>
              <a:t>fail-soft systems</a:t>
            </a:r>
            <a:endParaRPr lang="en-US" i="1"/>
          </a:p>
        </p:txBody>
      </p:sp>
      <p:sp>
        <p:nvSpPr>
          <p:cNvPr id="24579"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4580" name="Rectangle 2"/>
          <p:cNvSpPr>
            <a:spLocks noGrp="1" noChangeArrowheads="1"/>
          </p:cNvSpPr>
          <p:nvPr>
            <p:ph type="title"/>
          </p:nvPr>
        </p:nvSpPr>
        <p:spPr/>
        <p:txBody>
          <a:bodyPr/>
          <a:lstStyle/>
          <a:p>
            <a:pPr eaLnBrk="1" hangingPunct="1"/>
            <a:r>
              <a:rPr lang="en-US" sz="3600"/>
              <a:t>1.4 Types of OS : Parallel Systems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1047750" y="1157288"/>
            <a:ext cx="7029450" cy="4114800"/>
          </a:xfrm>
        </p:spPr>
        <p:txBody>
          <a:bodyPr>
            <a:normAutofit fontScale="85000" lnSpcReduction="10000"/>
          </a:bodyPr>
          <a:lstStyle/>
          <a:p>
            <a:pPr marL="365760" indent="-256032" eaLnBrk="1" fontAlgn="auto" hangingPunct="1">
              <a:spcAft>
                <a:spcPts val="0"/>
              </a:spcAft>
              <a:buFont typeface="Wingdings 3"/>
              <a:buChar char=""/>
              <a:defRPr/>
            </a:pPr>
            <a:r>
              <a:rPr lang="en-US" i="1"/>
              <a:t>Symmetric multiprocessing (SMP)</a:t>
            </a:r>
            <a:endParaRPr lang="en-US"/>
          </a:p>
          <a:p>
            <a:pPr marL="621792" lvl="1" eaLnBrk="1" fontAlgn="auto" hangingPunct="1">
              <a:spcBef>
                <a:spcPts val="324"/>
              </a:spcBef>
              <a:spcAft>
                <a:spcPts val="0"/>
              </a:spcAft>
              <a:buFont typeface="Verdana"/>
              <a:buChar char="◦"/>
              <a:defRPr/>
            </a:pPr>
            <a:r>
              <a:rPr lang="en-US"/>
              <a:t>Each processor runs and identical copy of the operating system.</a:t>
            </a:r>
          </a:p>
          <a:p>
            <a:pPr marL="621792" lvl="1" eaLnBrk="1" fontAlgn="auto" hangingPunct="1">
              <a:spcBef>
                <a:spcPts val="324"/>
              </a:spcBef>
              <a:spcAft>
                <a:spcPts val="0"/>
              </a:spcAft>
              <a:buFont typeface="Verdana"/>
              <a:buChar char="◦"/>
              <a:defRPr/>
            </a:pPr>
            <a:r>
              <a:rPr lang="en-US"/>
              <a:t>Many processes can run at once without performance deterioration.</a:t>
            </a:r>
          </a:p>
          <a:p>
            <a:pPr marL="621792" lvl="1" eaLnBrk="1" fontAlgn="auto" hangingPunct="1">
              <a:spcBef>
                <a:spcPts val="324"/>
              </a:spcBef>
              <a:spcAft>
                <a:spcPts val="0"/>
              </a:spcAft>
              <a:buFont typeface="Verdana"/>
              <a:buChar char="◦"/>
              <a:defRPr/>
            </a:pPr>
            <a:r>
              <a:rPr lang="en-US"/>
              <a:t>Most modern operating systems support SMP</a:t>
            </a:r>
          </a:p>
          <a:p>
            <a:pPr marL="365760" indent="-256032" eaLnBrk="1" fontAlgn="auto" hangingPunct="1">
              <a:spcAft>
                <a:spcPts val="0"/>
              </a:spcAft>
              <a:buFont typeface="Wingdings 3"/>
              <a:buChar char=""/>
              <a:defRPr/>
            </a:pPr>
            <a:r>
              <a:rPr lang="en-US" i="1"/>
              <a:t>Asymmetric multiprocessing</a:t>
            </a:r>
            <a:endParaRPr lang="en-US"/>
          </a:p>
          <a:p>
            <a:pPr marL="621792" lvl="1" eaLnBrk="1" fontAlgn="auto" hangingPunct="1">
              <a:spcBef>
                <a:spcPts val="324"/>
              </a:spcBef>
              <a:spcAft>
                <a:spcPts val="0"/>
              </a:spcAft>
              <a:buFont typeface="Verdana"/>
              <a:buChar char="◦"/>
              <a:defRPr/>
            </a:pPr>
            <a:r>
              <a:rPr lang="en-US"/>
              <a:t>Each processor is assigned a specific task; master processor schedules and allocated work to slave processors.</a:t>
            </a:r>
          </a:p>
          <a:p>
            <a:pPr marL="621792" lvl="1" eaLnBrk="1" fontAlgn="auto" hangingPunct="1">
              <a:spcBef>
                <a:spcPts val="324"/>
              </a:spcBef>
              <a:spcAft>
                <a:spcPts val="0"/>
              </a:spcAft>
              <a:buFont typeface="Verdana"/>
              <a:buChar char="◦"/>
              <a:defRPr/>
            </a:pPr>
            <a:r>
              <a:rPr lang="en-US"/>
              <a:t>More common in extremely large systems</a:t>
            </a:r>
          </a:p>
        </p:txBody>
      </p:sp>
      <p:sp>
        <p:nvSpPr>
          <p:cNvPr id="2560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5604" name="Rectangle 2"/>
          <p:cNvSpPr>
            <a:spLocks noGrp="1" noChangeArrowheads="1"/>
          </p:cNvSpPr>
          <p:nvPr>
            <p:ph type="title"/>
          </p:nvPr>
        </p:nvSpPr>
        <p:spPr/>
        <p:txBody>
          <a:bodyPr/>
          <a:lstStyle/>
          <a:p>
            <a:pPr eaLnBrk="1" hangingPunct="1"/>
            <a:r>
              <a:rPr lang="en-US"/>
              <a:t>Parallel Systems (Cont.)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8674" name="Rectangle 2"/>
          <p:cNvSpPr>
            <a:spLocks noGrp="1" noChangeArrowheads="1"/>
          </p:cNvSpPr>
          <p:nvPr>
            <p:ph type="title"/>
          </p:nvPr>
        </p:nvSpPr>
        <p:spPr>
          <a:xfrm>
            <a:off x="1179513" y="209550"/>
            <a:ext cx="8320087" cy="457200"/>
          </a:xfrm>
        </p:spPr>
        <p:txBody>
          <a:bodyPr>
            <a:normAutofit fontScale="90000"/>
          </a:bodyPr>
          <a:lstStyle/>
          <a:p>
            <a:pPr eaLnBrk="1" fontAlgn="auto" hangingPunct="1">
              <a:spcAft>
                <a:spcPts val="0"/>
              </a:spcAft>
              <a:defRPr/>
            </a:pPr>
            <a:r>
              <a:rPr lang="en-US" sz="2800"/>
              <a:t>Symmetric Multiprocessing Architecture</a:t>
            </a:r>
          </a:p>
        </p:txBody>
      </p:sp>
      <p:pic>
        <p:nvPicPr>
          <p:cNvPr id="26628" name="Picture 6"/>
          <p:cNvPicPr>
            <a:picLocks noChangeAspect="1" noChangeArrowheads="1"/>
          </p:cNvPicPr>
          <p:nvPr/>
        </p:nvPicPr>
        <p:blipFill>
          <a:blip r:embed="rId2"/>
          <a:srcRect l="659" t="34227" r="494" b="34227"/>
          <a:stretch>
            <a:fillRect/>
          </a:stretch>
        </p:blipFill>
        <p:spPr bwMode="auto">
          <a:xfrm>
            <a:off x="781050" y="2200275"/>
            <a:ext cx="7462838" cy="1905000"/>
          </a:xfrm>
          <a:prstGeom prst="rect">
            <a:avLst/>
          </a:prstGeom>
          <a:noFill/>
          <a:ln w="57150" cmpd="thickThin">
            <a:solidFill>
              <a:schemeClr val="tx1"/>
            </a:solid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047750" y="1322388"/>
            <a:ext cx="7029450" cy="4706937"/>
          </a:xfrm>
        </p:spPr>
        <p:txBody>
          <a:bodyPr>
            <a:normAutofit fontScale="70000" lnSpcReduction="20000"/>
          </a:bodyPr>
          <a:lstStyle/>
          <a:p>
            <a:pPr marL="365760" indent="-256032" eaLnBrk="1" fontAlgn="auto" hangingPunct="1">
              <a:spcAft>
                <a:spcPts val="0"/>
              </a:spcAft>
              <a:buFont typeface="Wingdings 3"/>
              <a:buChar char=""/>
              <a:defRPr/>
            </a:pPr>
            <a:r>
              <a:rPr lang="en-US" dirty="0"/>
              <a:t>Distribute the computation among several physical processors.</a:t>
            </a:r>
          </a:p>
          <a:p>
            <a:pPr marL="365760" indent="-256032" eaLnBrk="1" fontAlgn="auto" hangingPunct="1">
              <a:spcAft>
                <a:spcPts val="0"/>
              </a:spcAft>
              <a:buFont typeface="Wingdings 3"/>
              <a:buChar char=""/>
              <a:defRPr/>
            </a:pPr>
            <a:r>
              <a:rPr lang="en-US" i="1" dirty="0"/>
              <a:t>Loosely coupled system</a:t>
            </a:r>
            <a:r>
              <a:rPr lang="en-US" dirty="0"/>
              <a:t> – each processor has its own local memory; processors communicate with one another through various communications lines, such as high-speed buses or telephone lines.</a:t>
            </a:r>
          </a:p>
          <a:p>
            <a:pPr marL="365760" indent="-256032" eaLnBrk="1" fontAlgn="auto" hangingPunct="1">
              <a:spcAft>
                <a:spcPts val="0"/>
              </a:spcAft>
              <a:buFont typeface="Wingdings 3"/>
              <a:buChar char=""/>
              <a:defRPr/>
            </a:pPr>
            <a:r>
              <a:rPr lang="en-US" dirty="0"/>
              <a:t>Advantages of distributed systems.</a:t>
            </a:r>
          </a:p>
          <a:p>
            <a:pPr marL="621792" lvl="1" eaLnBrk="1" fontAlgn="auto" hangingPunct="1">
              <a:spcBef>
                <a:spcPts val="324"/>
              </a:spcBef>
              <a:spcAft>
                <a:spcPts val="0"/>
              </a:spcAft>
              <a:buFont typeface="Verdana"/>
              <a:buChar char="◦"/>
              <a:defRPr/>
            </a:pPr>
            <a:r>
              <a:rPr lang="en-US" dirty="0"/>
              <a:t>Resources Sharing </a:t>
            </a:r>
          </a:p>
          <a:p>
            <a:pPr marL="621792" lvl="1" eaLnBrk="1" fontAlgn="auto" hangingPunct="1">
              <a:spcBef>
                <a:spcPts val="324"/>
              </a:spcBef>
              <a:spcAft>
                <a:spcPts val="0"/>
              </a:spcAft>
              <a:buFont typeface="Verdana"/>
              <a:buChar char="◦"/>
              <a:defRPr/>
            </a:pPr>
            <a:r>
              <a:rPr lang="en-US" dirty="0"/>
              <a:t>Computation speed up – load sharing </a:t>
            </a:r>
          </a:p>
          <a:p>
            <a:pPr marL="621792" lvl="1" eaLnBrk="1" fontAlgn="auto" hangingPunct="1">
              <a:spcBef>
                <a:spcPts val="324"/>
              </a:spcBef>
              <a:spcAft>
                <a:spcPts val="0"/>
              </a:spcAft>
              <a:buFont typeface="Verdana"/>
              <a:buChar char="◦"/>
              <a:defRPr/>
            </a:pPr>
            <a:r>
              <a:rPr lang="en-US" dirty="0"/>
              <a:t>Reliability</a:t>
            </a:r>
          </a:p>
          <a:p>
            <a:pPr marL="621792" lvl="1" eaLnBrk="1" fontAlgn="auto" hangingPunct="1">
              <a:spcBef>
                <a:spcPts val="324"/>
              </a:spcBef>
              <a:spcAft>
                <a:spcPts val="0"/>
              </a:spcAft>
              <a:buFont typeface="Verdana"/>
              <a:buChar char="◦"/>
              <a:defRPr/>
            </a:pPr>
            <a:r>
              <a:rPr lang="en-US" dirty="0"/>
              <a:t>Communications</a:t>
            </a:r>
          </a:p>
          <a:p>
            <a:pPr>
              <a:defRPr/>
            </a:pPr>
            <a:r>
              <a:rPr lang="en-US" dirty="0"/>
              <a:t>Better service to the customers.</a:t>
            </a:r>
          </a:p>
          <a:p>
            <a:pPr>
              <a:defRPr/>
            </a:pPr>
            <a:r>
              <a:rPr lang="en-US" dirty="0"/>
              <a:t>Reduction of the load on the host computer.</a:t>
            </a:r>
          </a:p>
          <a:p>
            <a:pPr>
              <a:defRPr/>
            </a:pPr>
            <a:r>
              <a:rPr lang="en-US" dirty="0"/>
              <a:t>Reduction of delays in data processing.</a:t>
            </a:r>
          </a:p>
          <a:p>
            <a:pPr marL="621792" lvl="1" eaLnBrk="1" fontAlgn="auto" hangingPunct="1">
              <a:spcBef>
                <a:spcPts val="324"/>
              </a:spcBef>
              <a:spcAft>
                <a:spcPts val="0"/>
              </a:spcAft>
              <a:buFont typeface="Verdana"/>
              <a:buChar char="◦"/>
              <a:defRPr/>
            </a:pPr>
            <a:endParaRPr lang="en-US" dirty="0"/>
          </a:p>
        </p:txBody>
      </p:sp>
      <p:sp>
        <p:nvSpPr>
          <p:cNvPr id="2765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7652" name="Rectangle 2"/>
          <p:cNvSpPr>
            <a:spLocks noGrp="1" noChangeArrowheads="1"/>
          </p:cNvSpPr>
          <p:nvPr>
            <p:ph type="title"/>
          </p:nvPr>
        </p:nvSpPr>
        <p:spPr/>
        <p:txBody>
          <a:bodyPr/>
          <a:lstStyle/>
          <a:p>
            <a:pPr eaLnBrk="1" hangingPunct="1"/>
            <a:r>
              <a:rPr lang="en-US" sz="3200"/>
              <a:t>1.4 Types of OS : Distributed Systems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idx="1"/>
          </p:nvPr>
        </p:nvSpPr>
        <p:spPr>
          <a:xfrm>
            <a:off x="1047750" y="1322388"/>
            <a:ext cx="7029450" cy="4114800"/>
          </a:xfrm>
        </p:spPr>
        <p:txBody>
          <a:bodyPr/>
          <a:lstStyle/>
          <a:p>
            <a:pPr eaLnBrk="1" hangingPunct="1"/>
            <a:r>
              <a:rPr lang="en-US"/>
              <a:t>Requires networking infrastructure.</a:t>
            </a:r>
          </a:p>
          <a:p>
            <a:pPr eaLnBrk="1" hangingPunct="1"/>
            <a:r>
              <a:rPr lang="en-US"/>
              <a:t>Local area networks (LAN) or Wide area networks (WAN)</a:t>
            </a:r>
          </a:p>
          <a:p>
            <a:pPr eaLnBrk="1" hangingPunct="1"/>
            <a:r>
              <a:rPr lang="en-US"/>
              <a:t>May be either client-server or peer-to-peer systems.</a:t>
            </a:r>
          </a:p>
          <a:p>
            <a:pPr lvl="1" eaLnBrk="1" hangingPunct="1">
              <a:buFont typeface="Monotype Sorts"/>
              <a:buNone/>
            </a:pPr>
            <a:endParaRPr lang="en-US"/>
          </a:p>
        </p:txBody>
      </p:sp>
      <p:sp>
        <p:nvSpPr>
          <p:cNvPr id="28675"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8676" name="Rectangle 2"/>
          <p:cNvSpPr>
            <a:spLocks noGrp="1" noChangeArrowheads="1"/>
          </p:cNvSpPr>
          <p:nvPr>
            <p:ph type="title"/>
          </p:nvPr>
        </p:nvSpPr>
        <p:spPr/>
        <p:txBody>
          <a:bodyPr/>
          <a:lstStyle/>
          <a:p>
            <a:pPr eaLnBrk="1" hangingPunct="1"/>
            <a:r>
              <a:rPr lang="en-US"/>
              <a:t>Distributed Systems (cont)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8914" name="Rectangle 2"/>
          <p:cNvSpPr>
            <a:spLocks noGrp="1" noChangeArrowheads="1"/>
          </p:cNvSpPr>
          <p:nvPr>
            <p:ph type="title"/>
          </p:nvPr>
        </p:nvSpPr>
        <p:spPr/>
        <p:txBody>
          <a:bodyPr>
            <a:normAutofit/>
          </a:bodyPr>
          <a:lstStyle/>
          <a:p>
            <a:pPr eaLnBrk="1" fontAlgn="auto" hangingPunct="1">
              <a:spcAft>
                <a:spcPts val="0"/>
              </a:spcAft>
              <a:defRPr/>
            </a:pPr>
            <a:r>
              <a:rPr lang="en-US"/>
              <a:t>General Structure of Client-Server</a:t>
            </a:r>
          </a:p>
        </p:txBody>
      </p:sp>
      <p:pic>
        <p:nvPicPr>
          <p:cNvPr id="29700" name="Picture 3"/>
          <p:cNvPicPr>
            <a:picLocks noChangeAspect="1" noChangeArrowheads="1"/>
          </p:cNvPicPr>
          <p:nvPr/>
        </p:nvPicPr>
        <p:blipFill>
          <a:blip r:embed="rId2"/>
          <a:srcRect l="520" t="32166" r="3943" b="31702"/>
          <a:stretch>
            <a:fillRect/>
          </a:stretch>
        </p:blipFill>
        <p:spPr bwMode="auto">
          <a:xfrm>
            <a:off x="879475" y="2043113"/>
            <a:ext cx="7308850" cy="2073275"/>
          </a:xfrm>
          <a:prstGeom prst="rect">
            <a:avLst/>
          </a:prstGeom>
          <a:noFill/>
          <a:ln w="57150" cmpd="thickThin">
            <a:solidFill>
              <a:schemeClr val="tx1"/>
            </a:solid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1073150" y="1198563"/>
            <a:ext cx="7029450" cy="4114800"/>
          </a:xfrm>
        </p:spPr>
        <p:txBody>
          <a:bodyPr/>
          <a:lstStyle/>
          <a:p>
            <a:pPr eaLnBrk="1" hangingPunct="1"/>
            <a:r>
              <a:rPr lang="en-US"/>
              <a:t>Often used as a control device in a dedicated application such as controlling scientific experiments, medical imaging systems, industrial control systems, and some display systems.</a:t>
            </a:r>
          </a:p>
          <a:p>
            <a:pPr eaLnBrk="1" hangingPunct="1"/>
            <a:r>
              <a:rPr lang="en-US"/>
              <a:t>Well-defined fixed-time constraints.</a:t>
            </a:r>
          </a:p>
          <a:p>
            <a:pPr eaLnBrk="1" hangingPunct="1"/>
            <a:r>
              <a:rPr lang="en-US"/>
              <a:t>Real-Time systems may be either </a:t>
            </a:r>
            <a:r>
              <a:rPr lang="en-US" i="1"/>
              <a:t>hard </a:t>
            </a:r>
            <a:r>
              <a:rPr lang="en-US"/>
              <a:t>or </a:t>
            </a:r>
            <a:r>
              <a:rPr lang="en-US" i="1"/>
              <a:t>soft</a:t>
            </a:r>
            <a:r>
              <a:rPr lang="en-US"/>
              <a:t> real-time.</a:t>
            </a:r>
          </a:p>
        </p:txBody>
      </p:sp>
      <p:sp>
        <p:nvSpPr>
          <p:cNvPr id="3072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0724" name="Rectangle 2"/>
          <p:cNvSpPr>
            <a:spLocks noGrp="1" noChangeArrowheads="1"/>
          </p:cNvSpPr>
          <p:nvPr>
            <p:ph type="title"/>
          </p:nvPr>
        </p:nvSpPr>
        <p:spPr/>
        <p:txBody>
          <a:bodyPr/>
          <a:lstStyle/>
          <a:p>
            <a:pPr eaLnBrk="1" hangingPunct="1"/>
            <a:r>
              <a:rPr lang="en-US" sz="3200"/>
              <a:t>1.4 Types of OS : Real-Time Systems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1073150" y="1198563"/>
            <a:ext cx="7029450" cy="4114800"/>
          </a:xfrm>
        </p:spPr>
        <p:txBody>
          <a:bodyPr>
            <a:normAutofit fontScale="70000" lnSpcReduction="20000"/>
          </a:bodyPr>
          <a:lstStyle/>
          <a:p>
            <a:pPr marL="365760" indent="-256032" eaLnBrk="1" fontAlgn="auto" hangingPunct="1">
              <a:spcAft>
                <a:spcPts val="0"/>
              </a:spcAft>
              <a:buFont typeface="Monotype Sorts" pitchFamily="2" charset="2"/>
              <a:buNone/>
              <a:defRPr/>
            </a:pPr>
            <a:endParaRPr lang="en-US"/>
          </a:p>
          <a:p>
            <a:pPr marL="365760" indent="-256032" eaLnBrk="1" fontAlgn="auto" hangingPunct="1">
              <a:spcAft>
                <a:spcPts val="0"/>
              </a:spcAft>
              <a:buFont typeface="Wingdings 3"/>
              <a:buChar char=""/>
              <a:defRPr/>
            </a:pPr>
            <a:r>
              <a:rPr lang="en-US"/>
              <a:t>Hard real-time:</a:t>
            </a:r>
          </a:p>
          <a:p>
            <a:pPr marL="621792" lvl="1" eaLnBrk="1" fontAlgn="auto" hangingPunct="1">
              <a:spcBef>
                <a:spcPts val="324"/>
              </a:spcBef>
              <a:spcAft>
                <a:spcPts val="0"/>
              </a:spcAft>
              <a:buFont typeface="Verdana"/>
              <a:buChar char="◦"/>
              <a:defRPr/>
            </a:pPr>
            <a:r>
              <a:rPr lang="en-US"/>
              <a:t>Secondary storage limited or absent, data stored in short term memory, or read-only memory (ROM)</a:t>
            </a:r>
          </a:p>
          <a:p>
            <a:pPr marL="621792" lvl="1" eaLnBrk="1" fontAlgn="auto" hangingPunct="1">
              <a:spcBef>
                <a:spcPts val="324"/>
              </a:spcBef>
              <a:spcAft>
                <a:spcPts val="0"/>
              </a:spcAft>
              <a:buFont typeface="Verdana"/>
              <a:buChar char="◦"/>
              <a:defRPr/>
            </a:pPr>
            <a:r>
              <a:rPr lang="en-US"/>
              <a:t>Conflicts with time-sharing systems, not supported by general-purpose operating systems.</a:t>
            </a:r>
            <a:br>
              <a:rPr lang="en-US"/>
            </a:br>
            <a:endParaRPr lang="en-US"/>
          </a:p>
          <a:p>
            <a:pPr marL="365760" indent="-256032" eaLnBrk="1" fontAlgn="auto" hangingPunct="1">
              <a:spcAft>
                <a:spcPts val="0"/>
              </a:spcAft>
              <a:buFont typeface="Wingdings 3"/>
              <a:buChar char=""/>
              <a:defRPr/>
            </a:pPr>
            <a:r>
              <a:rPr lang="en-US"/>
              <a:t>Soft real-time</a:t>
            </a:r>
          </a:p>
          <a:p>
            <a:pPr marL="621792" lvl="1" eaLnBrk="1" fontAlgn="auto" hangingPunct="1">
              <a:spcBef>
                <a:spcPts val="324"/>
              </a:spcBef>
              <a:spcAft>
                <a:spcPts val="0"/>
              </a:spcAft>
              <a:buFont typeface="Verdana"/>
              <a:buChar char="◦"/>
              <a:defRPr/>
            </a:pPr>
            <a:r>
              <a:rPr lang="en-US"/>
              <a:t>Limited utility in industrial control of robotics</a:t>
            </a:r>
          </a:p>
          <a:p>
            <a:pPr marL="621792" lvl="1" eaLnBrk="1" fontAlgn="auto" hangingPunct="1">
              <a:spcBef>
                <a:spcPts val="324"/>
              </a:spcBef>
              <a:spcAft>
                <a:spcPts val="0"/>
              </a:spcAft>
              <a:buFont typeface="Verdana"/>
              <a:buChar char="◦"/>
              <a:defRPr/>
            </a:pPr>
            <a:r>
              <a:rPr lang="en-US"/>
              <a:t>Useful in applications (multimedia, virtual reality) requiring advanced operating-system features.</a:t>
            </a:r>
          </a:p>
        </p:txBody>
      </p:sp>
      <p:sp>
        <p:nvSpPr>
          <p:cNvPr id="31747"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1748" name="Rectangle 2"/>
          <p:cNvSpPr>
            <a:spLocks noGrp="1" noChangeArrowheads="1"/>
          </p:cNvSpPr>
          <p:nvPr>
            <p:ph type="title"/>
          </p:nvPr>
        </p:nvSpPr>
        <p:spPr/>
        <p:txBody>
          <a:bodyPr/>
          <a:lstStyle/>
          <a:p>
            <a:pPr eaLnBrk="1" hangingPunct="1"/>
            <a:r>
              <a:rPr lang="en-US"/>
              <a:t>Real-Time Systems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p:txBody>
          <a:bodyPr/>
          <a:lstStyle/>
          <a:p>
            <a:pPr eaLnBrk="1" hangingPunct="1"/>
            <a:r>
              <a:rPr lang="en-US"/>
              <a:t>Personal Digital Assistants (PDAs)</a:t>
            </a:r>
          </a:p>
          <a:p>
            <a:pPr eaLnBrk="1" hangingPunct="1"/>
            <a:r>
              <a:rPr lang="en-US"/>
              <a:t>Cellular telephones</a:t>
            </a:r>
          </a:p>
          <a:p>
            <a:pPr eaLnBrk="1" hangingPunct="1"/>
            <a:r>
              <a:rPr lang="en-US"/>
              <a:t>Issues:</a:t>
            </a:r>
          </a:p>
          <a:p>
            <a:pPr lvl="1" eaLnBrk="1" hangingPunct="1"/>
            <a:r>
              <a:rPr lang="en-US"/>
              <a:t>Limited memory</a:t>
            </a:r>
          </a:p>
          <a:p>
            <a:pPr lvl="1" eaLnBrk="1" hangingPunct="1"/>
            <a:r>
              <a:rPr lang="en-US"/>
              <a:t>Slow processors</a:t>
            </a:r>
          </a:p>
          <a:p>
            <a:pPr lvl="1" eaLnBrk="1" hangingPunct="1"/>
            <a:r>
              <a:rPr lang="en-US"/>
              <a:t>Small display screens.</a:t>
            </a:r>
          </a:p>
        </p:txBody>
      </p:sp>
      <p:sp>
        <p:nvSpPr>
          <p:cNvPr id="3277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2772" name="Rectangle 2"/>
          <p:cNvSpPr>
            <a:spLocks noGrp="1" noChangeArrowheads="1"/>
          </p:cNvSpPr>
          <p:nvPr>
            <p:ph type="title"/>
          </p:nvPr>
        </p:nvSpPr>
        <p:spPr/>
        <p:txBody>
          <a:bodyPr/>
          <a:lstStyle/>
          <a:p>
            <a:pPr eaLnBrk="1" hangingPunct="1"/>
            <a:r>
              <a:rPr lang="en-US" sz="3200"/>
              <a:t>1.4 Types of OS : Handheld Systems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3795" name="Rectangle 2"/>
          <p:cNvSpPr>
            <a:spLocks noGrp="1" noChangeArrowheads="1"/>
          </p:cNvSpPr>
          <p:nvPr>
            <p:ph type="title"/>
          </p:nvPr>
        </p:nvSpPr>
        <p:spPr>
          <a:xfrm>
            <a:off x="981075" y="114300"/>
            <a:ext cx="8229600" cy="457200"/>
          </a:xfrm>
        </p:spPr>
        <p:txBody>
          <a:bodyPr/>
          <a:lstStyle/>
          <a:p>
            <a:pPr eaLnBrk="1" hangingPunct="1"/>
            <a:r>
              <a:rPr lang="en-US" sz="2400"/>
              <a:t>Migration of Operating-System Concepts and Features</a:t>
            </a:r>
          </a:p>
        </p:txBody>
      </p:sp>
      <p:pic>
        <p:nvPicPr>
          <p:cNvPr id="33796" name="Picture 7"/>
          <p:cNvPicPr>
            <a:picLocks noChangeAspect="1" noChangeArrowheads="1"/>
          </p:cNvPicPr>
          <p:nvPr/>
        </p:nvPicPr>
        <p:blipFill>
          <a:blip r:embed="rId2"/>
          <a:srcRect l="772" t="2089" r="1250" b="2301"/>
          <a:stretch>
            <a:fillRect/>
          </a:stretch>
        </p:blipFill>
        <p:spPr bwMode="auto">
          <a:xfrm>
            <a:off x="1130300" y="965200"/>
            <a:ext cx="6846888" cy="5011738"/>
          </a:xfrm>
          <a:prstGeom prst="rect">
            <a:avLst/>
          </a:prstGeom>
          <a:noFill/>
          <a:ln w="57150" cmpd="thickThin">
            <a:solidFill>
              <a:schemeClr val="tx1"/>
            </a:solid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IN"/>
              <a:t>Examples of OS </a:t>
            </a:r>
            <a:endParaRPr lang="en-US"/>
          </a:p>
        </p:txBody>
      </p:sp>
      <p:sp>
        <p:nvSpPr>
          <p:cNvPr id="34819" name="Content Placeholder 2"/>
          <p:cNvSpPr>
            <a:spLocks noGrp="1"/>
          </p:cNvSpPr>
          <p:nvPr>
            <p:ph idx="1"/>
          </p:nvPr>
        </p:nvSpPr>
        <p:spPr>
          <a:xfrm>
            <a:off x="685800" y="1222375"/>
            <a:ext cx="7772400" cy="4873625"/>
          </a:xfrm>
        </p:spPr>
        <p:txBody>
          <a:bodyPr/>
          <a:lstStyle/>
          <a:p>
            <a:r>
              <a:rPr lang="en-US" sz="2000" b="1" dirty="0"/>
              <a:t>Examples of Batch based Operating System:</a:t>
            </a:r>
            <a:r>
              <a:rPr lang="en-US" sz="2000" dirty="0"/>
              <a:t> Payroll System, Bank Statements etc.</a:t>
            </a:r>
          </a:p>
          <a:p>
            <a:r>
              <a:rPr lang="en-US" sz="2000" b="1" dirty="0"/>
              <a:t>Examples of Time-Sharing OSs are:</a:t>
            </a:r>
            <a:r>
              <a:rPr lang="en-US" sz="2000" dirty="0"/>
              <a:t> Multics, Unix etc.</a:t>
            </a:r>
          </a:p>
          <a:p>
            <a:r>
              <a:rPr lang="en-US" sz="2000" b="1" dirty="0"/>
              <a:t>Examples of Distributed Operating System are-</a:t>
            </a:r>
            <a:r>
              <a:rPr lang="en-US" sz="2000" dirty="0"/>
              <a:t> LOCUS , IRIX. ,DYNIX.,OSF/1.</a:t>
            </a:r>
          </a:p>
          <a:p>
            <a:r>
              <a:rPr lang="en-US" sz="2000" b="1" dirty="0"/>
              <a:t>Examples of Network Operating System are:</a:t>
            </a:r>
            <a:r>
              <a:rPr lang="en-US" sz="2000" dirty="0"/>
              <a:t> Microsoft Windows Server 2003, Microsoft Windows Server 2008, UNIX, Linux, Mac OS X, Novell NetWare, and BSD etc.</a:t>
            </a:r>
          </a:p>
          <a:p>
            <a:r>
              <a:rPr lang="en-US" sz="2000" b="1" dirty="0"/>
              <a:t>Example of Real time OS </a:t>
            </a:r>
            <a:r>
              <a:rPr lang="en-US" sz="2000" dirty="0"/>
              <a:t>: </a:t>
            </a:r>
            <a:r>
              <a:rPr lang="en-US" sz="2000" dirty="0" err="1"/>
              <a:t>FreeRTOS</a:t>
            </a:r>
            <a:r>
              <a:rPr lang="en-US" sz="2000" dirty="0"/>
              <a:t> Owned by Amazon ,</a:t>
            </a:r>
            <a:r>
              <a:rPr lang="en-US" sz="2000" dirty="0" err="1"/>
              <a:t>NoIntegrityGreen</a:t>
            </a:r>
            <a:r>
              <a:rPr lang="en-US" sz="2000" dirty="0"/>
              <a:t> Hills Keil RTX, </a:t>
            </a:r>
            <a:r>
              <a:rPr lang="en-US" sz="2000" b="1" dirty="0"/>
              <a:t>LynxOS </a:t>
            </a:r>
          </a:p>
          <a:p>
            <a:endParaRPr lang="en-IN" sz="1600" b="1" dirty="0"/>
          </a:p>
          <a:p>
            <a:endParaRPr lang="en-US" sz="16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AF1BE133-0409-496C-9EBD-27D918B8F679}"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073F1A0F-8C32-40FC-A553-2B25E9ACCEFD}" type="slidenum">
              <a:rPr lang="en-US"/>
              <a:pPr>
                <a:defRPr/>
              </a:pPr>
              <a:t>38</a:t>
            </a:fld>
            <a:endParaRPr lang="en-US"/>
          </a:p>
        </p:txBody>
      </p:sp>
      <p:sp>
        <p:nvSpPr>
          <p:cNvPr id="35843" name="Rectangle 2"/>
          <p:cNvSpPr>
            <a:spLocks noGrp="1" noChangeArrowheads="1"/>
          </p:cNvSpPr>
          <p:nvPr>
            <p:ph type="title"/>
          </p:nvPr>
        </p:nvSpPr>
        <p:spPr>
          <a:xfrm>
            <a:off x="542925" y="0"/>
            <a:ext cx="8248650" cy="1143000"/>
          </a:xfrm>
        </p:spPr>
        <p:txBody>
          <a:bodyPr/>
          <a:lstStyle/>
          <a:p>
            <a:pPr eaLnBrk="1" hangingPunct="1"/>
            <a:r>
              <a:rPr lang="en-US"/>
              <a:t>1.5 Computer Hardware Review (1)</a:t>
            </a:r>
          </a:p>
        </p:txBody>
      </p:sp>
      <p:sp>
        <p:nvSpPr>
          <p:cNvPr id="35844" name="Rectangle 3"/>
          <p:cNvSpPr>
            <a:spLocks noGrp="1" noChangeArrowheads="1"/>
          </p:cNvSpPr>
          <p:nvPr>
            <p:ph type="body" idx="1"/>
          </p:nvPr>
        </p:nvSpPr>
        <p:spPr>
          <a:xfrm>
            <a:off x="685800" y="5486400"/>
            <a:ext cx="7772400" cy="609600"/>
          </a:xfrm>
        </p:spPr>
        <p:txBody>
          <a:bodyPr/>
          <a:lstStyle/>
          <a:p>
            <a:pPr eaLnBrk="1" hangingPunct="1"/>
            <a:r>
              <a:rPr lang="en-US"/>
              <a:t>Components of a simple personal computer</a:t>
            </a:r>
          </a:p>
        </p:txBody>
      </p:sp>
      <p:pic>
        <p:nvPicPr>
          <p:cNvPr id="35845" name="Picture 5" descr="1-5"/>
          <p:cNvPicPr>
            <a:picLocks noChangeAspect="1" noChangeArrowheads="1"/>
          </p:cNvPicPr>
          <p:nvPr/>
        </p:nvPicPr>
        <p:blipFill>
          <a:blip r:embed="rId2"/>
          <a:srcRect/>
          <a:stretch>
            <a:fillRect/>
          </a:stretch>
        </p:blipFill>
        <p:spPr bwMode="auto">
          <a:xfrm>
            <a:off x="828675" y="1612900"/>
            <a:ext cx="7600950" cy="3035300"/>
          </a:xfrm>
          <a:prstGeom prst="rect">
            <a:avLst/>
          </a:prstGeom>
          <a:noFill/>
          <a:ln w="9525">
            <a:noFill/>
            <a:miter lim="800000"/>
            <a:headEnd/>
            <a:tailEnd/>
          </a:ln>
        </p:spPr>
      </p:pic>
      <p:sp>
        <p:nvSpPr>
          <p:cNvPr id="35846" name="Rectangle 6"/>
          <p:cNvSpPr>
            <a:spLocks noChangeArrowheads="1"/>
          </p:cNvSpPr>
          <p:nvPr/>
        </p:nvSpPr>
        <p:spPr bwMode="auto">
          <a:xfrm>
            <a:off x="3590925" y="1533525"/>
            <a:ext cx="733425" cy="195263"/>
          </a:xfrm>
          <a:prstGeom prst="rect">
            <a:avLst/>
          </a:prstGeom>
          <a:solidFill>
            <a:schemeClr val="bg1"/>
          </a:solidFill>
          <a:ln w="9525">
            <a:noFill/>
            <a:miter lim="800000"/>
            <a:headEnd/>
            <a:tailEnd/>
          </a:ln>
        </p:spPr>
        <p:txBody>
          <a:bodyPr wrap="none" anchor="ctr"/>
          <a:lstStyle/>
          <a:p>
            <a:endParaRPr lang="en-US"/>
          </a:p>
        </p:txBody>
      </p:sp>
      <p:sp>
        <p:nvSpPr>
          <p:cNvPr id="35847" name="Text Box 7"/>
          <p:cNvSpPr txBox="1">
            <a:spLocks noChangeArrowheads="1"/>
          </p:cNvSpPr>
          <p:nvPr/>
        </p:nvSpPr>
        <p:spPr bwMode="auto">
          <a:xfrm>
            <a:off x="3556000" y="1458913"/>
            <a:ext cx="774700" cy="304800"/>
          </a:xfrm>
          <a:prstGeom prst="rect">
            <a:avLst/>
          </a:prstGeom>
          <a:noFill/>
          <a:ln w="9525">
            <a:noFill/>
            <a:miter lim="800000"/>
            <a:headEnd/>
            <a:tailEnd/>
          </a:ln>
        </p:spPr>
        <p:txBody>
          <a:bodyPr wrap="none">
            <a:spAutoFit/>
          </a:bodyPr>
          <a:lstStyle/>
          <a:p>
            <a:r>
              <a:rPr lang="en-US" sz="1400"/>
              <a:t>Monitor</a:t>
            </a:r>
            <a:endParaRPr lang="en-US" sz="2400">
              <a:latin typeface="Times New Roman" pitchFamily="18" charset="0"/>
            </a:endParaRPr>
          </a:p>
        </p:txBody>
      </p:sp>
      <p:sp>
        <p:nvSpPr>
          <p:cNvPr id="35848" name="Rectangle 8"/>
          <p:cNvSpPr>
            <a:spLocks noChangeArrowheads="1"/>
          </p:cNvSpPr>
          <p:nvPr/>
        </p:nvSpPr>
        <p:spPr bwMode="auto">
          <a:xfrm>
            <a:off x="7997825" y="4570413"/>
            <a:ext cx="328613" cy="165100"/>
          </a:xfrm>
          <a:prstGeom prst="rect">
            <a:avLst/>
          </a:prstGeom>
          <a:solidFill>
            <a:schemeClr val="bg1"/>
          </a:solidFill>
          <a:ln w="9525">
            <a:noFill/>
            <a:miter lim="800000"/>
            <a:headEnd/>
            <a:tailEnd/>
          </a:ln>
        </p:spPr>
        <p:txBody>
          <a:bodyPr wrap="none" anchor="ctr"/>
          <a:lstStyle/>
          <a:p>
            <a:endParaRPr lang="en-US"/>
          </a:p>
        </p:txBody>
      </p:sp>
      <p:sp>
        <p:nvSpPr>
          <p:cNvPr id="35849" name="Text Box 9"/>
          <p:cNvSpPr txBox="1">
            <a:spLocks noChangeArrowheads="1"/>
          </p:cNvSpPr>
          <p:nvPr/>
        </p:nvSpPr>
        <p:spPr bwMode="auto">
          <a:xfrm>
            <a:off x="7527925" y="4494213"/>
            <a:ext cx="533400" cy="336550"/>
          </a:xfrm>
          <a:prstGeom prst="rect">
            <a:avLst/>
          </a:prstGeom>
          <a:noFill/>
          <a:ln w="9525">
            <a:noFill/>
            <a:miter lim="800000"/>
            <a:headEnd/>
            <a:tailEnd/>
          </a:ln>
        </p:spPr>
        <p:txBody>
          <a:bodyPr wrap="none">
            <a:spAutoFit/>
          </a:bodyPr>
          <a:lstStyle/>
          <a:p>
            <a:r>
              <a:rPr lang="en-US" sz="1600"/>
              <a:t>Bus</a:t>
            </a:r>
            <a:endParaRPr lang="en-US" sz="2400">
              <a:latin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52B5645A-631F-48FB-8501-6DC4A0D6EBED}" type="slidenum">
              <a:rPr lang="en-US"/>
              <a:pPr>
                <a:defRPr/>
              </a:pPr>
              <a:t>39</a:t>
            </a:fld>
            <a:endParaRPr lang="en-US"/>
          </a:p>
        </p:txBody>
      </p:sp>
      <p:sp>
        <p:nvSpPr>
          <p:cNvPr id="36867" name="Rectangle 2"/>
          <p:cNvSpPr>
            <a:spLocks noGrp="1" noChangeArrowheads="1"/>
          </p:cNvSpPr>
          <p:nvPr>
            <p:ph type="title"/>
          </p:nvPr>
        </p:nvSpPr>
        <p:spPr>
          <a:xfrm>
            <a:off x="657225" y="0"/>
            <a:ext cx="7772400" cy="1143000"/>
          </a:xfrm>
        </p:spPr>
        <p:txBody>
          <a:bodyPr/>
          <a:lstStyle/>
          <a:p>
            <a:pPr eaLnBrk="1" hangingPunct="1"/>
            <a:r>
              <a:rPr lang="en-US"/>
              <a:t>Computer Hardware Review (2)</a:t>
            </a:r>
          </a:p>
        </p:txBody>
      </p:sp>
      <p:sp>
        <p:nvSpPr>
          <p:cNvPr id="36868" name="Rectangle 3"/>
          <p:cNvSpPr>
            <a:spLocks noGrp="1" noChangeArrowheads="1"/>
          </p:cNvSpPr>
          <p:nvPr>
            <p:ph type="body" idx="1"/>
          </p:nvPr>
        </p:nvSpPr>
        <p:spPr>
          <a:xfrm>
            <a:off x="2600325" y="5114925"/>
            <a:ext cx="5857875" cy="981075"/>
          </a:xfrm>
        </p:spPr>
        <p:txBody>
          <a:bodyPr/>
          <a:lstStyle/>
          <a:p>
            <a:pPr eaLnBrk="1" hangingPunct="1">
              <a:lnSpc>
                <a:spcPct val="90000"/>
              </a:lnSpc>
              <a:buFontTx/>
              <a:buNone/>
            </a:pPr>
            <a:r>
              <a:rPr lang="en-US"/>
              <a:t>(a) A three-stage pipeline</a:t>
            </a:r>
          </a:p>
          <a:p>
            <a:pPr eaLnBrk="1" hangingPunct="1">
              <a:lnSpc>
                <a:spcPct val="90000"/>
              </a:lnSpc>
              <a:buFontTx/>
              <a:buNone/>
            </a:pPr>
            <a:r>
              <a:rPr lang="en-US"/>
              <a:t>(b) A superscalar CPU</a:t>
            </a:r>
            <a:endParaRPr lang="en-US" sz="2800"/>
          </a:p>
        </p:txBody>
      </p:sp>
      <p:pic>
        <p:nvPicPr>
          <p:cNvPr id="36869" name="Picture 5"/>
          <p:cNvPicPr>
            <a:picLocks noChangeAspect="1" noChangeArrowheads="1"/>
          </p:cNvPicPr>
          <p:nvPr/>
        </p:nvPicPr>
        <p:blipFill>
          <a:blip r:embed="rId2"/>
          <a:srcRect/>
          <a:stretch>
            <a:fillRect/>
          </a:stretch>
        </p:blipFill>
        <p:spPr bwMode="auto">
          <a:xfrm>
            <a:off x="228600" y="1955800"/>
            <a:ext cx="8801100" cy="2665413"/>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6C820C73-98AD-4F5B-835C-427CA8905046}" type="slidenum">
              <a:rPr lang="en-US"/>
              <a:pPr>
                <a:defRPr/>
              </a:pPr>
              <a:t>40</a:t>
            </a:fld>
            <a:endParaRPr lang="en-US"/>
          </a:p>
        </p:txBody>
      </p:sp>
      <p:sp>
        <p:nvSpPr>
          <p:cNvPr id="37891" name="Rectangle 2"/>
          <p:cNvSpPr>
            <a:spLocks noGrp="1" noChangeArrowheads="1"/>
          </p:cNvSpPr>
          <p:nvPr>
            <p:ph type="title"/>
          </p:nvPr>
        </p:nvSpPr>
        <p:spPr>
          <a:xfrm>
            <a:off x="628650" y="0"/>
            <a:ext cx="7772400" cy="1143000"/>
          </a:xfrm>
        </p:spPr>
        <p:txBody>
          <a:bodyPr/>
          <a:lstStyle/>
          <a:p>
            <a:pPr eaLnBrk="1" hangingPunct="1"/>
            <a:r>
              <a:rPr lang="en-US"/>
              <a:t>Computer Hardware Review (3)</a:t>
            </a:r>
          </a:p>
        </p:txBody>
      </p:sp>
      <p:sp>
        <p:nvSpPr>
          <p:cNvPr id="37892" name="Rectangle 3"/>
          <p:cNvSpPr>
            <a:spLocks noGrp="1" noChangeArrowheads="1"/>
          </p:cNvSpPr>
          <p:nvPr>
            <p:ph type="body" idx="1"/>
          </p:nvPr>
        </p:nvSpPr>
        <p:spPr>
          <a:xfrm>
            <a:off x="1828800" y="5486400"/>
            <a:ext cx="7772400" cy="533400"/>
          </a:xfrm>
        </p:spPr>
        <p:txBody>
          <a:bodyPr/>
          <a:lstStyle/>
          <a:p>
            <a:pPr eaLnBrk="1" hangingPunct="1">
              <a:lnSpc>
                <a:spcPct val="90000"/>
              </a:lnSpc>
            </a:pPr>
            <a:r>
              <a:rPr lang="en-US"/>
              <a:t>Typical memory hierarchy</a:t>
            </a:r>
            <a:endParaRPr lang="en-US" sz="2800"/>
          </a:p>
          <a:p>
            <a:pPr lvl="1" eaLnBrk="1" hangingPunct="1">
              <a:lnSpc>
                <a:spcPct val="90000"/>
              </a:lnSpc>
            </a:pPr>
            <a:r>
              <a:rPr lang="en-US"/>
              <a:t>numbers shown are rough approximations</a:t>
            </a:r>
            <a:endParaRPr lang="en-US" sz="2400"/>
          </a:p>
        </p:txBody>
      </p:sp>
      <p:pic>
        <p:nvPicPr>
          <p:cNvPr id="37893" name="Picture 5"/>
          <p:cNvPicPr>
            <a:picLocks noChangeAspect="1" noChangeArrowheads="1"/>
          </p:cNvPicPr>
          <p:nvPr/>
        </p:nvPicPr>
        <p:blipFill>
          <a:blip r:embed="rId2"/>
          <a:srcRect/>
          <a:stretch>
            <a:fillRect/>
          </a:stretch>
        </p:blipFill>
        <p:spPr bwMode="auto">
          <a:xfrm>
            <a:off x="371475" y="1214438"/>
            <a:ext cx="8343900" cy="332422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C1FAE204-2E99-4196-9DAA-2F02E2C91436}" type="slidenum">
              <a:rPr lang="en-US"/>
              <a:pPr>
                <a:defRPr/>
              </a:pPr>
              <a:t>41</a:t>
            </a:fld>
            <a:endParaRPr lang="en-US"/>
          </a:p>
        </p:txBody>
      </p:sp>
      <p:sp>
        <p:nvSpPr>
          <p:cNvPr id="38915" name="Rectangle 2"/>
          <p:cNvSpPr>
            <a:spLocks noGrp="1" noChangeArrowheads="1"/>
          </p:cNvSpPr>
          <p:nvPr>
            <p:ph type="title"/>
          </p:nvPr>
        </p:nvSpPr>
        <p:spPr>
          <a:xfrm>
            <a:off x="600075" y="0"/>
            <a:ext cx="7772400" cy="1143000"/>
          </a:xfrm>
        </p:spPr>
        <p:txBody>
          <a:bodyPr/>
          <a:lstStyle/>
          <a:p>
            <a:pPr eaLnBrk="1" hangingPunct="1"/>
            <a:r>
              <a:rPr lang="en-US"/>
              <a:t>Computer Hardware Review (4)</a:t>
            </a:r>
          </a:p>
        </p:txBody>
      </p:sp>
      <p:sp>
        <p:nvSpPr>
          <p:cNvPr id="38916" name="Rectangle 3"/>
          <p:cNvSpPr>
            <a:spLocks noGrp="1" noChangeArrowheads="1"/>
          </p:cNvSpPr>
          <p:nvPr>
            <p:ph type="body" idx="1"/>
          </p:nvPr>
        </p:nvSpPr>
        <p:spPr>
          <a:xfrm>
            <a:off x="685800" y="5267325"/>
            <a:ext cx="7772400" cy="828675"/>
          </a:xfrm>
        </p:spPr>
        <p:txBody>
          <a:bodyPr/>
          <a:lstStyle/>
          <a:p>
            <a:pPr algn="ctr" eaLnBrk="1" hangingPunct="1">
              <a:buFontTx/>
              <a:buNone/>
            </a:pPr>
            <a:r>
              <a:rPr lang="en-US"/>
              <a:t>Structure of a disk drive</a:t>
            </a:r>
          </a:p>
        </p:txBody>
      </p:sp>
      <p:pic>
        <p:nvPicPr>
          <p:cNvPr id="38917" name="Picture 5" descr="1-8"/>
          <p:cNvPicPr>
            <a:picLocks noChangeAspect="1" noChangeArrowheads="1"/>
          </p:cNvPicPr>
          <p:nvPr/>
        </p:nvPicPr>
        <p:blipFill>
          <a:blip r:embed="rId2"/>
          <a:srcRect/>
          <a:stretch>
            <a:fillRect/>
          </a:stretch>
        </p:blipFill>
        <p:spPr bwMode="auto">
          <a:xfrm>
            <a:off x="1466850" y="1327150"/>
            <a:ext cx="6375400" cy="36687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84B54137-CDBE-4C48-9F3F-5508B950590C}" type="slidenum">
              <a:rPr lang="en-US"/>
              <a:pPr>
                <a:defRPr/>
              </a:pPr>
              <a:t>42</a:t>
            </a:fld>
            <a:endParaRPr lang="en-US"/>
          </a:p>
        </p:txBody>
      </p:sp>
      <p:sp>
        <p:nvSpPr>
          <p:cNvPr id="39939" name="Rectangle 2"/>
          <p:cNvSpPr>
            <a:spLocks noGrp="1" noChangeArrowheads="1"/>
          </p:cNvSpPr>
          <p:nvPr>
            <p:ph type="title"/>
          </p:nvPr>
        </p:nvSpPr>
        <p:spPr>
          <a:xfrm>
            <a:off x="571500" y="0"/>
            <a:ext cx="7772400" cy="1143000"/>
          </a:xfrm>
        </p:spPr>
        <p:txBody>
          <a:bodyPr/>
          <a:lstStyle/>
          <a:p>
            <a:pPr eaLnBrk="1" hangingPunct="1"/>
            <a:r>
              <a:rPr lang="en-US"/>
              <a:t>Computer Hardware Review (5)</a:t>
            </a:r>
          </a:p>
        </p:txBody>
      </p:sp>
      <p:sp>
        <p:nvSpPr>
          <p:cNvPr id="39940" name="Rectangle 3"/>
          <p:cNvSpPr>
            <a:spLocks noGrp="1" noChangeArrowheads="1"/>
          </p:cNvSpPr>
          <p:nvPr>
            <p:ph type="body" idx="1"/>
          </p:nvPr>
        </p:nvSpPr>
        <p:spPr>
          <a:xfrm>
            <a:off x="828675" y="5743575"/>
            <a:ext cx="7772400" cy="685800"/>
          </a:xfrm>
        </p:spPr>
        <p:txBody>
          <a:bodyPr/>
          <a:lstStyle/>
          <a:p>
            <a:pPr algn="ctr" eaLnBrk="1" hangingPunct="1">
              <a:buFontTx/>
              <a:buNone/>
            </a:pPr>
            <a:r>
              <a:rPr lang="en-US"/>
              <a:t>One base-limit pair and two base-limit pairs</a:t>
            </a:r>
          </a:p>
        </p:txBody>
      </p:sp>
      <p:pic>
        <p:nvPicPr>
          <p:cNvPr id="39941" name="Picture 5"/>
          <p:cNvPicPr>
            <a:picLocks noChangeAspect="1" noChangeArrowheads="1"/>
          </p:cNvPicPr>
          <p:nvPr/>
        </p:nvPicPr>
        <p:blipFill>
          <a:blip r:embed="rId2"/>
          <a:srcRect/>
          <a:stretch>
            <a:fillRect/>
          </a:stretch>
        </p:blipFill>
        <p:spPr bwMode="auto">
          <a:xfrm>
            <a:off x="1552575" y="1079500"/>
            <a:ext cx="6296025" cy="4516438"/>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A9F6A42-6AD4-445B-A215-974C8F476EC7}" type="slidenum">
              <a:rPr lang="en-US"/>
              <a:pPr>
                <a:defRPr/>
              </a:pPr>
              <a:t>43</a:t>
            </a:fld>
            <a:endParaRPr lang="en-US"/>
          </a:p>
        </p:txBody>
      </p:sp>
      <p:sp>
        <p:nvSpPr>
          <p:cNvPr id="40963" name="Rectangle 2"/>
          <p:cNvSpPr>
            <a:spLocks noGrp="1" noChangeArrowheads="1"/>
          </p:cNvSpPr>
          <p:nvPr>
            <p:ph type="title"/>
          </p:nvPr>
        </p:nvSpPr>
        <p:spPr/>
        <p:txBody>
          <a:bodyPr/>
          <a:lstStyle/>
          <a:p>
            <a:pPr eaLnBrk="1" hangingPunct="1"/>
            <a:r>
              <a:rPr lang="en-US"/>
              <a:t>1.6 Operating System Concepts </a:t>
            </a:r>
          </a:p>
        </p:txBody>
      </p:sp>
      <p:sp>
        <p:nvSpPr>
          <p:cNvPr id="40964" name="Rectangle 3"/>
          <p:cNvSpPr>
            <a:spLocks noGrp="1" noChangeArrowheads="1"/>
          </p:cNvSpPr>
          <p:nvPr>
            <p:ph type="body" idx="1"/>
          </p:nvPr>
        </p:nvSpPr>
        <p:spPr>
          <a:xfrm>
            <a:off x="685800" y="4410075"/>
            <a:ext cx="7772400" cy="1685925"/>
          </a:xfrm>
        </p:spPr>
        <p:txBody>
          <a:bodyPr/>
          <a:lstStyle/>
          <a:p>
            <a:pPr eaLnBrk="1" hangingPunct="1"/>
            <a:r>
              <a:rPr lang="en-US"/>
              <a:t>A process tree</a:t>
            </a:r>
          </a:p>
          <a:p>
            <a:pPr lvl="1" eaLnBrk="1" hangingPunct="1"/>
            <a:r>
              <a:rPr lang="en-US"/>
              <a:t>A created two child processes, B and C</a:t>
            </a:r>
          </a:p>
          <a:p>
            <a:pPr lvl="1" eaLnBrk="1" hangingPunct="1"/>
            <a:r>
              <a:rPr lang="en-US"/>
              <a:t>B created three child processes, D, E, and F</a:t>
            </a:r>
          </a:p>
        </p:txBody>
      </p:sp>
      <p:pic>
        <p:nvPicPr>
          <p:cNvPr id="40965" name="Picture 5" descr="1-12"/>
          <p:cNvPicPr>
            <a:picLocks noChangeAspect="1" noChangeArrowheads="1"/>
          </p:cNvPicPr>
          <p:nvPr/>
        </p:nvPicPr>
        <p:blipFill>
          <a:blip r:embed="rId2"/>
          <a:srcRect/>
          <a:stretch>
            <a:fillRect/>
          </a:stretch>
        </p:blipFill>
        <p:spPr bwMode="auto">
          <a:xfrm>
            <a:off x="2617788" y="1373188"/>
            <a:ext cx="3984625" cy="294322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FE5B9717-81A8-4026-817F-5687FEFB0AD2}" type="slidenum">
              <a:rPr lang="en-US"/>
              <a:pPr>
                <a:defRPr/>
              </a:pPr>
              <a:t>44</a:t>
            </a:fld>
            <a:endParaRPr lang="en-US"/>
          </a:p>
        </p:txBody>
      </p:sp>
      <p:sp>
        <p:nvSpPr>
          <p:cNvPr id="41987" name="Rectangle 2"/>
          <p:cNvSpPr>
            <a:spLocks noGrp="1" noChangeArrowheads="1"/>
          </p:cNvSpPr>
          <p:nvPr>
            <p:ph type="title"/>
          </p:nvPr>
        </p:nvSpPr>
        <p:spPr/>
        <p:txBody>
          <a:bodyPr/>
          <a:lstStyle/>
          <a:p>
            <a:pPr eaLnBrk="1" hangingPunct="1"/>
            <a:r>
              <a:rPr lang="en-US"/>
              <a:t>Operating System Concepts (2)</a:t>
            </a:r>
          </a:p>
        </p:txBody>
      </p:sp>
      <p:sp>
        <p:nvSpPr>
          <p:cNvPr id="41988" name="Rectangle 3"/>
          <p:cNvSpPr>
            <a:spLocks noGrp="1" noChangeArrowheads="1"/>
          </p:cNvSpPr>
          <p:nvPr>
            <p:ph type="body" idx="1"/>
          </p:nvPr>
        </p:nvSpPr>
        <p:spPr>
          <a:xfrm>
            <a:off x="-57150" y="5641975"/>
            <a:ext cx="9201150" cy="714375"/>
          </a:xfrm>
        </p:spPr>
        <p:txBody>
          <a:bodyPr/>
          <a:lstStyle/>
          <a:p>
            <a:pPr algn="ctr" eaLnBrk="1" hangingPunct="1">
              <a:buFontTx/>
              <a:buNone/>
            </a:pPr>
            <a:r>
              <a:rPr lang="en-US"/>
              <a:t>(a) A potential deadlock. (b) an actual deadlock.</a:t>
            </a:r>
          </a:p>
        </p:txBody>
      </p:sp>
      <p:pic>
        <p:nvPicPr>
          <p:cNvPr id="41989" name="Picture 5"/>
          <p:cNvPicPr>
            <a:picLocks noChangeAspect="1" noChangeArrowheads="1"/>
          </p:cNvPicPr>
          <p:nvPr/>
        </p:nvPicPr>
        <p:blipFill>
          <a:blip r:embed="rId2"/>
          <a:srcRect/>
          <a:stretch>
            <a:fillRect/>
          </a:stretch>
        </p:blipFill>
        <p:spPr bwMode="auto">
          <a:xfrm>
            <a:off x="473075" y="1500188"/>
            <a:ext cx="8228013" cy="340995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4B49E5D-EB65-42DD-BAD3-CC133156CCD1}" type="slidenum">
              <a:rPr lang="en-US"/>
              <a:pPr>
                <a:defRPr/>
              </a:pPr>
              <a:t>45</a:t>
            </a:fld>
            <a:endParaRPr lang="en-US"/>
          </a:p>
        </p:txBody>
      </p:sp>
      <p:sp>
        <p:nvSpPr>
          <p:cNvPr id="43011" name="Rectangle 2"/>
          <p:cNvSpPr>
            <a:spLocks noGrp="1" noChangeArrowheads="1"/>
          </p:cNvSpPr>
          <p:nvPr>
            <p:ph type="title"/>
          </p:nvPr>
        </p:nvSpPr>
        <p:spPr/>
        <p:txBody>
          <a:bodyPr/>
          <a:lstStyle/>
          <a:p>
            <a:pPr eaLnBrk="1" hangingPunct="1"/>
            <a:r>
              <a:rPr lang="en-US"/>
              <a:t>Operating System Concepts (3)</a:t>
            </a:r>
          </a:p>
        </p:txBody>
      </p:sp>
      <p:sp>
        <p:nvSpPr>
          <p:cNvPr id="43012" name="Rectangle 3"/>
          <p:cNvSpPr>
            <a:spLocks noGrp="1" noChangeArrowheads="1"/>
          </p:cNvSpPr>
          <p:nvPr>
            <p:ph type="body" idx="1"/>
          </p:nvPr>
        </p:nvSpPr>
        <p:spPr>
          <a:xfrm>
            <a:off x="685800" y="5924550"/>
            <a:ext cx="7772400" cy="542925"/>
          </a:xfrm>
        </p:spPr>
        <p:txBody>
          <a:bodyPr/>
          <a:lstStyle/>
          <a:p>
            <a:pPr algn="ctr" eaLnBrk="1" hangingPunct="1">
              <a:lnSpc>
                <a:spcPct val="90000"/>
              </a:lnSpc>
              <a:buFontTx/>
              <a:buNone/>
            </a:pPr>
            <a:r>
              <a:rPr lang="en-US"/>
              <a:t>File system for a university department</a:t>
            </a:r>
          </a:p>
        </p:txBody>
      </p:sp>
      <p:pic>
        <p:nvPicPr>
          <p:cNvPr id="43013" name="Picture 5" descr="1-14"/>
          <p:cNvPicPr>
            <a:picLocks noChangeAspect="1" noChangeArrowheads="1"/>
          </p:cNvPicPr>
          <p:nvPr/>
        </p:nvPicPr>
        <p:blipFill>
          <a:blip r:embed="rId2"/>
          <a:srcRect/>
          <a:stretch>
            <a:fillRect/>
          </a:stretch>
        </p:blipFill>
        <p:spPr bwMode="auto">
          <a:xfrm>
            <a:off x="1273175" y="1246188"/>
            <a:ext cx="6273800" cy="418306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BD6206C-54C2-4C77-8665-2EF7720D7223}" type="slidenum">
              <a:rPr lang="en-US"/>
              <a:pPr>
                <a:defRPr/>
              </a:pPr>
              <a:t>46</a:t>
            </a:fld>
            <a:endParaRPr lang="en-US"/>
          </a:p>
        </p:txBody>
      </p:sp>
      <p:sp>
        <p:nvSpPr>
          <p:cNvPr id="44035" name="Rectangle 2"/>
          <p:cNvSpPr>
            <a:spLocks noGrp="1" noChangeArrowheads="1"/>
          </p:cNvSpPr>
          <p:nvPr>
            <p:ph type="title"/>
          </p:nvPr>
        </p:nvSpPr>
        <p:spPr/>
        <p:txBody>
          <a:bodyPr/>
          <a:lstStyle/>
          <a:p>
            <a:pPr eaLnBrk="1" hangingPunct="1"/>
            <a:r>
              <a:rPr lang="en-US"/>
              <a:t>Operating System Concepts (4)</a:t>
            </a:r>
          </a:p>
        </p:txBody>
      </p:sp>
      <p:sp>
        <p:nvSpPr>
          <p:cNvPr id="44036" name="Rectangle 3"/>
          <p:cNvSpPr>
            <a:spLocks noGrp="1" noChangeArrowheads="1"/>
          </p:cNvSpPr>
          <p:nvPr>
            <p:ph type="body" idx="1"/>
          </p:nvPr>
        </p:nvSpPr>
        <p:spPr>
          <a:xfrm>
            <a:off x="614363" y="4681538"/>
            <a:ext cx="7772400" cy="771525"/>
          </a:xfrm>
        </p:spPr>
        <p:txBody>
          <a:bodyPr/>
          <a:lstStyle/>
          <a:p>
            <a:pPr eaLnBrk="1" hangingPunct="1">
              <a:lnSpc>
                <a:spcPct val="90000"/>
              </a:lnSpc>
            </a:pPr>
            <a:r>
              <a:rPr lang="en-US" sz="2800"/>
              <a:t>Before mounting, </a:t>
            </a:r>
          </a:p>
          <a:p>
            <a:pPr lvl="1" eaLnBrk="1" hangingPunct="1">
              <a:lnSpc>
                <a:spcPct val="90000"/>
              </a:lnSpc>
            </a:pPr>
            <a:r>
              <a:rPr lang="en-US" sz="2400"/>
              <a:t>files on floppy are inaccessible</a:t>
            </a:r>
          </a:p>
          <a:p>
            <a:pPr eaLnBrk="1" hangingPunct="1">
              <a:lnSpc>
                <a:spcPct val="90000"/>
              </a:lnSpc>
            </a:pPr>
            <a:r>
              <a:rPr lang="en-US" sz="2800"/>
              <a:t>After mounting floppy on b,</a:t>
            </a:r>
          </a:p>
          <a:p>
            <a:pPr lvl="1" eaLnBrk="1" hangingPunct="1">
              <a:lnSpc>
                <a:spcPct val="90000"/>
              </a:lnSpc>
            </a:pPr>
            <a:r>
              <a:rPr lang="en-US" sz="2400"/>
              <a:t>files on floppy are part of file hierarchy</a:t>
            </a:r>
          </a:p>
        </p:txBody>
      </p:sp>
      <p:pic>
        <p:nvPicPr>
          <p:cNvPr id="44037" name="Picture 6" descr="1-15"/>
          <p:cNvPicPr>
            <a:picLocks noChangeAspect="1" noChangeArrowheads="1"/>
          </p:cNvPicPr>
          <p:nvPr/>
        </p:nvPicPr>
        <p:blipFill>
          <a:blip r:embed="rId2"/>
          <a:srcRect/>
          <a:stretch>
            <a:fillRect/>
          </a:stretch>
        </p:blipFill>
        <p:spPr bwMode="auto">
          <a:xfrm>
            <a:off x="935038" y="1524000"/>
            <a:ext cx="7321550" cy="28194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685800" y="461963"/>
            <a:ext cx="7772400" cy="1143000"/>
          </a:xfrm>
        </p:spPr>
        <p:txBody>
          <a:bodyPr/>
          <a:lstStyle/>
          <a:p>
            <a:r>
              <a:rPr lang="en-US" b="1"/>
              <a:t>Difference between Firmware and Operating System</a:t>
            </a:r>
            <a:br>
              <a:rPr lang="en-US" b="1"/>
            </a:br>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6787ECC-9786-4504-9B41-FE97B4B7CCDD}" type="slidenum">
              <a:rPr lang="en-US" smtClean="0"/>
              <a:pPr>
                <a:defRPr/>
              </a:pPr>
              <a:t>47</a:t>
            </a:fld>
            <a:endParaRPr lang="en-US"/>
          </a:p>
        </p:txBody>
      </p:sp>
      <p:graphicFrame>
        <p:nvGraphicFramePr>
          <p:cNvPr id="5" name="Table 4"/>
          <p:cNvGraphicFramePr>
            <a:graphicFrameLocks noGrp="1"/>
          </p:cNvGraphicFramePr>
          <p:nvPr/>
        </p:nvGraphicFramePr>
        <p:xfrm>
          <a:off x="628650" y="1766888"/>
          <a:ext cx="6990826" cy="4315130"/>
        </p:xfrm>
        <a:graphic>
          <a:graphicData uri="http://schemas.openxmlformats.org/drawingml/2006/table">
            <a:tbl>
              <a:tblPr/>
              <a:tblGrid>
                <a:gridCol w="3495413">
                  <a:extLst>
                    <a:ext uri="{9D8B030D-6E8A-4147-A177-3AD203B41FA5}">
                      <a16:colId xmlns:a16="http://schemas.microsoft.com/office/drawing/2014/main" val="20000"/>
                    </a:ext>
                  </a:extLst>
                </a:gridCol>
                <a:gridCol w="3495413">
                  <a:extLst>
                    <a:ext uri="{9D8B030D-6E8A-4147-A177-3AD203B41FA5}">
                      <a16:colId xmlns:a16="http://schemas.microsoft.com/office/drawing/2014/main" val="20001"/>
                    </a:ext>
                  </a:extLst>
                </a:gridCol>
              </a:tblGrid>
              <a:tr h="487797">
                <a:tc>
                  <a:txBody>
                    <a:bodyPr/>
                    <a:lstStyle/>
                    <a:p>
                      <a:pPr algn="l" fontAlgn="t"/>
                      <a:r>
                        <a:rPr lang="en-US" sz="1700" b="1" dirty="0"/>
                        <a:t>Firmware</a:t>
                      </a:r>
                      <a:endParaRPr lang="en-US" sz="1700" dirty="0"/>
                    </a:p>
                  </a:txBody>
                  <a:tcPr marL="57837" marR="57837" marT="57837" marB="57837">
                    <a:lnL w="12700" cap="flat" cmpd="sng" algn="ctr">
                      <a:solidFill>
                        <a:srgbClr val="60E1B3"/>
                      </a:solidFill>
                      <a:prstDash val="solid"/>
                      <a:round/>
                      <a:headEnd type="none" w="med" len="med"/>
                      <a:tailEnd type="none" w="med" len="med"/>
                    </a:lnL>
                    <a:lnR w="12700" cap="flat" cmpd="sng" algn="ctr">
                      <a:solidFill>
                        <a:srgbClr val="40761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700" b="1"/>
                        <a:t>Operating System</a:t>
                      </a:r>
                      <a:endParaRPr lang="en-US" sz="1700"/>
                    </a:p>
                  </a:txBody>
                  <a:tcPr marL="57837" marR="57837" marT="57837" marB="57837">
                    <a:lnL w="12700" cap="flat" cmpd="sng" algn="ctr">
                      <a:solidFill>
                        <a:srgbClr val="407616"/>
                      </a:solidFill>
                      <a:prstDash val="solid"/>
                      <a:round/>
                      <a:headEnd type="none" w="med" len="med"/>
                      <a:tailEnd type="none" w="med" len="med"/>
                    </a:lnL>
                    <a:lnR w="12700" cap="flat" cmpd="sng" algn="ctr">
                      <a:solidFill>
                        <a:srgbClr val="00061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500915">
                <a:tc>
                  <a:txBody>
                    <a:bodyPr/>
                    <a:lstStyle/>
                    <a:p>
                      <a:pPr algn="l" fontAlgn="t"/>
                      <a:r>
                        <a:rPr lang="en-US" sz="1700"/>
                        <a:t>Firmware is one kind of programming that is embedded on a chip in the device which controls that specific device.</a:t>
                      </a:r>
                    </a:p>
                  </a:txBody>
                  <a:tcPr marL="57837" marR="57837" marT="57837" marB="57837">
                    <a:lnL w="12700" cap="flat" cmpd="sng" algn="ctr">
                      <a:solidFill>
                        <a:srgbClr val="500E18"/>
                      </a:solidFill>
                      <a:prstDash val="solid"/>
                      <a:round/>
                      <a:headEnd type="none" w="med" len="med"/>
                      <a:tailEnd type="none" w="med" len="med"/>
                    </a:lnL>
                    <a:lnR w="12700" cap="flat" cmpd="sng" algn="ctr">
                      <a:solidFill>
                        <a:srgbClr val="702F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700"/>
                        <a:t>OS provides functionality over and above that which is provided by the firmware.</a:t>
                      </a:r>
                    </a:p>
                  </a:txBody>
                  <a:tcPr marL="57837" marR="57837" marT="57837" marB="57837">
                    <a:lnL w="12700" cap="flat" cmpd="sng" algn="ctr">
                      <a:solidFill>
                        <a:srgbClr val="702F36"/>
                      </a:solidFill>
                      <a:prstDash val="solid"/>
                      <a:round/>
                      <a:headEnd type="none" w="med" len="med"/>
                      <a:tailEnd type="none" w="med" len="med"/>
                    </a:lnL>
                    <a:lnR w="12700" cap="flat" cmpd="sng" algn="ctr">
                      <a:solidFill>
                        <a:srgbClr val="802D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00915">
                <a:tc>
                  <a:txBody>
                    <a:bodyPr/>
                    <a:lstStyle/>
                    <a:p>
                      <a:pPr algn="l" fontAlgn="t"/>
                      <a:r>
                        <a:rPr lang="en-US" sz="1700" dirty="0"/>
                        <a:t>Firmware is programs that been encoded by the manufacture of the IC or something and cannot be changed.</a:t>
                      </a:r>
                    </a:p>
                  </a:txBody>
                  <a:tcPr marL="57837" marR="57837" marT="57837" marB="57837">
                    <a:lnL w="12700" cap="flat" cmpd="sng" algn="ctr">
                      <a:solidFill>
                        <a:srgbClr val="40E036"/>
                      </a:solidFill>
                      <a:prstDash val="solid"/>
                      <a:round/>
                      <a:headEnd type="none" w="med" len="med"/>
                      <a:tailEnd type="none" w="med" len="med"/>
                    </a:lnL>
                    <a:lnR w="12700" cap="flat" cmpd="sng" algn="ctr">
                      <a:solidFill>
                        <a:srgbClr val="9030B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700"/>
                        <a:t>OS is a program that can be installed by the user and can be changed.</a:t>
                      </a:r>
                    </a:p>
                  </a:txBody>
                  <a:tcPr marL="57837" marR="57837" marT="57837" marB="57837">
                    <a:lnL w="12700" cap="flat" cmpd="sng" algn="ctr">
                      <a:solidFill>
                        <a:srgbClr val="9030B8"/>
                      </a:solidFill>
                      <a:prstDash val="solid"/>
                      <a:round/>
                      <a:headEnd type="none" w="med" len="med"/>
                      <a:tailEnd type="none" w="med" len="med"/>
                    </a:lnL>
                    <a:lnR w="12700" cap="flat" cmpd="sng" algn="ctr">
                      <a:solidFill>
                        <a:srgbClr val="A0E2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825503">
                <a:tc>
                  <a:txBody>
                    <a:bodyPr/>
                    <a:lstStyle/>
                    <a:p>
                      <a:pPr algn="l" fontAlgn="t"/>
                      <a:r>
                        <a:rPr lang="en-US" sz="1700"/>
                        <a:t>It is stored on non-volatile memory.</a:t>
                      </a:r>
                    </a:p>
                  </a:txBody>
                  <a:tcPr marL="57837" marR="57837" marT="57837" marB="57837">
                    <a:lnL w="12700" cap="flat" cmpd="sng" algn="ctr">
                      <a:solidFill>
                        <a:srgbClr val="8035B8"/>
                      </a:solidFill>
                      <a:prstDash val="solid"/>
                      <a:round/>
                      <a:headEnd type="none" w="med" len="med"/>
                      <a:tailEnd type="none" w="med" len="med"/>
                    </a:lnL>
                    <a:lnR w="12700" cap="flat" cmpd="sng" algn="ctr">
                      <a:solidFill>
                        <a:srgbClr val="5037B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5035B8"/>
                      </a:solidFill>
                      <a:prstDash val="solid"/>
                      <a:round/>
                      <a:headEnd type="none" w="med" len="med"/>
                      <a:tailEnd type="none" w="med" len="med"/>
                    </a:lnB>
                    <a:solidFill>
                      <a:srgbClr val="FFFFFF"/>
                    </a:solidFill>
                  </a:tcPr>
                </a:tc>
                <a:tc>
                  <a:txBody>
                    <a:bodyPr/>
                    <a:lstStyle/>
                    <a:p>
                      <a:pPr algn="l" fontAlgn="t"/>
                      <a:r>
                        <a:rPr lang="en-US" sz="1700" dirty="0"/>
                        <a:t>OS is stored on the hard drive.</a:t>
                      </a:r>
                    </a:p>
                  </a:txBody>
                  <a:tcPr marL="57837" marR="57837" marT="57837" marB="57837">
                    <a:lnL w="12700" cap="flat" cmpd="sng" algn="ctr">
                      <a:solidFill>
                        <a:srgbClr val="5037B8"/>
                      </a:solidFill>
                      <a:prstDash val="solid"/>
                      <a:round/>
                      <a:headEnd type="none" w="med" len="med"/>
                      <a:tailEnd type="none" w="med" len="med"/>
                    </a:lnL>
                    <a:lnR w="12700" cap="flat" cmpd="sng" algn="ctr">
                      <a:solidFill>
                        <a:srgbClr val="9036B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D036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785786" y="214290"/>
            <a:ext cx="7772400" cy="1143000"/>
          </a:xfrm>
        </p:spPr>
        <p:txBody>
          <a:bodyPr/>
          <a:lstStyle/>
          <a:p>
            <a:r>
              <a:rPr lang="en-US" b="1" dirty="0"/>
              <a:t>Difference between 32-Bit vs. 64 Bit Operating System</a:t>
            </a:r>
            <a:br>
              <a:rPr lang="en-US" b="1" dirty="0"/>
            </a:br>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DC43896-11A1-4481-9927-DE402B6C3AFA}" type="slidenum">
              <a:rPr lang="en-US" smtClean="0"/>
              <a:pPr>
                <a:defRPr/>
              </a:pPr>
              <a:t>48</a:t>
            </a:fld>
            <a:endParaRPr lang="en-US"/>
          </a:p>
        </p:txBody>
      </p:sp>
      <p:graphicFrame>
        <p:nvGraphicFramePr>
          <p:cNvPr id="5" name="Table 4"/>
          <p:cNvGraphicFramePr>
            <a:graphicFrameLocks noGrp="1"/>
          </p:cNvGraphicFramePr>
          <p:nvPr/>
        </p:nvGraphicFramePr>
        <p:xfrm>
          <a:off x="1039813" y="1397000"/>
          <a:ext cx="7071918" cy="5121245"/>
        </p:xfrm>
        <a:graphic>
          <a:graphicData uri="http://schemas.openxmlformats.org/drawingml/2006/table">
            <a:tbl>
              <a:tblPr/>
              <a:tblGrid>
                <a:gridCol w="1887523">
                  <a:extLst>
                    <a:ext uri="{9D8B030D-6E8A-4147-A177-3AD203B41FA5}">
                      <a16:colId xmlns:a16="http://schemas.microsoft.com/office/drawing/2014/main" val="20000"/>
                    </a:ext>
                  </a:extLst>
                </a:gridCol>
                <a:gridCol w="2827089">
                  <a:extLst>
                    <a:ext uri="{9D8B030D-6E8A-4147-A177-3AD203B41FA5}">
                      <a16:colId xmlns:a16="http://schemas.microsoft.com/office/drawing/2014/main" val="20001"/>
                    </a:ext>
                  </a:extLst>
                </a:gridCol>
                <a:gridCol w="2357306">
                  <a:extLst>
                    <a:ext uri="{9D8B030D-6E8A-4147-A177-3AD203B41FA5}">
                      <a16:colId xmlns:a16="http://schemas.microsoft.com/office/drawing/2014/main" val="20002"/>
                    </a:ext>
                  </a:extLst>
                </a:gridCol>
              </a:tblGrid>
              <a:tr h="429524">
                <a:tc>
                  <a:txBody>
                    <a:bodyPr/>
                    <a:lstStyle/>
                    <a:p>
                      <a:pPr algn="l" fontAlgn="t"/>
                      <a:r>
                        <a:rPr lang="en-US" sz="1500" b="1" dirty="0"/>
                        <a:t>Parameters</a:t>
                      </a:r>
                      <a:endParaRPr lang="en-US" sz="1500" dirty="0"/>
                    </a:p>
                  </a:txBody>
                  <a:tcPr marL="52439" marR="52439" marT="52439" marB="52439">
                    <a:lnL w="12700" cap="flat" cmpd="sng" algn="ctr">
                      <a:solidFill>
                        <a:srgbClr val="600628"/>
                      </a:solidFill>
                      <a:prstDash val="solid"/>
                      <a:round/>
                      <a:headEnd type="none" w="med" len="med"/>
                      <a:tailEnd type="none" w="med" len="med"/>
                    </a:lnL>
                    <a:lnR w="12700" cap="flat" cmpd="sng" algn="ctr">
                      <a:solidFill>
                        <a:srgbClr val="2008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b="1"/>
                        <a:t>32. Bit</a:t>
                      </a:r>
                      <a:endParaRPr lang="en-US" sz="1500"/>
                    </a:p>
                  </a:txBody>
                  <a:tcPr marL="52439" marR="52439" marT="52439" marB="52439">
                    <a:lnL w="12700" cap="flat" cmpd="sng" algn="ctr">
                      <a:solidFill>
                        <a:srgbClr val="200828"/>
                      </a:solidFill>
                      <a:prstDash val="solid"/>
                      <a:round/>
                      <a:headEnd type="none" w="med" len="med"/>
                      <a:tailEnd type="none" w="med" len="med"/>
                    </a:lnL>
                    <a:lnR w="12700" cap="flat" cmpd="sng" algn="ctr">
                      <a:solidFill>
                        <a:srgbClr val="2007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b="1"/>
                        <a:t>64. Bit</a:t>
                      </a:r>
                      <a:endParaRPr lang="en-US" sz="1500"/>
                    </a:p>
                  </a:txBody>
                  <a:tcPr marL="52439" marR="52439" marT="52439" marB="52439">
                    <a:lnL w="12700" cap="flat" cmpd="sng" algn="ctr">
                      <a:solidFill>
                        <a:srgbClr val="200728"/>
                      </a:solidFill>
                      <a:prstDash val="solid"/>
                      <a:round/>
                      <a:headEnd type="none" w="med" len="med"/>
                      <a:tailEnd type="none" w="med" len="med"/>
                    </a:lnL>
                    <a:lnR w="12700" cap="flat" cmpd="sng" algn="ctr">
                      <a:solidFill>
                        <a:srgbClr val="B007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024249">
                <a:tc>
                  <a:txBody>
                    <a:bodyPr/>
                    <a:lstStyle/>
                    <a:p>
                      <a:pPr algn="l" fontAlgn="t"/>
                      <a:r>
                        <a:rPr lang="en-US" sz="1500" dirty="0"/>
                        <a:t>Architecture and Software</a:t>
                      </a:r>
                    </a:p>
                  </a:txBody>
                  <a:tcPr marL="52439" marR="52439" marT="52439" marB="52439">
                    <a:lnL w="12700" cap="flat" cmpd="sng" algn="ctr">
                      <a:solidFill>
                        <a:srgbClr val="500728"/>
                      </a:solidFill>
                      <a:prstDash val="solid"/>
                      <a:round/>
                      <a:headEnd type="none" w="med" len="med"/>
                      <a:tailEnd type="none" w="med" len="med"/>
                    </a:lnL>
                    <a:lnR w="12700" cap="flat" cmpd="sng" algn="ctr">
                      <a:solidFill>
                        <a:srgbClr val="200A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Allow 32 bit of data processing simultaneously</a:t>
                      </a:r>
                    </a:p>
                  </a:txBody>
                  <a:tcPr marL="52439" marR="52439" marT="52439" marB="52439">
                    <a:lnL w="12700" cap="flat" cmpd="sng" algn="ctr">
                      <a:solidFill>
                        <a:srgbClr val="200A28"/>
                      </a:solidFill>
                      <a:prstDash val="solid"/>
                      <a:round/>
                      <a:headEnd type="none" w="med" len="med"/>
                      <a:tailEnd type="none" w="med" len="med"/>
                    </a:lnL>
                    <a:lnR w="12700" cap="flat" cmpd="sng" algn="ctr">
                      <a:solidFill>
                        <a:srgbClr val="400B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Allow 64 bit of data processing simultaneously</a:t>
                      </a:r>
                    </a:p>
                  </a:txBody>
                  <a:tcPr marL="52439" marR="52439" marT="52439" marB="52439">
                    <a:lnL w="12700" cap="flat" cmpd="sng" algn="ctr">
                      <a:solidFill>
                        <a:srgbClr val="400B28"/>
                      </a:solidFill>
                      <a:prstDash val="solid"/>
                      <a:round/>
                      <a:headEnd type="none" w="med" len="med"/>
                      <a:tailEnd type="none" w="med" len="med"/>
                    </a:lnL>
                    <a:lnR w="12700" cap="flat" cmpd="sng" algn="ctr">
                      <a:solidFill>
                        <a:srgbClr val="900A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4249">
                <a:tc>
                  <a:txBody>
                    <a:bodyPr/>
                    <a:lstStyle/>
                    <a:p>
                      <a:pPr algn="l" fontAlgn="t"/>
                      <a:r>
                        <a:rPr lang="en-US" sz="1500" dirty="0"/>
                        <a:t>Compatibility</a:t>
                      </a:r>
                    </a:p>
                  </a:txBody>
                  <a:tcPr marL="52439" marR="52439" marT="52439" marB="52439">
                    <a:lnL w="12700" cap="flat" cmpd="sng" algn="ctr">
                      <a:solidFill>
                        <a:srgbClr val="E00B28"/>
                      </a:solidFill>
                      <a:prstDash val="solid"/>
                      <a:round/>
                      <a:headEnd type="none" w="med" len="med"/>
                      <a:tailEnd type="none" w="med" len="med"/>
                    </a:lnL>
                    <a:lnR w="12700" cap="flat" cmpd="sng" algn="ctr">
                      <a:solidFill>
                        <a:srgbClr val="4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a:t>32-bit applications require 32-bit OS and CPUs.</a:t>
                      </a:r>
                    </a:p>
                  </a:txBody>
                  <a:tcPr marL="52439" marR="52439" marT="52439" marB="52439">
                    <a:lnL w="12700" cap="flat" cmpd="sng" algn="ctr">
                      <a:solidFill>
                        <a:srgbClr val="400C28"/>
                      </a:solidFill>
                      <a:prstDash val="solid"/>
                      <a:round/>
                      <a:headEnd type="none" w="med" len="med"/>
                      <a:tailEnd type="none" w="med" len="med"/>
                    </a:lnL>
                    <a:lnR w="12700" cap="flat" cmpd="sng" algn="ctr">
                      <a:solidFill>
                        <a:srgbClr val="A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a:t>64-bit applications require a 64-bit OS and CPU.</a:t>
                      </a:r>
                    </a:p>
                  </a:txBody>
                  <a:tcPr marL="52439" marR="52439" marT="52439" marB="52439">
                    <a:lnL w="12700" cap="flat" cmpd="sng" algn="ctr">
                      <a:solidFill>
                        <a:srgbClr val="A00C28"/>
                      </a:solidFill>
                      <a:prstDash val="solid"/>
                      <a:round/>
                      <a:headEnd type="none" w="med" len="med"/>
                      <a:tailEnd type="none" w="med" len="med"/>
                    </a:lnL>
                    <a:lnR w="12700" cap="flat" cmpd="sng" algn="ctr">
                      <a:solidFill>
                        <a:srgbClr val="8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618974">
                <a:tc>
                  <a:txBody>
                    <a:bodyPr/>
                    <a:lstStyle/>
                    <a:p>
                      <a:pPr algn="l" fontAlgn="t"/>
                      <a:r>
                        <a:rPr lang="en-US" sz="1500" dirty="0"/>
                        <a:t>Systems Available</a:t>
                      </a:r>
                    </a:p>
                  </a:txBody>
                  <a:tcPr marL="52439" marR="52439" marT="52439" marB="52439">
                    <a:lnL w="12700" cap="flat" cmpd="sng" algn="ctr">
                      <a:solidFill>
                        <a:srgbClr val="000D28"/>
                      </a:solidFill>
                      <a:prstDash val="solid"/>
                      <a:round/>
                      <a:headEnd type="none" w="med" len="med"/>
                      <a:tailEnd type="none" w="med" len="med"/>
                    </a:lnL>
                    <a:lnR w="12700" cap="flat" cmpd="sng" algn="ctr">
                      <a:solidFill>
                        <a:srgbClr val="6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dirty="0"/>
                        <a:t>All versions of Windows 8, Windows 7, Windows Vista, and Windows XP, Linux, etc.</a:t>
                      </a:r>
                    </a:p>
                  </a:txBody>
                  <a:tcPr marL="52439" marR="52439" marT="52439" marB="52439">
                    <a:lnL w="12700" cap="flat" cmpd="sng" algn="ctr">
                      <a:solidFill>
                        <a:srgbClr val="600D28"/>
                      </a:solidFill>
                      <a:prstDash val="solid"/>
                      <a:round/>
                      <a:headEnd type="none" w="med" len="med"/>
                      <a:tailEnd type="none" w="med" len="med"/>
                    </a:lnL>
                    <a:lnR w="12700" cap="flat" cmpd="sng" algn="ctr">
                      <a:solidFill>
                        <a:srgbClr val="D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Windows XP Professional, Vista, 7, Mac OS X and Linux.</a:t>
                      </a:r>
                    </a:p>
                  </a:txBody>
                  <a:tcPr marL="52439" marR="52439" marT="52439" marB="52439">
                    <a:lnL w="12700" cap="flat" cmpd="sng" algn="ctr">
                      <a:solidFill>
                        <a:srgbClr val="D00D28"/>
                      </a:solidFill>
                      <a:prstDash val="solid"/>
                      <a:round/>
                      <a:headEnd type="none" w="med" len="med"/>
                      <a:tailEnd type="none" w="med" len="med"/>
                    </a:lnL>
                    <a:lnR w="12700" cap="flat" cmpd="sng" algn="ctr">
                      <a:solidFill>
                        <a:srgbClr val="B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4249">
                <a:tc>
                  <a:txBody>
                    <a:bodyPr/>
                    <a:lstStyle/>
                    <a:p>
                      <a:pPr algn="l" fontAlgn="t"/>
                      <a:r>
                        <a:rPr lang="en-US" sz="1500"/>
                        <a:t>Memory Limits</a:t>
                      </a:r>
                    </a:p>
                  </a:txBody>
                  <a:tcPr marL="52439" marR="52439" marT="52439" marB="52439">
                    <a:lnL w="12700" cap="flat" cmpd="sng" algn="ctr">
                      <a:solidFill>
                        <a:srgbClr val="300E28"/>
                      </a:solidFill>
                      <a:prstDash val="solid"/>
                      <a:round/>
                      <a:headEnd type="none" w="med" len="med"/>
                      <a:tailEnd type="none" w="med" len="med"/>
                    </a:lnL>
                    <a:lnR w="12700" cap="flat" cmpd="sng" algn="ctr">
                      <a:solidFill>
                        <a:srgbClr val="A00E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200E28"/>
                      </a:solidFill>
                      <a:prstDash val="solid"/>
                      <a:round/>
                      <a:headEnd type="none" w="med" len="med"/>
                      <a:tailEnd type="none" w="med" len="med"/>
                    </a:lnB>
                    <a:solidFill>
                      <a:srgbClr val="F9F9F9"/>
                    </a:solidFill>
                  </a:tcPr>
                </a:tc>
                <a:tc>
                  <a:txBody>
                    <a:bodyPr/>
                    <a:lstStyle/>
                    <a:p>
                      <a:pPr algn="l" fontAlgn="t"/>
                      <a:r>
                        <a:rPr lang="en-US" sz="1500" dirty="0"/>
                        <a:t>32-bit systems are limited to 3.2 GB of RAM.</a:t>
                      </a:r>
                    </a:p>
                  </a:txBody>
                  <a:tcPr marL="52439" marR="52439" marT="52439" marB="52439">
                    <a:lnL w="12700" cap="flat" cmpd="sng" algn="ctr">
                      <a:solidFill>
                        <a:srgbClr val="A00E28"/>
                      </a:solidFill>
                      <a:prstDash val="solid"/>
                      <a:round/>
                      <a:headEnd type="none" w="med" len="med"/>
                      <a:tailEnd type="none" w="med" len="med"/>
                    </a:lnL>
                    <a:lnR w="12700" cap="flat" cmpd="sng" algn="ctr">
                      <a:solidFill>
                        <a:srgbClr val="100F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900E28"/>
                      </a:solidFill>
                      <a:prstDash val="solid"/>
                      <a:round/>
                      <a:headEnd type="none" w="med" len="med"/>
                      <a:tailEnd type="none" w="med" len="med"/>
                    </a:lnB>
                    <a:solidFill>
                      <a:srgbClr val="F9F9F9"/>
                    </a:solidFill>
                  </a:tcPr>
                </a:tc>
                <a:tc>
                  <a:txBody>
                    <a:bodyPr/>
                    <a:lstStyle/>
                    <a:p>
                      <a:pPr algn="l" fontAlgn="t"/>
                      <a:r>
                        <a:rPr lang="en-US" sz="1500" dirty="0"/>
                        <a:t>64-bit systems allow a maximum 17 Billion GB of RAM.</a:t>
                      </a:r>
                    </a:p>
                  </a:txBody>
                  <a:tcPr marL="52439" marR="52439" marT="52439" marB="52439">
                    <a:lnL w="12700" cap="flat" cmpd="sng" algn="ctr">
                      <a:solidFill>
                        <a:srgbClr val="100F28"/>
                      </a:solidFill>
                      <a:prstDash val="solid"/>
                      <a:round/>
                      <a:headEnd type="none" w="med" len="med"/>
                      <a:tailEnd type="none" w="med" len="med"/>
                    </a:lnL>
                    <a:lnR w="12700" cap="flat" cmpd="sng" algn="ctr">
                      <a:solidFill>
                        <a:srgbClr val="F00E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000F28"/>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F06C68B9-8522-4E10-BC6E-931D1579D0C9}" type="slidenum">
              <a:rPr lang="en-US"/>
              <a:pPr>
                <a:defRPr/>
              </a:pPr>
              <a:t>49</a:t>
            </a:fld>
            <a:endParaRPr lang="en-US"/>
          </a:p>
        </p:txBody>
      </p:sp>
      <p:sp>
        <p:nvSpPr>
          <p:cNvPr id="47107" name="Rectangle 2"/>
          <p:cNvSpPr>
            <a:spLocks noGrp="1" noChangeArrowheads="1"/>
          </p:cNvSpPr>
          <p:nvPr>
            <p:ph type="title"/>
          </p:nvPr>
        </p:nvSpPr>
        <p:spPr/>
        <p:txBody>
          <a:bodyPr/>
          <a:lstStyle/>
          <a:p>
            <a:pPr eaLnBrk="1" hangingPunct="1"/>
            <a:r>
              <a:rPr lang="en-US"/>
              <a:t>1.7 System Call </a:t>
            </a:r>
          </a:p>
        </p:txBody>
      </p:sp>
      <p:sp>
        <p:nvSpPr>
          <p:cNvPr id="47108" name="Rectangle 3"/>
          <p:cNvSpPr>
            <a:spLocks noGrp="1" noChangeArrowheads="1"/>
          </p:cNvSpPr>
          <p:nvPr>
            <p:ph type="body" idx="1"/>
          </p:nvPr>
        </p:nvSpPr>
        <p:spPr>
          <a:xfrm>
            <a:off x="838200" y="5651500"/>
            <a:ext cx="7772400" cy="939800"/>
          </a:xfrm>
        </p:spPr>
        <p:txBody>
          <a:bodyPr/>
          <a:lstStyle/>
          <a:p>
            <a:pPr eaLnBrk="1" hangingPunct="1">
              <a:buFontTx/>
              <a:buNone/>
            </a:pPr>
            <a:r>
              <a:rPr lang="en-US"/>
              <a:t>There are 11 steps in making the system call</a:t>
            </a:r>
          </a:p>
          <a:p>
            <a:pPr eaLnBrk="1" hangingPunct="1">
              <a:buFontTx/>
              <a:buNone/>
            </a:pPr>
            <a:r>
              <a:rPr lang="en-US" sz="2800">
                <a:latin typeface="Tahoma" pitchFamily="34" charset="0"/>
              </a:rPr>
              <a:t>                 read (fd, buffer, nbytes)</a:t>
            </a:r>
          </a:p>
        </p:txBody>
      </p:sp>
      <p:pic>
        <p:nvPicPr>
          <p:cNvPr id="47109" name="Picture 5" descr="1-17"/>
          <p:cNvPicPr>
            <a:picLocks noChangeAspect="1" noChangeArrowheads="1"/>
          </p:cNvPicPr>
          <p:nvPr/>
        </p:nvPicPr>
        <p:blipFill>
          <a:blip r:embed="rId2"/>
          <a:srcRect/>
          <a:stretch>
            <a:fillRect/>
          </a:stretch>
        </p:blipFill>
        <p:spPr bwMode="auto">
          <a:xfrm>
            <a:off x="628650" y="1142984"/>
            <a:ext cx="7383463" cy="4662504"/>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1326129-70CC-42AE-9895-54A762CC9731}" type="slidenum">
              <a:rPr lang="en-US" smtClean="0"/>
              <a:pPr>
                <a:defRPr/>
              </a:pPr>
              <a:t>50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491437535"/>
              </p:ext>
            </p:extLst>
          </p:nvPr>
        </p:nvGraphicFramePr>
        <p:xfrm>
          <a:off x="142845" y="1143000"/>
          <a:ext cx="7165459" cy="5770884"/>
        </p:xfrm>
        <a:graphic>
          <a:graphicData uri="http://schemas.openxmlformats.org/drawingml/2006/table">
            <a:tbl>
              <a:tblPr/>
              <a:tblGrid>
                <a:gridCol w="2553496">
                  <a:extLst>
                    <a:ext uri="{9D8B030D-6E8A-4147-A177-3AD203B41FA5}">
                      <a16:colId xmlns:a16="http://schemas.microsoft.com/office/drawing/2014/main" val="20000"/>
                    </a:ext>
                  </a:extLst>
                </a:gridCol>
                <a:gridCol w="3254776">
                  <a:extLst>
                    <a:ext uri="{9D8B030D-6E8A-4147-A177-3AD203B41FA5}">
                      <a16:colId xmlns:a16="http://schemas.microsoft.com/office/drawing/2014/main" val="20001"/>
                    </a:ext>
                  </a:extLst>
                </a:gridCol>
                <a:gridCol w="1357187">
                  <a:extLst>
                    <a:ext uri="{9D8B030D-6E8A-4147-A177-3AD203B41FA5}">
                      <a16:colId xmlns:a16="http://schemas.microsoft.com/office/drawing/2014/main" val="20002"/>
                    </a:ext>
                  </a:extLst>
                </a:gridCol>
              </a:tblGrid>
              <a:tr h="262835">
                <a:tc>
                  <a:txBody>
                    <a:bodyPr/>
                    <a:lstStyle/>
                    <a:p>
                      <a:pPr algn="ctr"/>
                      <a:r>
                        <a:rPr lang="en-US" sz="1600" dirty="0">
                          <a:latin typeface="Times New Roman" panose="02020603050405020304" pitchFamily="18" charset="0"/>
                          <a:cs typeface="Times New Roman" panose="02020603050405020304" pitchFamily="18" charset="0"/>
                        </a:rPr>
                        <a:t>Types of System Calls</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tc>
                  <a:txBody>
                    <a:bodyPr/>
                    <a:lstStyle/>
                    <a:p>
                      <a:pPr algn="ctr"/>
                      <a:r>
                        <a:rPr lang="en-US" sz="1600">
                          <a:latin typeface="Times New Roman" panose="02020603050405020304" pitchFamily="18" charset="0"/>
                          <a:cs typeface="Times New Roman" panose="02020603050405020304" pitchFamily="18" charset="0"/>
                        </a:rPr>
                        <a:t>Windows</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tc>
                  <a:txBody>
                    <a:bodyPr/>
                    <a:lstStyle/>
                    <a:p>
                      <a:pPr algn="ctr"/>
                      <a:r>
                        <a:rPr lang="en-US" sz="1600">
                          <a:latin typeface="Times New Roman" panose="02020603050405020304" pitchFamily="18" charset="0"/>
                          <a:cs typeface="Times New Roman" panose="02020603050405020304" pitchFamily="18" charset="0"/>
                        </a:rPr>
                        <a:t>Linux</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1209037">
                <a:tc>
                  <a:txBody>
                    <a:bodyPr/>
                    <a:lstStyle/>
                    <a:p>
                      <a:pPr algn="ctr"/>
                      <a:r>
                        <a:rPr lang="en-US" sz="1600" dirty="0">
                          <a:latin typeface="Times New Roman" panose="02020603050405020304" pitchFamily="18" charset="0"/>
                          <a:cs typeface="Times New Roman" panose="02020603050405020304" pitchFamily="18" charset="0"/>
                        </a:rPr>
                        <a:t>Process Control</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CreateProcess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ExitProcess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WaitForSingleObject</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fork()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exit()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wait()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1209037">
                <a:tc>
                  <a:txBody>
                    <a:bodyPr/>
                    <a:lstStyle/>
                    <a:p>
                      <a:pPr algn="ctr"/>
                      <a:r>
                        <a:rPr lang="en-US" sz="1600" dirty="0">
                          <a:latin typeface="Times New Roman" panose="02020603050405020304" pitchFamily="18" charset="0"/>
                          <a:cs typeface="Times New Roman" panose="02020603050405020304" pitchFamily="18" charset="0"/>
                        </a:rPr>
                        <a:t>File Management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ReadFile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WriteFile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CloseHandle</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open()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read()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write()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close()</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972486">
                <a:tc>
                  <a:txBody>
                    <a:bodyPr/>
                    <a:lstStyle/>
                    <a:p>
                      <a:pPr algn="ctr"/>
                      <a:r>
                        <a:rPr lang="en-US" sz="1600" dirty="0">
                          <a:latin typeface="Times New Roman" panose="02020603050405020304" pitchFamily="18" charset="0"/>
                          <a:cs typeface="Times New Roman" panose="02020603050405020304" pitchFamily="18" charset="0"/>
                        </a:rPr>
                        <a:t>Device Management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SetConsoleMode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ReadConsole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WriteConsole</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ioctl</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read()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write()</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972486">
                <a:tc>
                  <a:txBody>
                    <a:bodyPr/>
                    <a:lstStyle/>
                    <a:p>
                      <a:pPr algn="ctr"/>
                      <a:r>
                        <a:rPr lang="en-US" sz="1600">
                          <a:latin typeface="Times New Roman" panose="02020603050405020304" pitchFamily="18" charset="0"/>
                          <a:cs typeface="Times New Roman" panose="02020603050405020304" pitchFamily="18" charset="0"/>
                        </a:rPr>
                        <a:t>Information Maintenance</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GetCurrentProcessID</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SetTimer</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Sleep()</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getpid</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alarm()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sleep()</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972486">
                <a:tc>
                  <a:txBody>
                    <a:bodyPr/>
                    <a:lstStyle/>
                    <a:p>
                      <a:pPr algn="ctr"/>
                      <a:r>
                        <a:rPr lang="en-US" sz="1600">
                          <a:latin typeface="Times New Roman" panose="02020603050405020304" pitchFamily="18" charset="0"/>
                          <a:cs typeface="Times New Roman" panose="02020603050405020304" pitchFamily="18" charset="0"/>
                        </a:rPr>
                        <a:t>Communication</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CreatePipe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CreateFileMapping</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MapViewOfFile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pipe()</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shmget</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mmap</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2A821035-DCB0-4493-99A0-1A7E951E7B67}" type="slidenum">
              <a:rPr lang="en-US"/>
              <a:pPr>
                <a:defRPr/>
              </a:pPr>
              <a:t>51</a:t>
            </a:fld>
            <a:endParaRPr lang="en-US"/>
          </a:p>
        </p:txBody>
      </p:sp>
      <p:sp>
        <p:nvSpPr>
          <p:cNvPr id="49155" name="Rectangle 2"/>
          <p:cNvSpPr>
            <a:spLocks noGrp="1" noChangeArrowheads="1"/>
          </p:cNvSpPr>
          <p:nvPr>
            <p:ph type="title"/>
          </p:nvPr>
        </p:nvSpPr>
        <p:spPr>
          <a:xfrm>
            <a:off x="307975" y="0"/>
            <a:ext cx="8534400" cy="1143000"/>
          </a:xfrm>
        </p:spPr>
        <p:txBody>
          <a:bodyPr/>
          <a:lstStyle/>
          <a:p>
            <a:pPr eaLnBrk="1" hangingPunct="1"/>
            <a:r>
              <a:rPr lang="en-US" sz="3600"/>
              <a:t>Some System Calls For Process Management</a:t>
            </a:r>
            <a:endParaRPr lang="en-US" sz="4000"/>
          </a:p>
        </p:txBody>
      </p:sp>
      <p:sp>
        <p:nvSpPr>
          <p:cNvPr id="49156" name="Rectangle 3"/>
          <p:cNvSpPr>
            <a:spLocks noGrp="1" noChangeArrowheads="1"/>
          </p:cNvSpPr>
          <p:nvPr>
            <p:ph type="body" idx="1"/>
          </p:nvPr>
        </p:nvSpPr>
        <p:spPr/>
        <p:txBody>
          <a:bodyPr/>
          <a:lstStyle/>
          <a:p>
            <a:pPr eaLnBrk="1" hangingPunct="1">
              <a:buFontTx/>
              <a:buNone/>
            </a:pPr>
            <a:endParaRPr lang="en-US" sz="3600"/>
          </a:p>
          <a:p>
            <a:pPr eaLnBrk="1" hangingPunct="1">
              <a:buFontTx/>
              <a:buNone/>
            </a:pPr>
            <a:endParaRPr lang="en-US" sz="3600"/>
          </a:p>
          <a:p>
            <a:pPr eaLnBrk="1" hangingPunct="1">
              <a:buFontTx/>
              <a:buNone/>
            </a:pPr>
            <a:endParaRPr lang="en-US"/>
          </a:p>
          <a:p>
            <a:pPr eaLnBrk="1" hangingPunct="1">
              <a:buFontTx/>
              <a:buNone/>
            </a:pPr>
            <a:endParaRPr lang="en-US"/>
          </a:p>
          <a:p>
            <a:pPr eaLnBrk="1" hangingPunct="1">
              <a:buFontTx/>
              <a:buNone/>
            </a:pPr>
            <a:endParaRPr lang="en-US"/>
          </a:p>
        </p:txBody>
      </p:sp>
      <p:pic>
        <p:nvPicPr>
          <p:cNvPr id="49157" name="Picture 5"/>
          <p:cNvPicPr>
            <a:picLocks noChangeAspect="1" noChangeArrowheads="1"/>
          </p:cNvPicPr>
          <p:nvPr/>
        </p:nvPicPr>
        <p:blipFill>
          <a:blip r:embed="rId2"/>
          <a:srcRect b="77843"/>
          <a:stretch>
            <a:fillRect/>
          </a:stretch>
        </p:blipFill>
        <p:spPr bwMode="auto">
          <a:xfrm>
            <a:off x="238125" y="1631950"/>
            <a:ext cx="8534400" cy="187642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8860700F-5080-4549-AE21-F3F35D9FADD2}" type="slidenum">
              <a:rPr lang="en-US"/>
              <a:pPr>
                <a:defRPr/>
              </a:pPr>
              <a:t>52</a:t>
            </a:fld>
            <a:endParaRPr lang="en-US"/>
          </a:p>
        </p:txBody>
      </p:sp>
      <p:sp>
        <p:nvSpPr>
          <p:cNvPr id="50179" name="Rectangle 2"/>
          <p:cNvSpPr>
            <a:spLocks noGrp="1" noChangeArrowheads="1"/>
          </p:cNvSpPr>
          <p:nvPr>
            <p:ph type="title"/>
          </p:nvPr>
        </p:nvSpPr>
        <p:spPr>
          <a:xfrm>
            <a:off x="346075" y="0"/>
            <a:ext cx="8509000" cy="1143000"/>
          </a:xfrm>
        </p:spPr>
        <p:txBody>
          <a:bodyPr/>
          <a:lstStyle/>
          <a:p>
            <a:pPr eaLnBrk="1" hangingPunct="1"/>
            <a:r>
              <a:rPr lang="en-US" sz="3600"/>
              <a:t>Some System Calls For File Management</a:t>
            </a:r>
            <a:endParaRPr lang="en-US"/>
          </a:p>
        </p:txBody>
      </p:sp>
      <p:pic>
        <p:nvPicPr>
          <p:cNvPr id="50180" name="Picture 5"/>
          <p:cNvPicPr>
            <a:picLocks noChangeAspect="1" noChangeArrowheads="1"/>
          </p:cNvPicPr>
          <p:nvPr/>
        </p:nvPicPr>
        <p:blipFill>
          <a:blip r:embed="rId2"/>
          <a:srcRect t="21257" b="47963"/>
          <a:stretch>
            <a:fillRect/>
          </a:stretch>
        </p:blipFill>
        <p:spPr bwMode="auto">
          <a:xfrm>
            <a:off x="250825" y="1504950"/>
            <a:ext cx="8534400" cy="26066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A0D1E144-AEED-4F29-9DDA-EF6F8F4338B8}" type="slidenum">
              <a:rPr lang="en-US"/>
              <a:pPr>
                <a:defRPr/>
              </a:pPr>
              <a:t>53</a:t>
            </a:fld>
            <a:endParaRPr lang="en-US"/>
          </a:p>
        </p:txBody>
      </p:sp>
      <p:sp>
        <p:nvSpPr>
          <p:cNvPr id="51203" name="Rectangle 2"/>
          <p:cNvSpPr>
            <a:spLocks noGrp="1" noChangeArrowheads="1"/>
          </p:cNvSpPr>
          <p:nvPr>
            <p:ph type="title"/>
          </p:nvPr>
        </p:nvSpPr>
        <p:spPr>
          <a:xfrm>
            <a:off x="0" y="0"/>
            <a:ext cx="9144000" cy="1143000"/>
          </a:xfrm>
        </p:spPr>
        <p:txBody>
          <a:bodyPr/>
          <a:lstStyle/>
          <a:p>
            <a:pPr eaLnBrk="1" hangingPunct="1"/>
            <a:r>
              <a:rPr lang="en-US" sz="3600"/>
              <a:t>Some System Calls For Directory Management</a:t>
            </a:r>
            <a:endParaRPr lang="en-US"/>
          </a:p>
        </p:txBody>
      </p:sp>
      <p:pic>
        <p:nvPicPr>
          <p:cNvPr id="51204" name="Picture 5"/>
          <p:cNvPicPr>
            <a:picLocks noChangeAspect="1" noChangeArrowheads="1"/>
          </p:cNvPicPr>
          <p:nvPr/>
        </p:nvPicPr>
        <p:blipFill>
          <a:blip r:embed="rId2"/>
          <a:srcRect t="51289" b="19279"/>
          <a:stretch>
            <a:fillRect/>
          </a:stretch>
        </p:blipFill>
        <p:spPr bwMode="auto">
          <a:xfrm>
            <a:off x="400050" y="1536700"/>
            <a:ext cx="8534400" cy="249237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5DAA849B-D33B-489D-B4DE-F54DDBFA014B}" type="slidenum">
              <a:rPr lang="en-US"/>
              <a:pPr>
                <a:defRPr/>
              </a:pPr>
              <a:t>54</a:t>
            </a:fld>
            <a:endParaRPr lang="en-US"/>
          </a:p>
        </p:txBody>
      </p:sp>
      <p:sp>
        <p:nvSpPr>
          <p:cNvPr id="52227" name="Rectangle 2"/>
          <p:cNvSpPr>
            <a:spLocks noGrp="1" noChangeArrowheads="1"/>
          </p:cNvSpPr>
          <p:nvPr>
            <p:ph type="title"/>
          </p:nvPr>
        </p:nvSpPr>
        <p:spPr>
          <a:xfrm>
            <a:off x="282575" y="0"/>
            <a:ext cx="8559800" cy="1143000"/>
          </a:xfrm>
        </p:spPr>
        <p:txBody>
          <a:bodyPr/>
          <a:lstStyle/>
          <a:p>
            <a:pPr eaLnBrk="1" hangingPunct="1"/>
            <a:r>
              <a:rPr lang="en-US" sz="3600"/>
              <a:t>Some System Calls For Miscellaneous Tasks</a:t>
            </a:r>
            <a:endParaRPr lang="en-US"/>
          </a:p>
        </p:txBody>
      </p:sp>
      <p:pic>
        <p:nvPicPr>
          <p:cNvPr id="52228" name="Picture 5"/>
          <p:cNvPicPr>
            <a:picLocks noChangeAspect="1" noChangeArrowheads="1"/>
          </p:cNvPicPr>
          <p:nvPr/>
        </p:nvPicPr>
        <p:blipFill>
          <a:blip r:embed="rId2"/>
          <a:srcRect t="79295" b="-5016"/>
          <a:stretch>
            <a:fillRect/>
          </a:stretch>
        </p:blipFill>
        <p:spPr bwMode="auto">
          <a:xfrm>
            <a:off x="400050" y="1647825"/>
            <a:ext cx="8534400" cy="276542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B5642218-B1E5-4730-AC30-9407A721014E}" type="slidenum">
              <a:rPr lang="en-US"/>
              <a:pPr>
                <a:defRPr/>
              </a:pPr>
              <a:t>55</a:t>
            </a:fld>
            <a:endParaRPr lang="en-US"/>
          </a:p>
        </p:txBody>
      </p:sp>
      <p:sp>
        <p:nvSpPr>
          <p:cNvPr id="53251" name="Rectangle 2"/>
          <p:cNvSpPr>
            <a:spLocks noGrp="1" noChangeArrowheads="1"/>
          </p:cNvSpPr>
          <p:nvPr>
            <p:ph type="title"/>
          </p:nvPr>
        </p:nvSpPr>
        <p:spPr/>
        <p:txBody>
          <a:bodyPr/>
          <a:lstStyle/>
          <a:p>
            <a:pPr eaLnBrk="1" hangingPunct="1"/>
            <a:r>
              <a:rPr lang="en-US"/>
              <a:t>System Calls (1)</a:t>
            </a:r>
          </a:p>
        </p:txBody>
      </p:sp>
      <p:sp>
        <p:nvSpPr>
          <p:cNvPr id="53252" name="Rectangle 3"/>
          <p:cNvSpPr>
            <a:spLocks noGrp="1" noChangeArrowheads="1"/>
          </p:cNvSpPr>
          <p:nvPr>
            <p:ph type="body" idx="1"/>
          </p:nvPr>
        </p:nvSpPr>
        <p:spPr>
          <a:xfrm>
            <a:off x="525463" y="1308100"/>
            <a:ext cx="8458200" cy="4449763"/>
          </a:xfrm>
        </p:spPr>
        <p:txBody>
          <a:bodyPr/>
          <a:lstStyle/>
          <a:p>
            <a:pPr eaLnBrk="1" hangingPunct="1"/>
            <a:r>
              <a:rPr lang="en-US" dirty="0"/>
              <a:t>A stripped down shell:</a:t>
            </a:r>
          </a:p>
          <a:p>
            <a:pPr eaLnBrk="1" hangingPunct="1">
              <a:buFontTx/>
              <a:buNone/>
            </a:pPr>
            <a:r>
              <a:rPr lang="en-US" sz="1800" dirty="0">
                <a:solidFill>
                  <a:schemeClr val="tx1"/>
                </a:solidFill>
                <a:latin typeface="Tahoma" pitchFamily="34" charset="0"/>
              </a:rPr>
              <a:t>while (TRUE) {					/* repeat forever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type_prompt</a:t>
            </a:r>
            <a:r>
              <a:rPr lang="en-US" sz="1800" dirty="0">
                <a:solidFill>
                  <a:schemeClr val="tx1"/>
                </a:solidFill>
                <a:latin typeface="Tahoma" pitchFamily="34" charset="0"/>
              </a:rPr>
              <a:t>( );				/* display prompt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read_command</a:t>
            </a:r>
            <a:r>
              <a:rPr lang="en-US" sz="1800" dirty="0">
                <a:solidFill>
                  <a:schemeClr val="tx1"/>
                </a:solidFill>
                <a:latin typeface="Tahoma" pitchFamily="34" charset="0"/>
              </a:rPr>
              <a:t> (command, parameters)		/* input from terminal */</a:t>
            </a:r>
          </a:p>
          <a:p>
            <a:pPr eaLnBrk="1" hangingPunct="1">
              <a:buFontTx/>
              <a:buNone/>
            </a:pPr>
            <a:r>
              <a:rPr lang="en-US" sz="1800" dirty="0">
                <a:solidFill>
                  <a:schemeClr val="tx1"/>
                </a:solidFill>
                <a:latin typeface="Tahoma" pitchFamily="34" charset="0"/>
              </a:rPr>
              <a:t>  if (fork() != 0) {					/* fork off child process */</a:t>
            </a:r>
          </a:p>
          <a:p>
            <a:pPr eaLnBrk="1" hangingPunct="1">
              <a:buFontTx/>
              <a:buNone/>
            </a:pPr>
            <a:r>
              <a:rPr lang="en-US" sz="1800" dirty="0">
                <a:solidFill>
                  <a:schemeClr val="tx1"/>
                </a:solidFill>
                <a:latin typeface="Tahoma" pitchFamily="34" charset="0"/>
              </a:rPr>
              <a:t>    /* Parent code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waitpid</a:t>
            </a:r>
            <a:r>
              <a:rPr lang="en-US" sz="1800" dirty="0">
                <a:solidFill>
                  <a:schemeClr val="tx1"/>
                </a:solidFill>
                <a:latin typeface="Tahoma" pitchFamily="34" charset="0"/>
              </a:rPr>
              <a:t>( -1, &amp;status, 0);				/* wait for child to exit */</a:t>
            </a:r>
          </a:p>
          <a:p>
            <a:pPr eaLnBrk="1" hangingPunct="1">
              <a:buFontTx/>
              <a:buNone/>
            </a:pPr>
            <a:r>
              <a:rPr lang="en-US" sz="1800" dirty="0">
                <a:solidFill>
                  <a:schemeClr val="tx1"/>
                </a:solidFill>
                <a:latin typeface="Tahoma" pitchFamily="34" charset="0"/>
              </a:rPr>
              <a:t>} else {</a:t>
            </a:r>
          </a:p>
          <a:p>
            <a:pPr eaLnBrk="1" hangingPunct="1">
              <a:buFontTx/>
              <a:buNone/>
            </a:pPr>
            <a:r>
              <a:rPr lang="en-US" sz="1800" dirty="0">
                <a:solidFill>
                  <a:schemeClr val="tx1"/>
                </a:solidFill>
                <a:latin typeface="Tahoma" pitchFamily="34" charset="0"/>
              </a:rPr>
              <a:t>    /* Child code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execve</a:t>
            </a:r>
            <a:r>
              <a:rPr lang="en-US" sz="1800" dirty="0">
                <a:solidFill>
                  <a:schemeClr val="tx1"/>
                </a:solidFill>
                <a:latin typeface="Tahoma" pitchFamily="34" charset="0"/>
              </a:rPr>
              <a:t> (command, parameters, 0);		/* execute command */</a:t>
            </a:r>
          </a:p>
          <a:p>
            <a:pPr eaLnBrk="1" hangingPunct="1">
              <a:buFontTx/>
              <a:buNone/>
            </a:pPr>
            <a:r>
              <a:rPr lang="en-US" sz="1800" dirty="0">
                <a:solidFill>
                  <a:schemeClr val="tx1"/>
                </a:solidFill>
                <a:latin typeface="Tahoma" pitchFamily="34" charset="0"/>
              </a:rPr>
              <a:t> }</a:t>
            </a:r>
            <a:r>
              <a:rPr lang="en-US" sz="1800" dirty="0">
                <a:latin typeface="Tahoma" pitchFamily="34" charset="0"/>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201613" y="0"/>
            <a:ext cx="8505825" cy="1143000"/>
          </a:xfrm>
        </p:spPr>
        <p:txBody>
          <a:bodyPr/>
          <a:lstStyle/>
          <a:p>
            <a:r>
              <a:rPr lang="en-US" sz="3200"/>
              <a:t>1.8 Operating System Structure- Layered structure</a:t>
            </a:r>
            <a:endParaRPr lang="en-US"/>
          </a:p>
        </p:txBody>
      </p:sp>
      <p:sp>
        <p:nvSpPr>
          <p:cNvPr id="54275" name="Content Placeholder 2"/>
          <p:cNvSpPr>
            <a:spLocks noGrp="1"/>
          </p:cNvSpPr>
          <p:nvPr>
            <p:ph idx="1"/>
          </p:nvPr>
        </p:nvSpPr>
        <p:spPr>
          <a:xfrm>
            <a:off x="685800" y="1981200"/>
            <a:ext cx="7972425" cy="4114800"/>
          </a:xfrm>
        </p:spPr>
        <p:txBody>
          <a:bodyPr/>
          <a:lstStyle/>
          <a:p>
            <a:r>
              <a:rPr lang="en-US"/>
              <a:t>Layered Structure is a type of system structure in which the different services of the </a:t>
            </a:r>
            <a:r>
              <a:rPr lang="en-US" u="sng">
                <a:solidFill>
                  <a:srgbClr val="C00000"/>
                </a:solidFill>
                <a:hlinkClick r:id="rId2"/>
              </a:rPr>
              <a:t>operating system</a:t>
            </a:r>
            <a:r>
              <a:rPr lang="en-US"/>
              <a:t> are split into various layers, where each layer has a specific well-defined task to perform. It was created to improve the pre-existing structures like the Monolithic structure ( UNIX ) and the Simple structure ( MS-DOS ).</a:t>
            </a:r>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021B7E9-60C9-41FA-8740-E97AE0BC0AD9}" type="slidenum">
              <a:rPr lang="en-US" smtClean="0"/>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55299" name="Rectangle 2"/>
          <p:cNvSpPr>
            <a:spLocks noGrp="1" noChangeArrowheads="1"/>
          </p:cNvSpPr>
          <p:nvPr>
            <p:ph type="title"/>
          </p:nvPr>
        </p:nvSpPr>
        <p:spPr>
          <a:xfrm>
            <a:off x="107504" y="260648"/>
            <a:ext cx="8382000" cy="609600"/>
          </a:xfrm>
        </p:spPr>
        <p:txBody>
          <a:bodyPr/>
          <a:lstStyle/>
          <a:p>
            <a:pPr eaLnBrk="1" hangingPunct="1"/>
            <a:r>
              <a:rPr lang="en-US" sz="3600" dirty="0"/>
              <a:t>An Operating System Layer</a:t>
            </a:r>
          </a:p>
        </p:txBody>
      </p:sp>
      <p:pic>
        <p:nvPicPr>
          <p:cNvPr id="55300" name="Picture 4"/>
          <p:cNvPicPr>
            <a:picLocks noChangeAspect="1" noChangeArrowheads="1"/>
          </p:cNvPicPr>
          <p:nvPr/>
        </p:nvPicPr>
        <p:blipFill>
          <a:blip r:embed="rId4"/>
          <a:srcRect l="1018" t="10814" r="1018" b="10814"/>
          <a:stretch>
            <a:fillRect/>
          </a:stretch>
        </p:blipFill>
        <p:spPr bwMode="auto">
          <a:xfrm>
            <a:off x="819150" y="1535113"/>
            <a:ext cx="7451725" cy="5322887"/>
          </a:xfrm>
          <a:prstGeom prst="rect">
            <a:avLst/>
          </a:prstGeom>
          <a:noFill/>
          <a:ln w="76200" cmpd="tri">
            <a:solidFill>
              <a:schemeClr val="tx1"/>
            </a:solidFill>
            <a:miter lim="800000"/>
            <a:headEnd/>
            <a:tailEnd/>
          </a:ln>
        </p:spPr>
      </p:pic>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276225" y="1142984"/>
            <a:ext cx="5227638" cy="4572031"/>
          </a:xfrm>
        </p:spPr>
        <p:txBody>
          <a:bodyPr/>
          <a:lstStyle/>
          <a:p>
            <a:pPr>
              <a:buFontTx/>
              <a:buNone/>
            </a:pPr>
            <a:r>
              <a:rPr lang="en-US" sz="1600" b="1" dirty="0"/>
              <a:t>Example –</a:t>
            </a:r>
            <a:r>
              <a:rPr lang="en-US" sz="1600" dirty="0"/>
              <a:t> </a:t>
            </a:r>
            <a:r>
              <a:rPr lang="en-US" sz="1400" dirty="0"/>
              <a:t>The Windows NT operating system uses this layered approach as a part of it.</a:t>
            </a:r>
          </a:p>
          <a:p>
            <a:r>
              <a:rPr lang="en-US" sz="1400" b="1" dirty="0"/>
              <a:t>Design Analysis :</a:t>
            </a:r>
            <a:r>
              <a:rPr lang="en-US" sz="1400" dirty="0"/>
              <a:t/>
            </a:r>
            <a:br>
              <a:rPr lang="en-US" sz="1400" dirty="0"/>
            </a:br>
            <a:r>
              <a:rPr lang="en-US" sz="1400" dirty="0"/>
              <a:t>The whole Operating System is separated into several layers ( from 0 to n ) as the diagram shows. Each of the layers must have its own specific function to perform. There are some rules in the implementation of the layers as follows.</a:t>
            </a:r>
          </a:p>
          <a:p>
            <a:r>
              <a:rPr lang="en-US" sz="1400" dirty="0"/>
              <a:t>The outermost layer must be the User Interface layer.</a:t>
            </a:r>
          </a:p>
          <a:p>
            <a:r>
              <a:rPr lang="en-US" sz="1400" dirty="0"/>
              <a:t>The innermost layer must be the Hardware layer.</a:t>
            </a:r>
          </a:p>
          <a:p>
            <a:r>
              <a:rPr lang="en-US" sz="1400" dirty="0"/>
              <a:t>A particular layer can access all the layers present below it but it cannot access the layers present above it. That is layer n-1 can access all the layers from n-2 to 0 but it cannot access the nth layer</a:t>
            </a:r>
          </a:p>
          <a:p>
            <a:endParaRPr lang="en-US" sz="14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1155B211-A345-4E17-9014-43065C03E2DA}" type="slidenum">
              <a:rPr lang="en-US" smtClean="0"/>
              <a:pPr>
                <a:defRPr/>
              </a:pPr>
              <a:t>58</a:t>
            </a:fld>
            <a:endParaRPr lang="en-US"/>
          </a:p>
        </p:txBody>
      </p:sp>
      <p:pic>
        <p:nvPicPr>
          <p:cNvPr id="56324" name="Picture 2" descr="https://media.geeksforgeeks.org/wp-content/uploads/20201026132106/LayeredOs1.png"/>
          <p:cNvPicPr>
            <a:picLocks noChangeAspect="1" noChangeArrowheads="1"/>
          </p:cNvPicPr>
          <p:nvPr/>
        </p:nvPicPr>
        <p:blipFill>
          <a:blip r:embed="rId2"/>
          <a:srcRect l="15089" r="12691"/>
          <a:stretch>
            <a:fillRect/>
          </a:stretch>
        </p:blipFill>
        <p:spPr bwMode="auto">
          <a:xfrm>
            <a:off x="5897562" y="428604"/>
            <a:ext cx="3246438" cy="3667125"/>
          </a:xfrm>
          <a:prstGeom prst="rect">
            <a:avLst/>
          </a:prstGeom>
          <a:noFill/>
          <a:ln w="9525">
            <a:noFill/>
            <a:miter lim="800000"/>
            <a:headEnd/>
            <a:tailEnd/>
          </a:ln>
        </p:spPr>
      </p:pic>
      <p:pic>
        <p:nvPicPr>
          <p:cNvPr id="56325" name="Picture 5" descr="operating-system-architecture"/>
          <p:cNvPicPr>
            <a:picLocks noChangeAspect="1" noChangeArrowheads="1"/>
          </p:cNvPicPr>
          <p:nvPr/>
        </p:nvPicPr>
        <p:blipFill>
          <a:blip r:embed="rId3"/>
          <a:srcRect/>
          <a:stretch>
            <a:fillRect/>
          </a:stretch>
        </p:blipFill>
        <p:spPr bwMode="auto">
          <a:xfrm>
            <a:off x="5216525" y="3532188"/>
            <a:ext cx="3616325" cy="3186112"/>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6"/>
          <p:cNvSpPr>
            <a:spLocks noGrp="1" noChangeArrowheads="1"/>
          </p:cNvSpPr>
          <p:nvPr>
            <p:ph type="title"/>
          </p:nvPr>
        </p:nvSpPr>
        <p:spPr>
          <a:xfrm>
            <a:off x="762000" y="711200"/>
            <a:ext cx="8382000" cy="609600"/>
          </a:xfrm>
        </p:spPr>
        <p:txBody>
          <a:bodyPr/>
          <a:lstStyle/>
          <a:p>
            <a:pPr eaLnBrk="1" hangingPunct="1"/>
            <a:r>
              <a:rPr lang="en-US" sz="3600"/>
              <a:t>Older Windows System Layers</a:t>
            </a:r>
          </a:p>
        </p:txBody>
      </p:sp>
      <p:pic>
        <p:nvPicPr>
          <p:cNvPr id="57348" name="Picture 5" descr="tu1709"/>
          <p:cNvPicPr>
            <a:picLocks noGrp="1" noChangeAspect="1" noChangeArrowheads="1"/>
          </p:cNvPicPr>
          <p:nvPr>
            <p:ph idx="1"/>
          </p:nvPr>
        </p:nvPicPr>
        <p:blipFill>
          <a:blip r:embed="rId4"/>
          <a:srcRect/>
          <a:stretch>
            <a:fillRect/>
          </a:stretch>
        </p:blipFill>
        <p:spPr>
          <a:xfrm>
            <a:off x="3005138" y="2051050"/>
            <a:ext cx="4068762" cy="4152900"/>
          </a:xfrm>
          <a:noFill/>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142844" y="242888"/>
            <a:ext cx="8315356" cy="4900624"/>
          </a:xfrm>
        </p:spPr>
        <p:txBody>
          <a:bodyPr/>
          <a:lstStyle/>
          <a:p>
            <a:pPr>
              <a:buFontTx/>
              <a:buNone/>
            </a:pPr>
            <a:r>
              <a:rPr lang="en-US" sz="2000" b="1" dirty="0">
                <a:solidFill>
                  <a:schemeClr val="bg1"/>
                </a:solidFill>
              </a:rPr>
              <a:t>Advantages :</a:t>
            </a:r>
            <a:r>
              <a:rPr lang="en-US" sz="2000" dirty="0">
                <a:solidFill>
                  <a:schemeClr val="bg1"/>
                </a:solidFill>
              </a:rPr>
              <a:t/>
            </a:r>
            <a:br>
              <a:rPr lang="en-US" sz="2000" dirty="0">
                <a:solidFill>
                  <a:schemeClr val="bg1"/>
                </a:solidFill>
              </a:rPr>
            </a:br>
            <a:endParaRPr lang="en-US" sz="2000" dirty="0">
              <a:solidFill>
                <a:schemeClr val="bg1"/>
              </a:solidFill>
            </a:endParaRPr>
          </a:p>
          <a:p>
            <a:pPr>
              <a:lnSpc>
                <a:spcPct val="100000"/>
              </a:lnSpc>
            </a:pPr>
            <a:r>
              <a:rPr lang="en-US" sz="1800" b="1" dirty="0"/>
              <a:t>Modularity :</a:t>
            </a:r>
            <a:r>
              <a:rPr lang="en-US" sz="1800" dirty="0"/>
              <a:t/>
            </a:r>
            <a:br>
              <a:rPr lang="en-US" sz="1800" dirty="0"/>
            </a:br>
            <a:r>
              <a:rPr lang="en-US" sz="1800" dirty="0"/>
              <a:t>This design promotes modularity as each layer performs only the tasks it is scheduled to perform.</a:t>
            </a:r>
          </a:p>
          <a:p>
            <a:pPr>
              <a:lnSpc>
                <a:spcPct val="100000"/>
              </a:lnSpc>
            </a:pPr>
            <a:r>
              <a:rPr lang="en-US" sz="1800" b="1" dirty="0"/>
              <a:t>Easy debugging :</a:t>
            </a:r>
            <a:r>
              <a:rPr lang="en-US" sz="1800" dirty="0"/>
              <a:t/>
            </a:r>
            <a:br>
              <a:rPr lang="en-US" sz="1800" dirty="0"/>
            </a:br>
            <a:r>
              <a:rPr lang="en-US" sz="1800" dirty="0"/>
              <a:t>As the layers are discrete so it is very easy to debug. Suppose an error occurs in the CPU scheduling layer, so the developer can only search that particular layer to debug, unlike the Monolithic system in which all the services are present together.</a:t>
            </a:r>
          </a:p>
          <a:p>
            <a:pPr>
              <a:lnSpc>
                <a:spcPct val="100000"/>
              </a:lnSpc>
            </a:pPr>
            <a:r>
              <a:rPr lang="en-US" sz="1800" b="1" dirty="0"/>
              <a:t>Easy update :</a:t>
            </a:r>
            <a:r>
              <a:rPr lang="en-US" sz="1800" dirty="0"/>
              <a:t/>
            </a:r>
            <a:br>
              <a:rPr lang="en-US" sz="1800" dirty="0"/>
            </a:br>
            <a:r>
              <a:rPr lang="en-US" sz="1800" dirty="0"/>
              <a:t>A modification made in a particular layer will not affect the other layers.</a:t>
            </a:r>
          </a:p>
          <a:p>
            <a:pPr>
              <a:lnSpc>
                <a:spcPct val="100000"/>
              </a:lnSpc>
            </a:pPr>
            <a:r>
              <a:rPr lang="en-US" sz="1800" b="1" dirty="0"/>
              <a:t>No direct access to hardware :</a:t>
            </a:r>
            <a:r>
              <a:rPr lang="en-US" sz="1800" dirty="0"/>
              <a:t/>
            </a:r>
            <a:br>
              <a:rPr lang="en-US" sz="1800" dirty="0"/>
            </a:br>
            <a:r>
              <a:rPr lang="en-US" sz="1800" dirty="0"/>
              <a:t>The hardware layer is the innermost layer present in the design. So a user can use the services of hardware but cannot directly modify or access it, unlike the Simple system in which the user had direct access to the hardware.</a:t>
            </a:r>
          </a:p>
          <a:p>
            <a:pPr>
              <a:lnSpc>
                <a:spcPct val="100000"/>
              </a:lnSpc>
            </a:pPr>
            <a:r>
              <a:rPr lang="en-US" sz="1800" b="1" dirty="0"/>
              <a:t>Abstraction :</a:t>
            </a:r>
            <a:r>
              <a:rPr lang="en-US" sz="1800" dirty="0"/>
              <a:t/>
            </a:r>
            <a:br>
              <a:rPr lang="en-US" sz="1800" dirty="0"/>
            </a:br>
            <a:r>
              <a:rPr lang="en-US" sz="1800" dirty="0"/>
              <a:t>Every layer is concerned with its own functions. So the functions and implementations of the other layers are abstract to it.</a:t>
            </a:r>
          </a:p>
          <a:p>
            <a:pPr>
              <a:lnSpc>
                <a:spcPct val="100000"/>
              </a:lnSpc>
            </a:pPr>
            <a:endParaRPr lang="en-US" sz="18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ABD0ED8-0C15-4362-9F23-885CE224E9AC}"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idx="1"/>
          </p:nvPr>
        </p:nvSpPr>
        <p:spPr>
          <a:xfrm>
            <a:off x="685800" y="0"/>
            <a:ext cx="7772400" cy="6096000"/>
          </a:xfrm>
        </p:spPr>
        <p:txBody>
          <a:bodyPr/>
          <a:lstStyle/>
          <a:p>
            <a:pPr>
              <a:buFontTx/>
              <a:buNone/>
            </a:pPr>
            <a:r>
              <a:rPr lang="en-US" b="1" dirty="0">
                <a:solidFill>
                  <a:schemeClr val="bg1"/>
                </a:solidFill>
              </a:rPr>
              <a:t>Disadvantages :</a:t>
            </a:r>
            <a:r>
              <a:rPr lang="en-US" dirty="0">
                <a:solidFill>
                  <a:schemeClr val="bg1"/>
                </a:solidFill>
              </a:rPr>
              <a:t/>
            </a:r>
            <a:br>
              <a:rPr lang="en-US" dirty="0">
                <a:solidFill>
                  <a:schemeClr val="bg1"/>
                </a:solidFill>
              </a:rPr>
            </a:br>
            <a:endParaRPr lang="en-US" dirty="0">
              <a:solidFill>
                <a:schemeClr val="bg1"/>
              </a:solidFill>
            </a:endParaRPr>
          </a:p>
          <a:p>
            <a:pPr>
              <a:buFontTx/>
              <a:buNone/>
            </a:pPr>
            <a:endParaRPr lang="en-US" dirty="0">
              <a:solidFill>
                <a:schemeClr val="bg1"/>
              </a:solidFill>
            </a:endParaRPr>
          </a:p>
          <a:p>
            <a:pPr>
              <a:lnSpc>
                <a:spcPct val="100000"/>
              </a:lnSpc>
            </a:pPr>
            <a:r>
              <a:rPr lang="en-US" sz="2000" b="1" dirty="0"/>
              <a:t>Complex and careful implementation :</a:t>
            </a:r>
            <a:r>
              <a:rPr lang="en-US" sz="2000" dirty="0"/>
              <a:t/>
            </a:r>
            <a:br>
              <a:rPr lang="en-US" sz="2000" dirty="0"/>
            </a:br>
            <a:r>
              <a:rPr lang="en-US" sz="2000" dirty="0"/>
              <a:t>As a layer can access the services of the layers below it, so the arrangement of the layers must be done carefully. For example, the backing storage layer uses the services of the memory management layer. So it must be kept below the memory management layer. Thus with great modularity comes complex implementation.</a:t>
            </a:r>
          </a:p>
          <a:p>
            <a:pPr>
              <a:lnSpc>
                <a:spcPct val="100000"/>
              </a:lnSpc>
            </a:pPr>
            <a:r>
              <a:rPr lang="en-US" sz="2000" b="1" dirty="0"/>
              <a:t>Slower in execution :</a:t>
            </a:r>
            <a:r>
              <a:rPr lang="en-US" sz="2000" dirty="0"/>
              <a:t/>
            </a:r>
            <a:br>
              <a:rPr lang="en-US" sz="2000" dirty="0"/>
            </a:br>
            <a:r>
              <a:rPr lang="en-US" sz="2000" dirty="0"/>
              <a:t>If a layer wants to interact with another layer, it sends a request that has to travel through all the layers present in between the two interacting layers. Thus it increases response time, unlike the Monolithic system which is faster than this. Thus an increase in the number of layers may lead to a very inefficient design.</a:t>
            </a:r>
          </a:p>
          <a:p>
            <a:endParaRPr lang="en-US" sz="20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20A8C32-03A1-456C-B7DB-B66B6E2AF6B0}"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6DA6609-4C6F-4005-A265-0F5C522D7916}" type="slidenum">
              <a:rPr lang="en-US"/>
              <a:pPr>
                <a:defRPr/>
              </a:pPr>
              <a:t>62</a:t>
            </a:fld>
            <a:endParaRPr lang="en-US"/>
          </a:p>
        </p:txBody>
      </p:sp>
      <p:sp>
        <p:nvSpPr>
          <p:cNvPr id="60419" name="Rectangle 2"/>
          <p:cNvSpPr>
            <a:spLocks noGrp="1" noChangeArrowheads="1"/>
          </p:cNvSpPr>
          <p:nvPr>
            <p:ph type="title"/>
          </p:nvPr>
        </p:nvSpPr>
        <p:spPr>
          <a:xfrm>
            <a:off x="142875" y="0"/>
            <a:ext cx="8315325" cy="1143000"/>
          </a:xfrm>
        </p:spPr>
        <p:txBody>
          <a:bodyPr/>
          <a:lstStyle/>
          <a:p>
            <a:pPr eaLnBrk="1" hangingPunct="1"/>
            <a:r>
              <a:rPr lang="en-US"/>
              <a:t>1.8 Operating System Structure (1)</a:t>
            </a:r>
          </a:p>
        </p:txBody>
      </p:sp>
      <p:sp>
        <p:nvSpPr>
          <p:cNvPr id="60420" name="Rectangle 3"/>
          <p:cNvSpPr>
            <a:spLocks noGrp="1" noChangeArrowheads="1"/>
          </p:cNvSpPr>
          <p:nvPr>
            <p:ph type="body" idx="1"/>
          </p:nvPr>
        </p:nvSpPr>
        <p:spPr>
          <a:xfrm>
            <a:off x="393700" y="5724525"/>
            <a:ext cx="8356600" cy="371475"/>
          </a:xfrm>
        </p:spPr>
        <p:txBody>
          <a:bodyPr/>
          <a:lstStyle/>
          <a:p>
            <a:pPr eaLnBrk="1" hangingPunct="1">
              <a:lnSpc>
                <a:spcPct val="90000"/>
              </a:lnSpc>
              <a:buFontTx/>
              <a:buNone/>
            </a:pPr>
            <a:r>
              <a:rPr lang="en-US"/>
              <a:t>Simple structuring model for a monolithic system</a:t>
            </a:r>
            <a:endParaRPr lang="en-US" sz="2800"/>
          </a:p>
        </p:txBody>
      </p:sp>
      <p:pic>
        <p:nvPicPr>
          <p:cNvPr id="60421" name="Picture 5" descr="1-24"/>
          <p:cNvPicPr>
            <a:picLocks noChangeAspect="1" noChangeArrowheads="1"/>
          </p:cNvPicPr>
          <p:nvPr/>
        </p:nvPicPr>
        <p:blipFill>
          <a:blip r:embed="rId2"/>
          <a:srcRect/>
          <a:stretch>
            <a:fillRect/>
          </a:stretch>
        </p:blipFill>
        <p:spPr bwMode="auto">
          <a:xfrm>
            <a:off x="728663" y="1611313"/>
            <a:ext cx="7581900" cy="340677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0A0F4814-2343-4E6F-BD4D-7E124C98DEB4}" type="slidenum">
              <a:rPr lang="en-US"/>
              <a:pPr>
                <a:defRPr/>
              </a:pPr>
              <a:t>63</a:t>
            </a:fld>
            <a:endParaRPr lang="en-US"/>
          </a:p>
        </p:txBody>
      </p:sp>
      <p:sp>
        <p:nvSpPr>
          <p:cNvPr id="61443" name="Rectangle 2"/>
          <p:cNvSpPr>
            <a:spLocks noGrp="1" noChangeArrowheads="1"/>
          </p:cNvSpPr>
          <p:nvPr>
            <p:ph type="title"/>
          </p:nvPr>
        </p:nvSpPr>
        <p:spPr/>
        <p:txBody>
          <a:bodyPr/>
          <a:lstStyle/>
          <a:p>
            <a:pPr eaLnBrk="1" hangingPunct="1"/>
            <a:r>
              <a:rPr lang="en-US"/>
              <a:t>Operating System Structure (2)</a:t>
            </a:r>
          </a:p>
        </p:txBody>
      </p:sp>
      <p:sp>
        <p:nvSpPr>
          <p:cNvPr id="61444" name="Rectangle 3"/>
          <p:cNvSpPr>
            <a:spLocks noGrp="1" noChangeArrowheads="1"/>
          </p:cNvSpPr>
          <p:nvPr>
            <p:ph type="body" idx="1"/>
          </p:nvPr>
        </p:nvSpPr>
        <p:spPr>
          <a:xfrm>
            <a:off x="685800" y="5895975"/>
            <a:ext cx="7772400" cy="514350"/>
          </a:xfrm>
        </p:spPr>
        <p:txBody>
          <a:bodyPr/>
          <a:lstStyle/>
          <a:p>
            <a:pPr algn="ctr" eaLnBrk="1" hangingPunct="1">
              <a:lnSpc>
                <a:spcPct val="90000"/>
              </a:lnSpc>
              <a:buFontTx/>
              <a:buNone/>
            </a:pPr>
            <a:r>
              <a:rPr lang="en-US"/>
              <a:t>Structure of the operating system</a:t>
            </a:r>
            <a:endParaRPr lang="en-US" sz="2800"/>
          </a:p>
        </p:txBody>
      </p:sp>
      <p:pic>
        <p:nvPicPr>
          <p:cNvPr id="61445" name="Picture 37"/>
          <p:cNvPicPr>
            <a:picLocks noChangeAspect="1" noChangeArrowheads="1"/>
          </p:cNvPicPr>
          <p:nvPr/>
        </p:nvPicPr>
        <p:blipFill>
          <a:blip r:embed="rId2"/>
          <a:srcRect/>
          <a:stretch>
            <a:fillRect/>
          </a:stretch>
        </p:blipFill>
        <p:spPr bwMode="auto">
          <a:xfrm>
            <a:off x="1071563" y="2155825"/>
            <a:ext cx="7048500" cy="27813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46B41E8-A881-4491-9125-102334CCFF11}" type="slidenum">
              <a:rPr lang="en-US"/>
              <a:pPr>
                <a:defRPr/>
              </a:pPr>
              <a:t>64</a:t>
            </a:fld>
            <a:endParaRPr lang="en-US"/>
          </a:p>
        </p:txBody>
      </p:sp>
      <p:sp>
        <p:nvSpPr>
          <p:cNvPr id="62467" name="Rectangle 2"/>
          <p:cNvSpPr>
            <a:spLocks noGrp="1" noChangeArrowheads="1"/>
          </p:cNvSpPr>
          <p:nvPr>
            <p:ph type="title"/>
          </p:nvPr>
        </p:nvSpPr>
        <p:spPr/>
        <p:txBody>
          <a:bodyPr/>
          <a:lstStyle/>
          <a:p>
            <a:pPr eaLnBrk="1" hangingPunct="1"/>
            <a:r>
              <a:rPr lang="en-US"/>
              <a:t>Operating System Structure (3)</a:t>
            </a:r>
          </a:p>
        </p:txBody>
      </p:sp>
      <p:sp>
        <p:nvSpPr>
          <p:cNvPr id="62468" name="Rectangle 3"/>
          <p:cNvSpPr>
            <a:spLocks noGrp="1" noChangeArrowheads="1"/>
          </p:cNvSpPr>
          <p:nvPr>
            <p:ph type="body" idx="1"/>
          </p:nvPr>
        </p:nvSpPr>
        <p:spPr>
          <a:xfrm>
            <a:off x="685800" y="5153025"/>
            <a:ext cx="7772400" cy="942975"/>
          </a:xfrm>
        </p:spPr>
        <p:txBody>
          <a:bodyPr/>
          <a:lstStyle/>
          <a:p>
            <a:pPr algn="ctr" eaLnBrk="1" hangingPunct="1">
              <a:buFontTx/>
              <a:buNone/>
            </a:pPr>
            <a:r>
              <a:rPr lang="en-US"/>
              <a:t>Structure of VM/370 with CMS</a:t>
            </a:r>
          </a:p>
        </p:txBody>
      </p:sp>
      <p:pic>
        <p:nvPicPr>
          <p:cNvPr id="62469" name="Picture 6" descr="1-26"/>
          <p:cNvPicPr>
            <a:picLocks noChangeAspect="1" noChangeArrowheads="1"/>
          </p:cNvPicPr>
          <p:nvPr/>
        </p:nvPicPr>
        <p:blipFill>
          <a:blip r:embed="rId2"/>
          <a:srcRect/>
          <a:stretch>
            <a:fillRect/>
          </a:stretch>
        </p:blipFill>
        <p:spPr bwMode="auto">
          <a:xfrm>
            <a:off x="252413" y="1719263"/>
            <a:ext cx="8624887" cy="319722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7D732227-F21C-41D6-A802-7A56D09BFAAE}" type="slidenum">
              <a:rPr lang="en-US"/>
              <a:pPr>
                <a:defRPr/>
              </a:pPr>
              <a:t>65</a:t>
            </a:fld>
            <a:endParaRPr lang="en-US"/>
          </a:p>
        </p:txBody>
      </p:sp>
      <p:sp>
        <p:nvSpPr>
          <p:cNvPr id="63491" name="Rectangle 2"/>
          <p:cNvSpPr>
            <a:spLocks noGrp="1" noChangeArrowheads="1"/>
          </p:cNvSpPr>
          <p:nvPr>
            <p:ph type="title"/>
          </p:nvPr>
        </p:nvSpPr>
        <p:spPr/>
        <p:txBody>
          <a:bodyPr/>
          <a:lstStyle/>
          <a:p>
            <a:pPr eaLnBrk="1" hangingPunct="1"/>
            <a:r>
              <a:rPr lang="en-US"/>
              <a:t>Operating System Structure (4)</a:t>
            </a:r>
          </a:p>
        </p:txBody>
      </p:sp>
      <p:sp>
        <p:nvSpPr>
          <p:cNvPr id="63492" name="Rectangle 3"/>
          <p:cNvSpPr>
            <a:spLocks noGrp="1" noChangeArrowheads="1"/>
          </p:cNvSpPr>
          <p:nvPr>
            <p:ph type="body" idx="1"/>
          </p:nvPr>
        </p:nvSpPr>
        <p:spPr>
          <a:xfrm>
            <a:off x="2146300" y="5407025"/>
            <a:ext cx="5892800" cy="828675"/>
          </a:xfrm>
        </p:spPr>
        <p:txBody>
          <a:bodyPr/>
          <a:lstStyle/>
          <a:p>
            <a:pPr eaLnBrk="1" hangingPunct="1">
              <a:buFontTx/>
              <a:buNone/>
            </a:pPr>
            <a:r>
              <a:rPr lang="en-US"/>
              <a:t>The client-server model</a:t>
            </a:r>
          </a:p>
        </p:txBody>
      </p:sp>
      <p:pic>
        <p:nvPicPr>
          <p:cNvPr id="63493" name="Picture 5" descr="1-27"/>
          <p:cNvPicPr>
            <a:picLocks noChangeAspect="1" noChangeArrowheads="1"/>
          </p:cNvPicPr>
          <p:nvPr/>
        </p:nvPicPr>
        <p:blipFill>
          <a:blip r:embed="rId2"/>
          <a:srcRect/>
          <a:stretch>
            <a:fillRect/>
          </a:stretch>
        </p:blipFill>
        <p:spPr bwMode="auto">
          <a:xfrm>
            <a:off x="560388" y="2078038"/>
            <a:ext cx="8259762" cy="3148012"/>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47AB49CE-7A02-4BD2-AB58-F4D69E3C7C01}" type="slidenum">
              <a:rPr lang="en-US"/>
              <a:pPr>
                <a:defRPr/>
              </a:pPr>
              <a:t>66</a:t>
            </a:fld>
            <a:endParaRPr lang="en-US"/>
          </a:p>
        </p:txBody>
      </p:sp>
      <p:sp>
        <p:nvSpPr>
          <p:cNvPr id="64515" name="Rectangle 2"/>
          <p:cNvSpPr>
            <a:spLocks noGrp="1" noChangeArrowheads="1"/>
          </p:cNvSpPr>
          <p:nvPr>
            <p:ph type="title"/>
          </p:nvPr>
        </p:nvSpPr>
        <p:spPr/>
        <p:txBody>
          <a:bodyPr/>
          <a:lstStyle/>
          <a:p>
            <a:pPr eaLnBrk="1" hangingPunct="1"/>
            <a:r>
              <a:rPr lang="en-US"/>
              <a:t>Operating System Structure (5)</a:t>
            </a:r>
          </a:p>
        </p:txBody>
      </p:sp>
      <p:sp>
        <p:nvSpPr>
          <p:cNvPr id="64516" name="Rectangle 3"/>
          <p:cNvSpPr>
            <a:spLocks noGrp="1" noChangeArrowheads="1"/>
          </p:cNvSpPr>
          <p:nvPr>
            <p:ph type="body" idx="1"/>
          </p:nvPr>
        </p:nvSpPr>
        <p:spPr>
          <a:xfrm>
            <a:off x="628650" y="5067300"/>
            <a:ext cx="8458200" cy="1028700"/>
          </a:xfrm>
        </p:spPr>
        <p:txBody>
          <a:bodyPr/>
          <a:lstStyle/>
          <a:p>
            <a:pPr eaLnBrk="1" hangingPunct="1">
              <a:buFontTx/>
              <a:buNone/>
            </a:pPr>
            <a:r>
              <a:rPr lang="en-US"/>
              <a:t>The client-server model in a distributed system</a:t>
            </a:r>
          </a:p>
        </p:txBody>
      </p:sp>
      <p:pic>
        <p:nvPicPr>
          <p:cNvPr id="64517" name="Picture 5" descr="1-28"/>
          <p:cNvPicPr>
            <a:picLocks noChangeAspect="1" noChangeArrowheads="1"/>
          </p:cNvPicPr>
          <p:nvPr/>
        </p:nvPicPr>
        <p:blipFill>
          <a:blip r:embed="rId2"/>
          <a:srcRect/>
          <a:stretch>
            <a:fillRect/>
          </a:stretch>
        </p:blipFill>
        <p:spPr bwMode="auto">
          <a:xfrm>
            <a:off x="825500" y="1976438"/>
            <a:ext cx="7789863" cy="2955925"/>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p:cNvSpPr>
            <a:spLocks noGrp="1"/>
          </p:cNvSpPr>
          <p:nvPr>
            <p:ph type="ftr" sz="quarter" idx="10"/>
          </p:nvPr>
        </p:nvSpPr>
        <p:spPr/>
        <p:txBody>
          <a:bodyPr/>
          <a:lstStyle/>
          <a:p>
            <a:pPr>
              <a:defRPr/>
            </a:pPr>
            <a:r>
              <a:rPr lang="en-US" altLang="en-US"/>
              <a:t>A. Frank - P. Weisberg</a:t>
            </a:r>
          </a:p>
        </p:txBody>
      </p:sp>
      <p:sp>
        <p:nvSpPr>
          <p:cNvPr id="65539" name="Rectangle 2"/>
          <p:cNvSpPr>
            <a:spLocks noGrp="1" noChangeArrowheads="1"/>
          </p:cNvSpPr>
          <p:nvPr>
            <p:ph type="title"/>
          </p:nvPr>
        </p:nvSpPr>
        <p:spPr>
          <a:xfrm>
            <a:off x="762000" y="711200"/>
            <a:ext cx="8382000" cy="609600"/>
          </a:xfrm>
        </p:spPr>
        <p:txBody>
          <a:bodyPr/>
          <a:lstStyle/>
          <a:p>
            <a:pPr eaLnBrk="1" hangingPunct="1"/>
            <a:r>
              <a:rPr lang="en-US" sz="3600"/>
              <a:t>Operating Systems Structures</a:t>
            </a:r>
          </a:p>
        </p:txBody>
      </p:sp>
      <p:sp>
        <p:nvSpPr>
          <p:cNvPr id="65540" name="Rectangle 3"/>
          <p:cNvSpPr>
            <a:spLocks noGrp="1" noChangeArrowheads="1"/>
          </p:cNvSpPr>
          <p:nvPr>
            <p:ph type="body" sz="half" idx="1"/>
          </p:nvPr>
        </p:nvSpPr>
        <p:spPr>
          <a:xfrm>
            <a:off x="762000" y="1600200"/>
            <a:ext cx="8382000" cy="5181600"/>
          </a:xfrm>
        </p:spPr>
        <p:txBody>
          <a:bodyPr/>
          <a:lstStyle/>
          <a:p>
            <a:pPr marL="609600" indent="-609600" eaLnBrk="1" hangingPunct="1"/>
            <a:r>
              <a:rPr lang="en-US" sz="3600"/>
              <a:t>Structure/Organization/Layout of OSs:</a:t>
            </a:r>
          </a:p>
          <a:p>
            <a:pPr marL="990600" lvl="1" indent="-533400" eaLnBrk="1" hangingPunct="1">
              <a:buFontTx/>
              <a:buAutoNum type="arabicPeriod"/>
            </a:pPr>
            <a:r>
              <a:rPr lang="en-US" sz="3200"/>
              <a:t>Monolithic (one unstructured program)</a:t>
            </a:r>
          </a:p>
          <a:p>
            <a:pPr marL="990600" lvl="1" indent="-533400" eaLnBrk="1" hangingPunct="1">
              <a:buFontTx/>
              <a:buAutoNum type="arabicPeriod"/>
            </a:pPr>
            <a:r>
              <a:rPr lang="en-US" sz="3200"/>
              <a:t>Layered</a:t>
            </a:r>
          </a:p>
          <a:p>
            <a:pPr marL="990600" lvl="1" indent="-533400" eaLnBrk="1" hangingPunct="1">
              <a:buFontTx/>
              <a:buAutoNum type="arabicPeriod"/>
            </a:pPr>
            <a:r>
              <a:rPr lang="en-US" sz="3200"/>
              <a:t>Microkernel</a:t>
            </a:r>
          </a:p>
          <a:p>
            <a:pPr marL="990600" lvl="1" indent="-533400" eaLnBrk="1" hangingPunct="1">
              <a:buFontTx/>
              <a:buAutoNum type="arabicPeriod"/>
            </a:pPr>
            <a:r>
              <a:rPr lang="en-US" sz="3200"/>
              <a:t>Virtual Machines</a:t>
            </a:r>
          </a:p>
          <a:p>
            <a:pPr marL="609600" indent="-609600" eaLnBrk="1" hangingPunct="1"/>
            <a:r>
              <a:rPr lang="en-US" sz="3600"/>
              <a:t>The role of </a:t>
            </a:r>
            <a:br>
              <a:rPr lang="en-US" sz="3600"/>
            </a:br>
            <a:r>
              <a:rPr lang="en-US" sz="3600"/>
              <a:t>Virtualization</a:t>
            </a:r>
          </a:p>
          <a:p>
            <a:pPr marL="609600" indent="-609600" eaLnBrk="1" hangingPunct="1">
              <a:buFontTx/>
              <a:buNone/>
            </a:pPr>
            <a:endParaRPr lang="en-US"/>
          </a:p>
        </p:txBody>
      </p:sp>
      <p:pic>
        <p:nvPicPr>
          <p:cNvPr id="65541" name="Picture 6" descr="layers_os"/>
          <p:cNvPicPr>
            <a:picLocks noGrp="1" noChangeAspect="1" noChangeArrowheads="1"/>
          </p:cNvPicPr>
          <p:nvPr>
            <p:ph sz="half" idx="2"/>
          </p:nvPr>
        </p:nvPicPr>
        <p:blipFill>
          <a:blip r:embed="rId4"/>
          <a:srcRect/>
          <a:stretch>
            <a:fillRect/>
          </a:stretch>
        </p:blipFill>
        <p:spPr>
          <a:xfrm>
            <a:off x="5221288" y="3305175"/>
            <a:ext cx="3394075" cy="2560638"/>
          </a:xfrm>
        </p:spPr>
      </p:pic>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66563" name="Rectangle 5"/>
          <p:cNvSpPr>
            <a:spLocks noGrp="1" noChangeArrowheads="1"/>
          </p:cNvSpPr>
          <p:nvPr>
            <p:ph type="title"/>
          </p:nvPr>
        </p:nvSpPr>
        <p:spPr>
          <a:xfrm>
            <a:off x="251520" y="332656"/>
            <a:ext cx="8382000" cy="609600"/>
          </a:xfrm>
        </p:spPr>
        <p:txBody>
          <a:bodyPr/>
          <a:lstStyle/>
          <a:p>
            <a:pPr eaLnBrk="1" hangingPunct="1"/>
            <a:r>
              <a:rPr lang="en-US" sz="3600" dirty="0"/>
              <a:t>Monolithic Operating System</a:t>
            </a:r>
          </a:p>
        </p:txBody>
      </p:sp>
      <p:pic>
        <p:nvPicPr>
          <p:cNvPr id="66564" name="Picture 8"/>
          <p:cNvPicPr>
            <a:picLocks noGrp="1" noChangeAspect="1" noChangeArrowheads="1"/>
          </p:cNvPicPr>
          <p:nvPr>
            <p:ph idx="1"/>
          </p:nvPr>
        </p:nvPicPr>
        <p:blipFill>
          <a:blip r:embed="rId3"/>
          <a:srcRect/>
          <a:stretch>
            <a:fillRect/>
          </a:stretch>
        </p:blipFill>
        <p:spPr>
          <a:xfrm>
            <a:off x="741363" y="1638697"/>
            <a:ext cx="8402637" cy="5210175"/>
          </a:xfr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762000" y="711200"/>
            <a:ext cx="8382000" cy="609600"/>
          </a:xfrm>
        </p:spPr>
        <p:txBody>
          <a:bodyPr/>
          <a:lstStyle/>
          <a:p>
            <a:pPr eaLnBrk="1" hangingPunct="1"/>
            <a:r>
              <a:rPr lang="en-US" sz="3600"/>
              <a:t>Monolithic OS – basic structure</a:t>
            </a:r>
          </a:p>
        </p:txBody>
      </p:sp>
      <p:sp>
        <p:nvSpPr>
          <p:cNvPr id="67588" name="Rectangle 3"/>
          <p:cNvSpPr>
            <a:spLocks noGrp="1" noChangeArrowheads="1"/>
          </p:cNvSpPr>
          <p:nvPr>
            <p:ph type="body" idx="1"/>
          </p:nvPr>
        </p:nvSpPr>
        <p:spPr/>
        <p:txBody>
          <a:bodyPr/>
          <a:lstStyle/>
          <a:p>
            <a:pPr eaLnBrk="1" hangingPunct="1"/>
            <a:r>
              <a:rPr lang="en-US"/>
              <a:t>Application programs that invokes the requested system services.</a:t>
            </a:r>
          </a:p>
          <a:p>
            <a:pPr eaLnBrk="1" hangingPunct="1"/>
            <a:r>
              <a:rPr lang="en-US"/>
              <a:t>A set of system services that carry out the operating system procedures/calls.</a:t>
            </a:r>
          </a:p>
          <a:p>
            <a:pPr eaLnBrk="1" hangingPunct="1"/>
            <a:r>
              <a:rPr lang="en-US"/>
              <a:t>A set of utility procedures that help the system services.</a:t>
            </a:r>
          </a:p>
          <a:p>
            <a:pPr eaLnBrk="1" hangingPunct="1"/>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0"/>
          </p:nvPr>
        </p:nvSpPr>
        <p:spPr/>
        <p:txBody>
          <a:bodyPr/>
          <a:lstStyle/>
          <a:p>
            <a:pPr>
              <a:defRPr/>
            </a:pPr>
            <a:r>
              <a:rPr lang="en-US" altLang="en-US"/>
              <a:t>A. Frank - P. Weisberg</a:t>
            </a:r>
          </a:p>
        </p:txBody>
      </p:sp>
      <p:sp>
        <p:nvSpPr>
          <p:cNvPr id="68611" name="Rectangle 2"/>
          <p:cNvSpPr>
            <a:spLocks noGrp="1" noChangeArrowheads="1"/>
          </p:cNvSpPr>
          <p:nvPr>
            <p:ph type="title"/>
          </p:nvPr>
        </p:nvSpPr>
        <p:spPr>
          <a:xfrm>
            <a:off x="762000" y="711200"/>
            <a:ext cx="8382000" cy="609600"/>
          </a:xfrm>
        </p:spPr>
        <p:txBody>
          <a:bodyPr/>
          <a:lstStyle/>
          <a:p>
            <a:pPr eaLnBrk="1" hangingPunct="1"/>
            <a:r>
              <a:rPr lang="en-US" sz="3600"/>
              <a:t>MS-DOS System Structure </a:t>
            </a:r>
            <a:endParaRPr lang="en-US" sz="2800"/>
          </a:p>
        </p:txBody>
      </p:sp>
      <p:sp>
        <p:nvSpPr>
          <p:cNvPr id="68612" name="Rectangle 3"/>
          <p:cNvSpPr>
            <a:spLocks noGrp="1" noChangeArrowheads="1"/>
          </p:cNvSpPr>
          <p:nvPr>
            <p:ph type="body" sz="half" idx="1"/>
          </p:nvPr>
        </p:nvSpPr>
        <p:spPr>
          <a:xfrm>
            <a:off x="762000" y="1600200"/>
            <a:ext cx="8382000" cy="5181600"/>
          </a:xfrm>
        </p:spPr>
        <p:txBody>
          <a:bodyPr/>
          <a:lstStyle/>
          <a:p>
            <a:pPr eaLnBrk="1" hangingPunct="1"/>
            <a:r>
              <a:rPr lang="en-US"/>
              <a:t>MS-DOS – written to provide the most functionality in the least space:</a:t>
            </a:r>
          </a:p>
          <a:p>
            <a:pPr lvl="1" eaLnBrk="1" hangingPunct="1"/>
            <a:r>
              <a:rPr lang="en-US"/>
              <a:t>not divided into modules (monolithic).</a:t>
            </a:r>
          </a:p>
          <a:p>
            <a:pPr lvl="1" eaLnBrk="1" hangingPunct="1"/>
            <a:r>
              <a:rPr lang="en-US"/>
              <a:t>Although MS-DOS has some structure, its interfaces and levels of functionality are not well separated.</a:t>
            </a:r>
          </a:p>
        </p:txBody>
      </p:sp>
      <p:pic>
        <p:nvPicPr>
          <p:cNvPr id="68613" name="Picture 4"/>
          <p:cNvPicPr>
            <a:picLocks noGrp="1" noChangeAspect="1" noChangeArrowheads="1"/>
          </p:cNvPicPr>
          <p:nvPr>
            <p:ph sz="half" idx="2"/>
          </p:nvPr>
        </p:nvPicPr>
        <p:blipFill>
          <a:blip r:embed="rId4"/>
          <a:srcRect/>
          <a:stretch>
            <a:fillRect/>
          </a:stretch>
        </p:blipFill>
        <p:spPr>
          <a:xfrm>
            <a:off x="1214414" y="3857628"/>
            <a:ext cx="7535862" cy="2103437"/>
          </a:xfrm>
          <a:noFill/>
        </p:spPr>
      </p:pic>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1"/>
          <p:cNvSpPr>
            <a:spLocks noGrp="1"/>
          </p:cNvSpPr>
          <p:nvPr>
            <p:ph type="ftr" sz="quarter" idx="4294967295"/>
          </p:nvPr>
        </p:nvSpPr>
        <p:spPr>
          <a:xfrm>
            <a:off x="685800" y="6248400"/>
            <a:ext cx="1905000" cy="457200"/>
          </a:xfrm>
          <a:prstGeom prst="rect">
            <a:avLst/>
          </a:prstGeom>
        </p:spPr>
        <p:txBody>
          <a:bodyPr/>
          <a:lstStyle/>
          <a:p>
            <a:pPr algn="l">
              <a:defRPr/>
            </a:pPr>
            <a:r>
              <a:rPr lang="en-US" altLang="en-US" dirty="0"/>
              <a:t>A. Frank - P. Weisberg</a:t>
            </a:r>
          </a:p>
        </p:txBody>
      </p:sp>
      <p:sp>
        <p:nvSpPr>
          <p:cNvPr id="69635" name="Rectangle 2"/>
          <p:cNvSpPr>
            <a:spLocks noGrp="1" noChangeArrowheads="1"/>
          </p:cNvSpPr>
          <p:nvPr>
            <p:ph type="title" idx="4294967295"/>
          </p:nvPr>
        </p:nvSpPr>
        <p:spPr>
          <a:xfrm>
            <a:off x="762000" y="711200"/>
            <a:ext cx="8382000" cy="609600"/>
          </a:xfrm>
        </p:spPr>
        <p:txBody>
          <a:bodyPr/>
          <a:lstStyle/>
          <a:p>
            <a:pPr eaLnBrk="1" hangingPunct="1"/>
            <a:r>
              <a:rPr lang="en-US" sz="3600"/>
              <a:t>MS-DOS Layer Structure</a:t>
            </a:r>
          </a:p>
        </p:txBody>
      </p:sp>
      <p:pic>
        <p:nvPicPr>
          <p:cNvPr id="69636" name="Picture 4"/>
          <p:cNvPicPr>
            <a:picLocks noChangeAspect="1" noChangeArrowheads="1"/>
          </p:cNvPicPr>
          <p:nvPr/>
        </p:nvPicPr>
        <p:blipFill>
          <a:blip r:embed="rId3"/>
          <a:srcRect l="12146" t="1884" r="12619" b="1917"/>
          <a:stretch>
            <a:fillRect/>
          </a:stretch>
        </p:blipFill>
        <p:spPr bwMode="auto">
          <a:xfrm>
            <a:off x="2162175" y="1811338"/>
            <a:ext cx="5054600" cy="4846637"/>
          </a:xfrm>
          <a:prstGeom prst="rect">
            <a:avLst/>
          </a:prstGeom>
          <a:noFill/>
          <a:ln w="38100" cmpd="dbl">
            <a:solidFill>
              <a:schemeClr val="bg1"/>
            </a:solidFill>
            <a:miter lim="800000"/>
            <a:headEnd/>
            <a:tailEnd/>
          </a:ln>
        </p:spPr>
      </p:pic>
      <p:sp>
        <p:nvSpPr>
          <p:cNvPr id="69637" name="Line 5"/>
          <p:cNvSpPr>
            <a:spLocks noChangeShapeType="1"/>
          </p:cNvSpPr>
          <p:nvPr/>
        </p:nvSpPr>
        <p:spPr bwMode="auto">
          <a:xfrm flipV="1">
            <a:off x="2568575" y="6634163"/>
            <a:ext cx="4383088" cy="14287"/>
          </a:xfrm>
          <a:prstGeom prst="line">
            <a:avLst/>
          </a:prstGeom>
          <a:noFill/>
          <a:ln w="9525">
            <a:solidFill>
              <a:schemeClr val="tx1"/>
            </a:solidFill>
            <a:round/>
            <a:headEnd/>
            <a:tailEnd/>
          </a:ln>
        </p:spPr>
        <p:txBody>
          <a:bodyPr wrap="none"/>
          <a:lstStyle/>
          <a:p>
            <a:endParaRPr lang="en-US"/>
          </a:p>
        </p:txBody>
      </p:sp>
      <p:sp>
        <p:nvSpPr>
          <p:cNvPr id="69638" name="Line 6"/>
          <p:cNvSpPr>
            <a:spLocks noChangeShapeType="1"/>
          </p:cNvSpPr>
          <p:nvPr/>
        </p:nvSpPr>
        <p:spPr bwMode="auto">
          <a:xfrm>
            <a:off x="2160588" y="2036763"/>
            <a:ext cx="0" cy="784225"/>
          </a:xfrm>
          <a:prstGeom prst="line">
            <a:avLst/>
          </a:prstGeom>
          <a:noFill/>
          <a:ln w="9525">
            <a:solidFill>
              <a:schemeClr val="tx1"/>
            </a:solidFill>
            <a:round/>
            <a:headEnd/>
            <a:tailEnd/>
          </a:ln>
        </p:spPr>
        <p:txBody>
          <a:bodyPr wrap="none"/>
          <a:lstStyle/>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0"/>
          </p:nvPr>
        </p:nvSpPr>
        <p:spPr/>
        <p:txBody>
          <a:bodyPr/>
          <a:lstStyle/>
          <a:p>
            <a:pPr>
              <a:defRPr/>
            </a:pPr>
            <a:r>
              <a:rPr lang="en-US" altLang="en-US"/>
              <a:t>A. Frank - P. Weisberg</a:t>
            </a:r>
          </a:p>
        </p:txBody>
      </p:sp>
      <p:sp>
        <p:nvSpPr>
          <p:cNvPr id="70659" name="Rectangle 2"/>
          <p:cNvSpPr>
            <a:spLocks noGrp="1" noChangeArrowheads="1"/>
          </p:cNvSpPr>
          <p:nvPr>
            <p:ph type="title"/>
          </p:nvPr>
        </p:nvSpPr>
        <p:spPr>
          <a:xfrm>
            <a:off x="762000" y="723900"/>
            <a:ext cx="8382000" cy="609600"/>
          </a:xfrm>
        </p:spPr>
        <p:txBody>
          <a:bodyPr/>
          <a:lstStyle/>
          <a:p>
            <a:pPr eaLnBrk="1" hangingPunct="1"/>
            <a:r>
              <a:rPr lang="en-US" sz="3600"/>
              <a:t>UNIX System Structure </a:t>
            </a:r>
          </a:p>
        </p:txBody>
      </p:sp>
      <p:sp>
        <p:nvSpPr>
          <p:cNvPr id="70660" name="Rectangle 3"/>
          <p:cNvSpPr>
            <a:spLocks noGrp="1" noChangeArrowheads="1"/>
          </p:cNvSpPr>
          <p:nvPr>
            <p:ph type="body" sz="half" idx="1"/>
          </p:nvPr>
        </p:nvSpPr>
        <p:spPr>
          <a:xfrm>
            <a:off x="762000" y="1600200"/>
            <a:ext cx="8382000" cy="5181600"/>
          </a:xfrm>
        </p:spPr>
        <p:txBody>
          <a:bodyPr/>
          <a:lstStyle/>
          <a:p>
            <a:pPr marL="609600" indent="-609600" eaLnBrk="1" hangingPunct="1">
              <a:lnSpc>
                <a:spcPct val="90000"/>
              </a:lnSpc>
            </a:pPr>
            <a:r>
              <a:rPr lang="en-US"/>
              <a:t>UNIX – limited by hardware functionality, the original UNIX OS had limited structuring.  </a:t>
            </a:r>
          </a:p>
          <a:p>
            <a:pPr marL="609600" indent="-609600" eaLnBrk="1" hangingPunct="1">
              <a:lnSpc>
                <a:spcPct val="90000"/>
              </a:lnSpc>
            </a:pPr>
            <a:r>
              <a:rPr lang="en-US"/>
              <a:t>The UNIX OS consists of two separable parts:</a:t>
            </a:r>
          </a:p>
          <a:p>
            <a:pPr marL="990600" lvl="1" indent="-533400" eaLnBrk="1" hangingPunct="1">
              <a:lnSpc>
                <a:spcPct val="90000"/>
              </a:lnSpc>
              <a:buFontTx/>
              <a:buAutoNum type="arabicPeriod"/>
            </a:pPr>
            <a:r>
              <a:rPr lang="en-US"/>
              <a:t>Systems Programs:</a:t>
            </a:r>
          </a:p>
          <a:p>
            <a:pPr marL="990600" lvl="1" indent="-533400" eaLnBrk="1" hangingPunct="1">
              <a:lnSpc>
                <a:spcPct val="90000"/>
              </a:lnSpc>
              <a:buFontTx/>
              <a:buAutoNum type="arabicPeriod"/>
            </a:pPr>
            <a:r>
              <a:rPr lang="en-US"/>
              <a:t>The Kernel:</a:t>
            </a:r>
          </a:p>
          <a:p>
            <a:pPr marL="990600" lvl="1" indent="-533400" eaLnBrk="1" hangingPunct="1">
              <a:lnSpc>
                <a:spcPct val="90000"/>
              </a:lnSpc>
            </a:pPr>
            <a:r>
              <a:rPr lang="en-US"/>
              <a:t>Consists of everything below the system-call interface and above the physical hardware.</a:t>
            </a:r>
          </a:p>
          <a:p>
            <a:pPr marL="990600" lvl="1" indent="-533400" eaLnBrk="1" hangingPunct="1">
              <a:lnSpc>
                <a:spcPct val="90000"/>
              </a:lnSpc>
            </a:pPr>
            <a:r>
              <a:rPr lang="en-US"/>
              <a:t>Provides the file system, CPU scheduling, memory management, and other operating-system functions; a large number of functions for one level.</a:t>
            </a:r>
          </a:p>
        </p:txBody>
      </p:sp>
      <p:pic>
        <p:nvPicPr>
          <p:cNvPr id="70661" name="Picture 5" descr="unix-inside-150-trans"/>
          <p:cNvPicPr>
            <a:picLocks noGrp="1" noChangeAspect="1" noChangeArrowheads="1"/>
          </p:cNvPicPr>
          <p:nvPr>
            <p:ph sz="half" idx="2"/>
          </p:nvPr>
        </p:nvPicPr>
        <p:blipFill>
          <a:blip r:embed="rId4"/>
          <a:srcRect/>
          <a:stretch>
            <a:fillRect/>
          </a:stretch>
        </p:blipFill>
        <p:spPr>
          <a:xfrm>
            <a:off x="5111750" y="3074988"/>
            <a:ext cx="2135188" cy="998537"/>
          </a:xfrm>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71683" name="Rectangle 2"/>
          <p:cNvSpPr>
            <a:spLocks noGrp="1" noChangeArrowheads="1"/>
          </p:cNvSpPr>
          <p:nvPr>
            <p:ph type="title" idx="4294967295"/>
          </p:nvPr>
        </p:nvSpPr>
        <p:spPr>
          <a:xfrm>
            <a:off x="800100" y="723900"/>
            <a:ext cx="8229600" cy="576263"/>
          </a:xfrm>
        </p:spPr>
        <p:txBody>
          <a:bodyPr/>
          <a:lstStyle/>
          <a:p>
            <a:pPr eaLnBrk="1" hangingPunct="1"/>
            <a:r>
              <a:rPr lang="en-US" sz="3600"/>
              <a:t>Traditional UNIX System Structure</a:t>
            </a:r>
          </a:p>
        </p:txBody>
      </p:sp>
      <p:pic>
        <p:nvPicPr>
          <p:cNvPr id="71684" name="Picture 3"/>
          <p:cNvPicPr>
            <a:picLocks noChangeAspect="1" noChangeArrowheads="1"/>
          </p:cNvPicPr>
          <p:nvPr/>
        </p:nvPicPr>
        <p:blipFill>
          <a:blip r:embed="rId3"/>
          <a:srcRect/>
          <a:stretch>
            <a:fillRect/>
          </a:stretch>
        </p:blipFill>
        <p:spPr bwMode="auto">
          <a:xfrm>
            <a:off x="917575" y="1766888"/>
            <a:ext cx="7999413" cy="5014912"/>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72707" name="Rectangle 6"/>
          <p:cNvSpPr>
            <a:spLocks noGrp="1" noChangeArrowheads="1"/>
          </p:cNvSpPr>
          <p:nvPr>
            <p:ph type="title"/>
          </p:nvPr>
        </p:nvSpPr>
        <p:spPr>
          <a:xfrm>
            <a:off x="342900" y="332656"/>
            <a:ext cx="8382000" cy="609600"/>
          </a:xfrm>
        </p:spPr>
        <p:txBody>
          <a:bodyPr/>
          <a:lstStyle/>
          <a:p>
            <a:pPr eaLnBrk="1" hangingPunct="1"/>
            <a:r>
              <a:rPr lang="en-US" sz="3600" dirty="0"/>
              <a:t>Traditional UNIX Kernel</a:t>
            </a:r>
          </a:p>
        </p:txBody>
      </p:sp>
      <p:pic>
        <p:nvPicPr>
          <p:cNvPr id="72708" name="Picture 5"/>
          <p:cNvPicPr>
            <a:picLocks noChangeAspect="1" noChangeArrowheads="1"/>
          </p:cNvPicPr>
          <p:nvPr/>
        </p:nvPicPr>
        <p:blipFill>
          <a:blip r:embed="rId4"/>
          <a:srcRect/>
          <a:stretch>
            <a:fillRect/>
          </a:stretch>
        </p:blipFill>
        <p:spPr bwMode="auto">
          <a:xfrm>
            <a:off x="342900" y="1333500"/>
            <a:ext cx="8356600" cy="5222875"/>
          </a:xfrm>
          <a:prstGeom prst="rect">
            <a:avLst/>
          </a:prstGeom>
          <a:noFill/>
          <a:ln w="9525">
            <a:noFill/>
            <a:miter lim="800000"/>
            <a:headEnd/>
            <a:tailEnd/>
          </a:ln>
        </p:spPr>
      </p:pic>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762000" y="698500"/>
            <a:ext cx="8382000" cy="609600"/>
          </a:xfrm>
        </p:spPr>
        <p:txBody>
          <a:bodyPr/>
          <a:lstStyle/>
          <a:p>
            <a:r>
              <a:rPr lang="en-US" sz="3600"/>
              <a:t>LINUX Kernel Components</a:t>
            </a:r>
            <a:endParaRPr lang="he-IL" sz="3600"/>
          </a:p>
        </p:txBody>
      </p:sp>
      <p:sp>
        <p:nvSpPr>
          <p:cNvPr id="12291"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pic>
        <p:nvPicPr>
          <p:cNvPr id="73732" name="Picture 2"/>
          <p:cNvPicPr>
            <a:picLocks noChangeAspect="1" noChangeArrowheads="1"/>
          </p:cNvPicPr>
          <p:nvPr/>
        </p:nvPicPr>
        <p:blipFill>
          <a:blip r:embed="rId3"/>
          <a:srcRect/>
          <a:stretch>
            <a:fillRect/>
          </a:stretch>
        </p:blipFill>
        <p:spPr bwMode="auto">
          <a:xfrm>
            <a:off x="765175" y="1606550"/>
            <a:ext cx="8366125" cy="5251450"/>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b="1"/>
              <a:t> </a:t>
            </a:r>
            <a:br>
              <a:rPr lang="en-US" b="1"/>
            </a:br>
            <a:r>
              <a:rPr lang="en-US" b="1"/>
              <a:t/>
            </a:r>
            <a:br>
              <a:rPr lang="en-US" b="1"/>
            </a:br>
            <a:r>
              <a:rPr lang="en-US" b="1"/>
              <a:t>2.0 Operating-System Services</a:t>
            </a:r>
            <a:br>
              <a:rPr lang="en-US" b="1"/>
            </a:br>
            <a:r>
              <a:rPr lang="en-US"/>
              <a:t/>
            </a:r>
            <a:br>
              <a:rPr lang="en-US"/>
            </a:br>
            <a:endParaRPr lang="en-US"/>
          </a:p>
        </p:txBody>
      </p:sp>
      <p:sp>
        <p:nvSpPr>
          <p:cNvPr id="3" name="Slide Number Placeholder 2"/>
          <p:cNvSpPr>
            <a:spLocks noGrp="1"/>
          </p:cNvSpPr>
          <p:nvPr>
            <p:ph type="sldNum" sz="quarter" idx="4294967295"/>
          </p:nvPr>
        </p:nvSpPr>
        <p:spPr>
          <a:xfrm>
            <a:off x="8737600" y="6502400"/>
            <a:ext cx="406400" cy="355600"/>
          </a:xfrm>
          <a:prstGeom prst="rect">
            <a:avLst/>
          </a:prstGeom>
        </p:spPr>
        <p:txBody>
          <a:bodyPr/>
          <a:lstStyle/>
          <a:p>
            <a:pPr>
              <a:defRPr/>
            </a:pPr>
            <a:fld id="{15052E49-248F-499F-BFC6-52C88347C2D9}" type="slidenum">
              <a:rPr lang="en-US" smtClean="0"/>
              <a:pPr>
                <a:defRPr/>
              </a:pPr>
              <a:t>76</a:t>
            </a:fld>
            <a:endParaRPr lang="en-US"/>
          </a:p>
        </p:txBody>
      </p:sp>
      <p:pic>
        <p:nvPicPr>
          <p:cNvPr id="74756" name="Picture 2" descr="https://www.cs.uic.edu/~jbell/CourseNotes/OperatingSystems/images/Chapter2/2_01_OS_Services.jpg"/>
          <p:cNvPicPr>
            <a:picLocks noChangeAspect="1" noChangeArrowheads="1"/>
          </p:cNvPicPr>
          <p:nvPr/>
        </p:nvPicPr>
        <p:blipFill>
          <a:blip r:embed="rId2"/>
          <a:srcRect/>
          <a:stretch>
            <a:fillRect/>
          </a:stretch>
        </p:blipFill>
        <p:spPr bwMode="auto">
          <a:xfrm>
            <a:off x="806450" y="1123950"/>
            <a:ext cx="6667500" cy="4732338"/>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D3934CB9-679C-4934-BADB-3AFEC459AEC4}" type="slidenum">
              <a:rPr lang="en-US" smtClean="0"/>
              <a:pPr>
                <a:defRPr/>
              </a:pPr>
              <a:t>77</a:t>
            </a:fld>
            <a:endParaRPr lang="en-US"/>
          </a:p>
        </p:txBody>
      </p:sp>
      <p:sp>
        <p:nvSpPr>
          <p:cNvPr id="3" name="Rectangle 2"/>
          <p:cNvSpPr/>
          <p:nvPr/>
        </p:nvSpPr>
        <p:spPr>
          <a:xfrm>
            <a:off x="368990" y="1034217"/>
            <a:ext cx="8362950" cy="5632311"/>
          </a:xfrm>
          <a:prstGeom prst="rect">
            <a:avLst/>
          </a:prstGeom>
        </p:spPr>
        <p:txBody>
          <a:bodyPr wrap="square">
            <a:spAutoFit/>
          </a:bodyPr>
          <a:lstStyle/>
          <a:p>
            <a:pPr>
              <a:defRPr/>
            </a:pPr>
            <a:r>
              <a:rPr lang="en-US" sz="2000" b="1" dirty="0">
                <a:latin typeface="+mj-lt"/>
              </a:rPr>
              <a:t>User Interfaces</a:t>
            </a:r>
            <a:r>
              <a:rPr lang="en-US" sz="2000" dirty="0">
                <a:latin typeface="+mj-lt"/>
              </a:rPr>
              <a:t> - Means by which users can issue commands to the system. Depending on the system these may be a command-line interface ( e.g. </a:t>
            </a:r>
            <a:r>
              <a:rPr lang="en-US" sz="2000" dirty="0" err="1">
                <a:latin typeface="+mj-lt"/>
              </a:rPr>
              <a:t>sh</a:t>
            </a:r>
            <a:r>
              <a:rPr lang="en-US" sz="2000" dirty="0">
                <a:latin typeface="+mj-lt"/>
              </a:rPr>
              <a:t>, </a:t>
            </a:r>
            <a:r>
              <a:rPr lang="en-US" sz="2000" dirty="0" err="1">
                <a:latin typeface="+mj-lt"/>
              </a:rPr>
              <a:t>csh</a:t>
            </a:r>
            <a:r>
              <a:rPr lang="en-US" sz="2000" dirty="0">
                <a:latin typeface="+mj-lt"/>
              </a:rPr>
              <a:t>, </a:t>
            </a:r>
            <a:r>
              <a:rPr lang="en-US" sz="2000" dirty="0" err="1">
                <a:latin typeface="+mj-lt"/>
              </a:rPr>
              <a:t>ksh</a:t>
            </a:r>
            <a:r>
              <a:rPr lang="en-US" sz="2000" dirty="0">
                <a:latin typeface="+mj-lt"/>
              </a:rPr>
              <a:t>, </a:t>
            </a:r>
            <a:r>
              <a:rPr lang="en-US" sz="2000" dirty="0" err="1">
                <a:latin typeface="+mj-lt"/>
              </a:rPr>
              <a:t>tcsh</a:t>
            </a:r>
            <a:r>
              <a:rPr lang="en-US" sz="2000" dirty="0">
                <a:latin typeface="+mj-lt"/>
              </a:rPr>
              <a:t>, etc. ), a GUI interface ( e.g. Windows, X-Windows, KDE, Gnome, etc. ), or a batch command systems. The latter are generally older systems using punch cards of job-control language, JCL, but may still be used today for specialty systems designed for a single purpose.</a:t>
            </a:r>
          </a:p>
          <a:p>
            <a:pPr>
              <a:defRPr/>
            </a:pPr>
            <a:r>
              <a:rPr lang="en-US" sz="2000" b="1" dirty="0">
                <a:latin typeface="+mj-lt"/>
              </a:rPr>
              <a:t>Program Execution</a:t>
            </a:r>
            <a:r>
              <a:rPr lang="en-US" sz="2000" dirty="0">
                <a:latin typeface="+mj-lt"/>
              </a:rPr>
              <a:t> - The OS must be able to load a program into RAM, run the program, and terminate the program, either normally or abnormally.</a:t>
            </a:r>
          </a:p>
          <a:p>
            <a:pPr>
              <a:defRPr/>
            </a:pPr>
            <a:r>
              <a:rPr lang="en-US" sz="2000" b="1" dirty="0">
                <a:latin typeface="+mj-lt"/>
              </a:rPr>
              <a:t>I/O Operations</a:t>
            </a:r>
            <a:r>
              <a:rPr lang="en-US" sz="2000" dirty="0">
                <a:latin typeface="+mj-lt"/>
              </a:rPr>
              <a:t> - The OS is responsible for transferring data to and from I/O devices, including keyboards, terminals, printers, and storage devices.</a:t>
            </a:r>
          </a:p>
          <a:p>
            <a:pPr>
              <a:defRPr/>
            </a:pPr>
            <a:r>
              <a:rPr lang="en-US" sz="2000" b="1" dirty="0">
                <a:latin typeface="+mj-lt"/>
              </a:rPr>
              <a:t>File-System Manipulation</a:t>
            </a:r>
            <a:r>
              <a:rPr lang="en-US" sz="2000" dirty="0">
                <a:latin typeface="+mj-lt"/>
              </a:rPr>
              <a:t> - In addition to raw data storage, the OS is also responsible for maintaining directory and subdirectory structures, mapping file names to specific blocks of data storage, and providing tools for navigating and utilizing the file system.</a:t>
            </a:r>
          </a:p>
          <a:p>
            <a:pPr>
              <a:defRPr/>
            </a:pPr>
            <a:r>
              <a:rPr lang="en-US" sz="2000" b="1" dirty="0">
                <a:latin typeface="+mj-lt"/>
              </a:rPr>
              <a:t>Communications</a:t>
            </a:r>
            <a:r>
              <a:rPr lang="en-US" sz="2000" dirty="0">
                <a:latin typeface="+mj-lt"/>
              </a:rPr>
              <a:t> - Inter-process communications, IPC, either between processes running on the same processor, or between processes running on separate processors or separate machines. May be implemented as either shared memory or message passing, ( or some systems may offer both.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EDDED1FC-68C7-43AF-B887-3D40E6052050}" type="slidenum">
              <a:rPr lang="en-US" smtClean="0"/>
              <a:pPr>
                <a:defRPr/>
              </a:pPr>
              <a:t>78</a:t>
            </a:fld>
            <a:endParaRPr lang="en-US"/>
          </a:p>
        </p:txBody>
      </p:sp>
      <p:sp>
        <p:nvSpPr>
          <p:cNvPr id="3" name="Rectangle 2"/>
          <p:cNvSpPr/>
          <p:nvPr/>
        </p:nvSpPr>
        <p:spPr>
          <a:xfrm>
            <a:off x="1" y="428605"/>
            <a:ext cx="8929718" cy="6247864"/>
          </a:xfrm>
          <a:prstGeom prst="rect">
            <a:avLst/>
          </a:prstGeom>
        </p:spPr>
        <p:txBody>
          <a:bodyPr wrap="square">
            <a:spAutoFit/>
          </a:bodyPr>
          <a:lstStyle/>
          <a:p>
            <a:pPr>
              <a:defRPr/>
            </a:pPr>
            <a:r>
              <a:rPr lang="en-US" sz="2000" b="1" dirty="0"/>
              <a:t>Error Detection</a:t>
            </a:r>
            <a:r>
              <a:rPr lang="en-US" sz="2000" dirty="0"/>
              <a:t> - Both hardware and software errors must be detected and handled appropriately, with a minimum of harmful repercussions. Some systems may include complex error avoidance or recovery systems, including backups, RAID drives, and other redundant systems. Debugging and diagnostic tools aid users and administrators in tracing down the cause of problems.</a:t>
            </a:r>
          </a:p>
          <a:p>
            <a:pPr>
              <a:defRPr/>
            </a:pPr>
            <a:r>
              <a:rPr lang="en-US" sz="2000" dirty="0">
                <a:latin typeface="+mj-lt"/>
              </a:rPr>
              <a:t>Other systems aid in the efficient operation of the OS itself:</a:t>
            </a:r>
          </a:p>
          <a:p>
            <a:pPr>
              <a:defRPr/>
            </a:pPr>
            <a:r>
              <a:rPr lang="en-US" sz="2000" b="1" dirty="0">
                <a:latin typeface="+mj-lt"/>
              </a:rPr>
              <a:t>Resource Allocation</a:t>
            </a:r>
            <a:r>
              <a:rPr lang="en-US" sz="2000" dirty="0">
                <a:latin typeface="+mj-lt"/>
              </a:rPr>
              <a:t> - E.g. CPU cycles, main memory, storage space, and peripheral devices. Some resources are managed with generic systems and others with very carefully designed and specially tuned systems, customized for a particular resource and operating environment.</a:t>
            </a:r>
          </a:p>
          <a:p>
            <a:pPr>
              <a:defRPr/>
            </a:pPr>
            <a:r>
              <a:rPr lang="en-US" sz="2000" b="1" dirty="0">
                <a:latin typeface="+mj-lt"/>
              </a:rPr>
              <a:t>Accounting</a:t>
            </a:r>
            <a:r>
              <a:rPr lang="en-US" sz="2000" dirty="0">
                <a:latin typeface="+mj-lt"/>
              </a:rPr>
              <a:t> - Keeping track of system activity and resource usage, either for billing purposes or for statistical record keeping that can be used to optimize future performance.</a:t>
            </a:r>
          </a:p>
          <a:p>
            <a:pPr>
              <a:defRPr/>
            </a:pPr>
            <a:r>
              <a:rPr lang="en-US" sz="2000" b="1" dirty="0">
                <a:latin typeface="+mj-lt"/>
              </a:rPr>
              <a:t>Protection and Security</a:t>
            </a:r>
            <a:r>
              <a:rPr lang="en-US" sz="2000" dirty="0">
                <a:latin typeface="+mj-lt"/>
              </a:rPr>
              <a:t> - Preventing harm to the system and to resources, either through wayward internal processes or malicious outsiders. Authentication, ownership, and restricted access are obvious parts of this system. Highly secure systems may log all process activity down to excruciating detail, and security regulation dictate the storage of those records on permanent non-erasable medium for extended times in secure ( off-site ) facilities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sz="6000" b="1" dirty="0"/>
              <a:t>2.1What is a Kernel</a:t>
            </a:r>
            <a:endParaRPr lang="en-US" dirty="0"/>
          </a:p>
        </p:txBody>
      </p:sp>
      <p:sp>
        <p:nvSpPr>
          <p:cNvPr id="77827" name="Content Placeholder 2"/>
          <p:cNvSpPr>
            <a:spLocks noGrp="1"/>
          </p:cNvSpPr>
          <p:nvPr>
            <p:ph idx="1"/>
          </p:nvPr>
        </p:nvSpPr>
        <p:spPr>
          <a:xfrm>
            <a:off x="685800" y="3213100"/>
            <a:ext cx="7345363" cy="2882900"/>
          </a:xfrm>
        </p:spPr>
        <p:txBody>
          <a:bodyPr/>
          <a:lstStyle/>
          <a:p>
            <a:r>
              <a:rPr lang="en-US" sz="2000" dirty="0"/>
              <a:t>The kernel is the central component of a computer operating systems. The only job performed by the kernel is to the manage the communication between the software and the hardware. </a:t>
            </a:r>
          </a:p>
          <a:p>
            <a:r>
              <a:rPr lang="en-US" sz="2000" dirty="0"/>
              <a:t>A Kernel is at the nucleus of a computer. It makes the communication between the hardware and software possible. While the Kernel is the innermost part of an operating system, a shell is the outermost one.</a:t>
            </a:r>
          </a:p>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67CE4674-0786-4B32-8305-E2178D5AEF4D}" type="slidenum">
              <a:rPr lang="en-US" smtClean="0"/>
              <a:pPr>
                <a:defRPr/>
              </a:pPr>
              <a:t>79</a:t>
            </a:fld>
            <a:endParaRPr lang="en-US"/>
          </a:p>
        </p:txBody>
      </p:sp>
      <p:pic>
        <p:nvPicPr>
          <p:cNvPr id="77829" name="Picture 2" descr="What is Kernel"/>
          <p:cNvPicPr>
            <a:picLocks noChangeAspect="1" noChangeArrowheads="1"/>
          </p:cNvPicPr>
          <p:nvPr/>
        </p:nvPicPr>
        <p:blipFill>
          <a:blip r:embed="rId2"/>
          <a:srcRect/>
          <a:stretch>
            <a:fillRect/>
          </a:stretch>
        </p:blipFill>
        <p:spPr bwMode="auto">
          <a:xfrm>
            <a:off x="1571604" y="1214422"/>
            <a:ext cx="5734050" cy="2178062"/>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b="1"/>
              <a:t>Features of Kennel</a:t>
            </a:r>
            <a:br>
              <a:rPr lang="en-US" b="1"/>
            </a:br>
            <a:endParaRPr lang="en-US"/>
          </a:p>
        </p:txBody>
      </p:sp>
      <p:sp>
        <p:nvSpPr>
          <p:cNvPr id="78851" name="Content Placeholder 2"/>
          <p:cNvSpPr>
            <a:spLocks noGrp="1"/>
          </p:cNvSpPr>
          <p:nvPr>
            <p:ph idx="1"/>
          </p:nvPr>
        </p:nvSpPr>
        <p:spPr/>
        <p:txBody>
          <a:bodyPr/>
          <a:lstStyle/>
          <a:p>
            <a:r>
              <a:rPr lang="en-US"/>
              <a:t>Low-level scheduling of processes</a:t>
            </a:r>
          </a:p>
          <a:p>
            <a:r>
              <a:rPr lang="en-US"/>
              <a:t>Inter-process communication</a:t>
            </a:r>
          </a:p>
          <a:p>
            <a:r>
              <a:rPr lang="en-US"/>
              <a:t>Process synchronization</a:t>
            </a:r>
          </a:p>
          <a:p>
            <a:r>
              <a:rPr lang="en-US"/>
              <a:t>Context switching</a:t>
            </a:r>
          </a:p>
          <a:p>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86902DF2-73BE-453F-85E3-CFA6636DBD78}" type="slidenum">
              <a:rPr lang="en-US" smtClean="0"/>
              <a:pPr>
                <a:defRPr/>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B845A338-0D92-44F1-944F-2E3FE7744CB8}" type="slidenum">
              <a:rPr lang="en-US" smtClean="0"/>
              <a:pPr>
                <a:defRPr/>
              </a:pPr>
              <a:t>81</a:t>
            </a:fld>
            <a:endParaRPr lang="en-US"/>
          </a:p>
        </p:txBody>
      </p:sp>
      <p:pic>
        <p:nvPicPr>
          <p:cNvPr id="79875" name="Picture 2" descr="Linux Operating System Architecture"/>
          <p:cNvPicPr>
            <a:picLocks noChangeAspect="1" noChangeArrowheads="1"/>
          </p:cNvPicPr>
          <p:nvPr/>
        </p:nvPicPr>
        <p:blipFill>
          <a:blip r:embed="rId2"/>
          <a:srcRect/>
          <a:stretch>
            <a:fillRect/>
          </a:stretch>
        </p:blipFill>
        <p:spPr bwMode="auto">
          <a:xfrm>
            <a:off x="1797050" y="0"/>
            <a:ext cx="6894513" cy="6030913"/>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b="1"/>
              <a:t>Types of Kernels</a:t>
            </a:r>
            <a:br>
              <a:rPr lang="en-US" b="1"/>
            </a:br>
            <a:endParaRPr lang="en-US"/>
          </a:p>
        </p:txBody>
      </p:sp>
      <p:sp>
        <p:nvSpPr>
          <p:cNvPr id="80899" name="Content Placeholder 2"/>
          <p:cNvSpPr>
            <a:spLocks noGrp="1"/>
          </p:cNvSpPr>
          <p:nvPr>
            <p:ph idx="1"/>
          </p:nvPr>
        </p:nvSpPr>
        <p:spPr>
          <a:xfrm>
            <a:off x="685800" y="823913"/>
            <a:ext cx="7772400" cy="5272087"/>
          </a:xfrm>
        </p:spPr>
        <p:txBody>
          <a:bodyPr/>
          <a:lstStyle/>
          <a:p>
            <a:pPr>
              <a:buFontTx/>
              <a:buNone/>
            </a:pPr>
            <a:endParaRPr lang="en-US" sz="2000" b="1" dirty="0"/>
          </a:p>
          <a:p>
            <a:pPr>
              <a:buFontTx/>
              <a:buNone/>
            </a:pPr>
            <a:r>
              <a:rPr lang="en-US" sz="2000" b="1" dirty="0"/>
              <a:t>Monolithic</a:t>
            </a:r>
            <a:endParaRPr lang="en-US" sz="2000" dirty="0"/>
          </a:p>
          <a:p>
            <a:r>
              <a:rPr lang="en-US" sz="2000" dirty="0"/>
              <a:t>A monolithic kernel is a single code or block of the program. It provides all the required services offered by the operating system. It is a simplistic design which creates a distinct communication layer between the hardware and software.</a:t>
            </a:r>
          </a:p>
          <a:p>
            <a:pPr>
              <a:buFontTx/>
              <a:buNone/>
            </a:pPr>
            <a:r>
              <a:rPr lang="en-US" sz="2000" b="1" dirty="0"/>
              <a:t> Microkernels</a:t>
            </a:r>
            <a:endParaRPr lang="en-US" sz="2000" dirty="0"/>
          </a:p>
          <a:p>
            <a:r>
              <a:rPr lang="en-US" sz="2000" dirty="0"/>
              <a:t>Microkernel manages all system resources. In this type of kernel, services are implemented in different address space. The user services are stored in user address space, and kernel services are stored under kernel address space.</a:t>
            </a:r>
            <a:r>
              <a:rPr lang="en-US" sz="2400" dirty="0"/>
              <a:t> </a:t>
            </a:r>
            <a:r>
              <a:rPr lang="en-US" sz="2000" dirty="0"/>
              <a:t>So, it helps to reduce the size of both the kernel and operating system.</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b="1">
                <a:solidFill>
                  <a:srgbClr val="000000"/>
                </a:solidFill>
                <a:latin typeface="Arial" pitchFamily="34" charset="0"/>
                <a:cs typeface="Arial" pitchFamily="34" charset="0"/>
              </a:rPr>
              <a:t>Differences between kernel and OS are</a:t>
            </a:r>
            <a:endParaRPr lang="en-US"/>
          </a:p>
        </p:txBody>
      </p:sp>
      <p:graphicFrame>
        <p:nvGraphicFramePr>
          <p:cNvPr id="5" name="Table 4"/>
          <p:cNvGraphicFramePr>
            <a:graphicFrameLocks noGrp="1"/>
          </p:cNvGraphicFramePr>
          <p:nvPr/>
        </p:nvGraphicFramePr>
        <p:xfrm>
          <a:off x="906463" y="1397000"/>
          <a:ext cx="6744750" cy="4776925"/>
        </p:xfrm>
        <a:graphic>
          <a:graphicData uri="http://schemas.openxmlformats.org/drawingml/2006/table">
            <a:tbl>
              <a:tblPr/>
              <a:tblGrid>
                <a:gridCol w="3372375">
                  <a:extLst>
                    <a:ext uri="{9D8B030D-6E8A-4147-A177-3AD203B41FA5}">
                      <a16:colId xmlns:a16="http://schemas.microsoft.com/office/drawing/2014/main" val="20000"/>
                    </a:ext>
                  </a:extLst>
                </a:gridCol>
                <a:gridCol w="3372375">
                  <a:extLst>
                    <a:ext uri="{9D8B030D-6E8A-4147-A177-3AD203B41FA5}">
                      <a16:colId xmlns:a16="http://schemas.microsoft.com/office/drawing/2014/main" val="20001"/>
                    </a:ext>
                  </a:extLst>
                </a:gridCol>
              </a:tblGrid>
              <a:tr h="223864">
                <a:tc>
                  <a:txBody>
                    <a:bodyPr/>
                    <a:lstStyle/>
                    <a:p>
                      <a:pPr algn="ctr" fontAlgn="t"/>
                      <a:r>
                        <a:rPr lang="en-US" sz="1600" dirty="0"/>
                        <a:t>Kernel</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600"/>
                        <a:t>Operating System</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843797">
                <a:tc>
                  <a:txBody>
                    <a:bodyPr/>
                    <a:lstStyle/>
                    <a:p>
                      <a:pPr fontAlgn="t"/>
                      <a:r>
                        <a:rPr lang="en-US" sz="1600" dirty="0"/>
                        <a:t>Kernel is the core part of operating system</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Operating system (OS) is a collection of software that manages computer hardware resources</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843797">
                <a:tc>
                  <a:txBody>
                    <a:bodyPr/>
                    <a:lstStyle/>
                    <a:p>
                      <a:pPr fontAlgn="t"/>
                      <a:r>
                        <a:rPr lang="en-US" sz="1600"/>
                        <a:t>It acts as an interface between software and hardware of the computer system.</a:t>
                      </a:r>
                      <a:br>
                        <a:rPr lang="en-US" sz="1600"/>
                      </a:br>
                      <a:endParaRPr lang="en-US" sz="160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It acts as an interface between user and hardware of the computer</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1153763">
                <a:tc>
                  <a:txBody>
                    <a:bodyPr/>
                    <a:lstStyle/>
                    <a:p>
                      <a:pPr fontAlgn="t"/>
                      <a:r>
                        <a:rPr lang="en-US" sz="1600"/>
                        <a:t/>
                      </a:r>
                      <a:br>
                        <a:rPr lang="en-US" sz="1600"/>
                      </a:br>
                      <a:r>
                        <a:rPr lang="en-US" sz="1600"/>
                        <a:t/>
                      </a:r>
                      <a:br>
                        <a:rPr lang="en-US" sz="1600"/>
                      </a:br>
                      <a:r>
                        <a:rPr lang="en-US" sz="1600"/>
                        <a:t>It plays an important role in memory management, task management, process management and disk management.</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It responsible for protection and security of the computer system.</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998780">
                <a:tc>
                  <a:txBody>
                    <a:bodyPr/>
                    <a:lstStyle/>
                    <a:p>
                      <a:pPr fontAlgn="t"/>
                      <a:r>
                        <a:rPr lang="en-US" sz="1600"/>
                        <a:t>Monolithic Kernel and Micro kernel are the two types of kernel.</a:t>
                      </a:r>
                      <a:br>
                        <a:rPr lang="en-US" sz="1600"/>
                      </a:br>
                      <a:endParaRPr lang="en-US" sz="160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Single and Multiprogramming batch system, Distributed operating system, Real-time operating system are the types of operating system.</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1944" name="Rectangle 1"/>
          <p:cNvSpPr>
            <a:spLocks noChangeArrowheads="1"/>
          </p:cNvSpPr>
          <p:nvPr/>
        </p:nvSpPr>
        <p:spPr bwMode="auto">
          <a:xfrm>
            <a:off x="0" y="0"/>
            <a:ext cx="271463" cy="276225"/>
          </a:xfrm>
          <a:prstGeom prst="rect">
            <a:avLst/>
          </a:prstGeom>
          <a:noFill/>
          <a:ln w="9525">
            <a:noFill/>
            <a:miter lim="800000"/>
            <a:headEnd/>
            <a:tailEnd/>
          </a:ln>
        </p:spPr>
        <p:txBody>
          <a:bodyPr wrap="none" anchor="ctr">
            <a:spAutoFit/>
          </a:bodyPr>
          <a:lstStyle/>
          <a:p>
            <a:pPr algn="just" eaLnBrk="0" hangingPunct="0"/>
            <a:r>
              <a:rPr lang="en-US" sz="1200" b="1">
                <a:solidFill>
                  <a:srgbClr val="000000"/>
                </a:solidFill>
                <a:latin typeface="Arial" pitchFamily="34" charset="0"/>
                <a:cs typeface="Arial" pitchFamily="34" charset="0"/>
              </a:rPr>
              <a:t>  </a:t>
            </a: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ntent Placeholder 2"/>
          <p:cNvSpPr>
            <a:spLocks noGrp="1"/>
          </p:cNvSpPr>
          <p:nvPr>
            <p:ph idx="1"/>
          </p:nvPr>
        </p:nvSpPr>
        <p:spPr>
          <a:xfrm>
            <a:off x="685800" y="712788"/>
            <a:ext cx="7772400" cy="5383212"/>
          </a:xfrm>
        </p:spPr>
        <p:txBody>
          <a:bodyPr/>
          <a:lstStyle/>
          <a:p>
            <a:pPr>
              <a:buFontTx/>
              <a:buNone/>
            </a:pPr>
            <a:r>
              <a:rPr lang="en-US" sz="1800" dirty="0"/>
              <a:t>There are two modes of operation in the operating system to make sure it works correctly. These are user mode and kernel mode.</a:t>
            </a:r>
          </a:p>
          <a:p>
            <a:pPr>
              <a:lnSpc>
                <a:spcPct val="100000"/>
              </a:lnSpc>
              <a:buFontTx/>
              <a:buNone/>
            </a:pPr>
            <a:r>
              <a:rPr lang="en-US" sz="1800" b="1" dirty="0"/>
              <a:t>User Mode</a:t>
            </a:r>
          </a:p>
          <a:p>
            <a:pPr>
              <a:lnSpc>
                <a:spcPct val="100000"/>
              </a:lnSpc>
            </a:pPr>
            <a:r>
              <a:rPr lang="en-US" sz="1800" dirty="0"/>
              <a:t>The system is in user mode when the operating system is running a user application such as handling a text editor. The transition from user mode to kernel mode occurs when the application requests the help of operating system or an interrupt or a system call occurs.</a:t>
            </a:r>
          </a:p>
          <a:p>
            <a:pPr>
              <a:lnSpc>
                <a:spcPct val="100000"/>
              </a:lnSpc>
            </a:pPr>
            <a:r>
              <a:rPr lang="en-US" sz="1800" dirty="0"/>
              <a:t>The mode bit is set to 1 in the user mode. It is changed from 1 to 0 when switching from user mode to kernel mode.</a:t>
            </a:r>
          </a:p>
          <a:p>
            <a:pPr>
              <a:lnSpc>
                <a:spcPct val="100000"/>
              </a:lnSpc>
              <a:buFontTx/>
              <a:buNone/>
            </a:pPr>
            <a:r>
              <a:rPr lang="en-US" sz="1800" b="1" dirty="0"/>
              <a:t>Kernel Mode</a:t>
            </a:r>
          </a:p>
          <a:p>
            <a:pPr>
              <a:lnSpc>
                <a:spcPct val="100000"/>
              </a:lnSpc>
            </a:pPr>
            <a:r>
              <a:rPr lang="en-US" sz="1800" dirty="0"/>
              <a:t>The system starts in kernel mode when it boots and after the operating system is loaded, it executes applications in user mode. There are some privileged instructions that can only be executed in kernel mode.</a:t>
            </a:r>
          </a:p>
          <a:p>
            <a:pPr>
              <a:lnSpc>
                <a:spcPct val="100000"/>
              </a:lnSpc>
            </a:pPr>
            <a:r>
              <a:rPr lang="en-US" sz="1800" dirty="0"/>
              <a:t>These are interrupt instructions, input output management etc. If the privileged instructions are executed in user mode, it is illegal and a trap is generated.</a:t>
            </a:r>
          </a:p>
          <a:p>
            <a:pPr>
              <a:lnSpc>
                <a:spcPct val="100000"/>
              </a:lnSpc>
            </a:pPr>
            <a:r>
              <a:rPr lang="en-US" sz="1800" dirty="0"/>
              <a:t>The mode bit is set to 0 in the kernel mode. It is changed from 0 to 1 when switching from kernel mode to user mode.</a:t>
            </a:r>
          </a:p>
          <a:p>
            <a:pPr>
              <a:lnSpc>
                <a:spcPct val="100000"/>
              </a:lnSpc>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endParaRPr lang="en-US"/>
          </a:p>
        </p:txBody>
      </p:sp>
      <p:pic>
        <p:nvPicPr>
          <p:cNvPr id="83972" name="Picture 2" descr="User Mode vs Kernel Mode"/>
          <p:cNvPicPr>
            <a:picLocks noChangeAspect="1" noChangeArrowheads="1"/>
          </p:cNvPicPr>
          <p:nvPr/>
        </p:nvPicPr>
        <p:blipFill>
          <a:blip r:embed="rId2"/>
          <a:srcRect/>
          <a:stretch>
            <a:fillRect/>
          </a:stretch>
        </p:blipFill>
        <p:spPr bwMode="auto">
          <a:xfrm>
            <a:off x="898525" y="947738"/>
            <a:ext cx="7466013" cy="4127500"/>
          </a:xfrm>
          <a:prstGeom prst="rect">
            <a:avLst/>
          </a:prstGeom>
          <a:noFill/>
          <a:ln w="9525">
            <a:noFill/>
            <a:miter lim="800000"/>
            <a:headEnd/>
            <a:tailEnd/>
          </a:ln>
        </p:spPr>
      </p:pic>
      <p:sp>
        <p:nvSpPr>
          <p:cNvPr id="6" name="Rectangle 5"/>
          <p:cNvSpPr/>
          <p:nvPr/>
        </p:nvSpPr>
        <p:spPr>
          <a:xfrm>
            <a:off x="973138" y="5078413"/>
            <a:ext cx="7156450" cy="1477962"/>
          </a:xfrm>
          <a:prstGeom prst="rect">
            <a:avLst/>
          </a:prstGeom>
        </p:spPr>
        <p:txBody>
          <a:bodyPr>
            <a:spAutoFit/>
          </a:bodyPr>
          <a:lstStyle/>
          <a:p>
            <a:pPr>
              <a:defRPr/>
            </a:pPr>
            <a:r>
              <a:rPr lang="en-US" sz="1800" dirty="0">
                <a:latin typeface="+mj-lt"/>
              </a:rPr>
              <a:t>In the above image, the user process executes in the user mode until it gets a system call. Then a system trap is generated and the mode bit is set to zero. The system call gets executed in kernel mode. After the execution is completed, again a system trap is generated and the mode bit is set to 1. The system control returns to kernel mode and the process execution continues.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p:cNvSpPr>
            <a:spLocks noGrp="1"/>
          </p:cNvSpPr>
          <p:nvPr>
            <p:ph idx="1"/>
          </p:nvPr>
        </p:nvSpPr>
        <p:spPr>
          <a:xfrm>
            <a:off x="685800" y="654050"/>
            <a:ext cx="7772400" cy="5441950"/>
          </a:xfrm>
        </p:spPr>
        <p:txBody>
          <a:bodyPr/>
          <a:lstStyle/>
          <a:p>
            <a:pPr>
              <a:lnSpc>
                <a:spcPct val="100000"/>
              </a:lnSpc>
              <a:buFontTx/>
              <a:buNone/>
            </a:pPr>
            <a:r>
              <a:rPr lang="en-US" sz="2400" b="1" dirty="0"/>
              <a:t>Necessity of Dual Mode (User Mode and Kernel Mode) in Operating System</a:t>
            </a:r>
          </a:p>
          <a:p>
            <a:pPr>
              <a:lnSpc>
                <a:spcPct val="100000"/>
              </a:lnSpc>
            </a:pPr>
            <a:endParaRPr lang="en-US" sz="2400" dirty="0"/>
          </a:p>
          <a:p>
            <a:pPr>
              <a:lnSpc>
                <a:spcPct val="100000"/>
              </a:lnSpc>
            </a:pPr>
            <a:r>
              <a:rPr lang="en-US" sz="2400" dirty="0"/>
              <a:t>The lack of a dual mode </a:t>
            </a:r>
            <a:r>
              <a:rPr lang="en-US" sz="2400" dirty="0" err="1"/>
              <a:t>i.e</a:t>
            </a:r>
            <a:r>
              <a:rPr lang="en-US" sz="2400" dirty="0"/>
              <a:t> user mode and kernel mode in an operating system can cause serious problems. Some of these are −</a:t>
            </a:r>
          </a:p>
          <a:p>
            <a:pPr>
              <a:lnSpc>
                <a:spcPct val="100000"/>
              </a:lnSpc>
            </a:pPr>
            <a:r>
              <a:rPr lang="en-US" sz="2400" dirty="0"/>
              <a:t>A running user program can </a:t>
            </a:r>
            <a:r>
              <a:rPr lang="en-US" sz="2400" dirty="0" err="1"/>
              <a:t>accidentaly</a:t>
            </a:r>
            <a:r>
              <a:rPr lang="en-US" sz="2400" dirty="0"/>
              <a:t> wipe out the operating system by overwriting it with user data.</a:t>
            </a:r>
          </a:p>
          <a:p>
            <a:pPr>
              <a:lnSpc>
                <a:spcPct val="100000"/>
              </a:lnSpc>
            </a:pPr>
            <a:r>
              <a:rPr lang="en-US" sz="2400" dirty="0"/>
              <a:t>Multiple processes can write in the same system at the same time, with disastrous results.</a:t>
            </a:r>
          </a:p>
          <a:p>
            <a:pPr>
              <a:lnSpc>
                <a:spcPct val="100000"/>
              </a:lnSpc>
            </a:pPr>
            <a:r>
              <a:rPr lang="en-US" sz="2400" dirty="0"/>
              <a:t>These problems could have occurred in the MS-DOS operating system which had no mode bit and so no dual mode.</a:t>
            </a:r>
          </a:p>
          <a:p>
            <a:pPr>
              <a:lnSpc>
                <a:spcPct val="100000"/>
              </a:lnSpc>
            </a:pPr>
            <a:endParaRPr lang="en-US" sz="1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685800" y="0"/>
            <a:ext cx="7772400" cy="1711325"/>
          </a:xfrm>
        </p:spPr>
        <p:txBody>
          <a:bodyPr/>
          <a:lstStyle/>
          <a:p>
            <a:r>
              <a:rPr lang="en-US" sz="3600"/>
              <a:t>Difference Between Microkernel and Monolithic Kernel</a:t>
            </a:r>
            <a:r>
              <a:rPr lang="en-US"/>
              <a:t/>
            </a:r>
            <a:br>
              <a:rPr lang="en-US"/>
            </a:br>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56DBE3FC-5B96-420B-9C1A-8986AA60E7DC}" type="slidenum">
              <a:rPr lang="en-US" smtClean="0"/>
              <a:pPr>
                <a:defRPr/>
              </a:pPr>
              <a:t>87</a:t>
            </a:fld>
            <a:endParaRPr lang="en-US"/>
          </a:p>
        </p:txBody>
      </p:sp>
      <p:pic>
        <p:nvPicPr>
          <p:cNvPr id="86020" name="Picture 2" descr="microkernel-vs-monolithic-kernel"/>
          <p:cNvPicPr>
            <a:picLocks noChangeAspect="1" noChangeArrowheads="1"/>
          </p:cNvPicPr>
          <p:nvPr/>
        </p:nvPicPr>
        <p:blipFill>
          <a:blip r:embed="rId2"/>
          <a:srcRect/>
          <a:stretch>
            <a:fillRect/>
          </a:stretch>
        </p:blipFill>
        <p:spPr bwMode="auto">
          <a:xfrm>
            <a:off x="520700" y="1652588"/>
            <a:ext cx="7700963" cy="3727450"/>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654050" y="268288"/>
          <a:ext cx="8028264" cy="5860937"/>
        </p:xfrm>
        <a:graphic>
          <a:graphicData uri="http://schemas.openxmlformats.org/drawingml/2006/table">
            <a:tbl>
              <a:tblPr/>
              <a:tblGrid>
                <a:gridCol w="1882223">
                  <a:extLst>
                    <a:ext uri="{9D8B030D-6E8A-4147-A177-3AD203B41FA5}">
                      <a16:colId xmlns:a16="http://schemas.microsoft.com/office/drawing/2014/main" val="20000"/>
                    </a:ext>
                  </a:extLst>
                </a:gridCol>
                <a:gridCol w="3469953">
                  <a:extLst>
                    <a:ext uri="{9D8B030D-6E8A-4147-A177-3AD203B41FA5}">
                      <a16:colId xmlns:a16="http://schemas.microsoft.com/office/drawing/2014/main" val="20001"/>
                    </a:ext>
                  </a:extLst>
                </a:gridCol>
                <a:gridCol w="2676088">
                  <a:extLst>
                    <a:ext uri="{9D8B030D-6E8A-4147-A177-3AD203B41FA5}">
                      <a16:colId xmlns:a16="http://schemas.microsoft.com/office/drawing/2014/main" val="20002"/>
                    </a:ext>
                  </a:extLst>
                </a:gridCol>
              </a:tblGrid>
              <a:tr h="385567">
                <a:tc>
                  <a:txBody>
                    <a:bodyPr/>
                    <a:lstStyle/>
                    <a:p>
                      <a:pPr algn="ctr" fontAlgn="ctr"/>
                      <a:r>
                        <a:rPr lang="en-US" sz="1600" b="1" cap="all" dirty="0"/>
                        <a:t>BASIS FOR COMPARISON</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600" b="1" cap="all"/>
                        <a:t>MICROKERNEL</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600" b="1" cap="all"/>
                        <a:t>MONOLITHIC KERNEL</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10000"/>
                  </a:ext>
                </a:extLst>
              </a:tr>
              <a:tr h="833322">
                <a:tc>
                  <a:txBody>
                    <a:bodyPr/>
                    <a:lstStyle/>
                    <a:p>
                      <a:pPr algn="l" fontAlgn="t"/>
                      <a:r>
                        <a:rPr lang="en-US" sz="1600" dirty="0"/>
                        <a:t>Basic</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In microkernel user services and kernel, services are kept in separate address space.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In monolithic kernel, both user services and kernel services are kept in the same address space.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7506">
                <a:tc>
                  <a:txBody>
                    <a:bodyPr/>
                    <a:lstStyle/>
                    <a:p>
                      <a:pPr algn="l" fontAlgn="t"/>
                      <a:r>
                        <a:rPr lang="en-US" sz="1600"/>
                        <a:t>Size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Microkernel are smaller in size.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a:t>Monolithic kernel is larger than microkernel.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553378">
                <a:tc>
                  <a:txBody>
                    <a:bodyPr/>
                    <a:lstStyle/>
                    <a:p>
                      <a:pPr algn="l" fontAlgn="t"/>
                      <a:r>
                        <a:rPr lang="en-US" sz="1600"/>
                        <a:t>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Slow 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Fast 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5952">
                <a:tc>
                  <a:txBody>
                    <a:bodyPr/>
                    <a:lstStyle/>
                    <a:p>
                      <a:pPr algn="l" fontAlgn="t"/>
                      <a:r>
                        <a:rPr lang="en-US" sz="1600"/>
                        <a:t>Extendible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The microkernel is easily extendible.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The monolithic kernel is hard to extend.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721383">
                <a:tc>
                  <a:txBody>
                    <a:bodyPr/>
                    <a:lstStyle/>
                    <a:p>
                      <a:pPr algn="l" fontAlgn="t"/>
                      <a:r>
                        <a:rPr lang="en-US" sz="1600"/>
                        <a:t>Security</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If a service crashes, it does effect on working of microkernel.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If a service crashes, the whole system crashes in monolithic 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9445">
                <a:tc>
                  <a:txBody>
                    <a:bodyPr/>
                    <a:lstStyle/>
                    <a:p>
                      <a:pPr algn="l" fontAlgn="t"/>
                      <a:r>
                        <a:rPr lang="en-US" sz="1600"/>
                        <a:t>Code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To write a microkernel, more code is required.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To write a monolithic kernel, less code is required.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r h="1393016">
                <a:tc>
                  <a:txBody>
                    <a:bodyPr/>
                    <a:lstStyle/>
                    <a:p>
                      <a:pPr algn="l" fontAlgn="t"/>
                      <a:r>
                        <a:rPr lang="en-US" sz="1600"/>
                        <a:t>Example</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tc>
                  <a:txBody>
                    <a:bodyPr/>
                    <a:lstStyle/>
                    <a:p>
                      <a:pPr algn="l" fontAlgn="t"/>
                      <a:r>
                        <a:rPr lang="en-US" sz="1600" dirty="0"/>
                        <a:t>QNX, </a:t>
                      </a:r>
                      <a:r>
                        <a:rPr lang="en-US" sz="1600" dirty="0" err="1"/>
                        <a:t>Symbian</a:t>
                      </a:r>
                      <a:r>
                        <a:rPr lang="en-US" sz="1600" dirty="0"/>
                        <a:t>, L4Linux, Singularity, K42, Mac OS X, Integrity, </a:t>
                      </a:r>
                      <a:r>
                        <a:rPr lang="en-US" sz="1600" dirty="0" err="1"/>
                        <a:t>PikeOS</a:t>
                      </a:r>
                      <a:r>
                        <a:rPr lang="en-US" sz="1600" dirty="0"/>
                        <a:t>, HURD, </a:t>
                      </a:r>
                      <a:r>
                        <a:rPr lang="en-US" sz="1600" dirty="0" err="1"/>
                        <a:t>Minix</a:t>
                      </a:r>
                      <a:r>
                        <a:rPr lang="en-US" sz="1600" dirty="0"/>
                        <a:t>, and </a:t>
                      </a:r>
                      <a:r>
                        <a:rPr lang="en-US" sz="1600" dirty="0" err="1"/>
                        <a:t>Coyotos</a:t>
                      </a:r>
                      <a:r>
                        <a:rPr lang="en-US" sz="1600" dirty="0"/>
                        <a:t>.</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tc>
                  <a:txBody>
                    <a:bodyPr/>
                    <a:lstStyle/>
                    <a:p>
                      <a:pPr algn="l" fontAlgn="t"/>
                      <a:r>
                        <a:rPr lang="en-US" sz="1600" dirty="0"/>
                        <a:t>Linux, BSDs (FreeBSD, </a:t>
                      </a:r>
                      <a:r>
                        <a:rPr lang="en-US" sz="1600" dirty="0" err="1"/>
                        <a:t>OpenBSD</a:t>
                      </a:r>
                      <a:r>
                        <a:rPr lang="en-US" sz="1600" dirty="0"/>
                        <a:t>, </a:t>
                      </a:r>
                      <a:r>
                        <a:rPr lang="en-US" sz="1600" dirty="0" err="1"/>
                        <a:t>NetBSD</a:t>
                      </a:r>
                      <a:r>
                        <a:rPr lang="en-US" sz="1600" dirty="0"/>
                        <a:t>), Microsoft Windows (95,98,Me), Solaris, OS-9, AIX, HP-UX, DOS, OpenVMS, XTS-400 etc.</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p:cNvSpPr>
            <a:spLocks noGrp="1"/>
          </p:cNvSpPr>
          <p:nvPr>
            <p:ph idx="1"/>
          </p:nvPr>
        </p:nvSpPr>
        <p:spPr>
          <a:xfrm>
            <a:off x="179512" y="1052736"/>
            <a:ext cx="8784976" cy="5472608"/>
          </a:xfrm>
        </p:spPr>
        <p:txBody>
          <a:bodyPr/>
          <a:lstStyle/>
          <a:p>
            <a:pPr>
              <a:buFontTx/>
              <a:buNone/>
            </a:pPr>
            <a:r>
              <a:rPr lang="en-US" sz="2400" b="1" dirty="0"/>
              <a:t>Advantages of Monolithic Kernel –</a:t>
            </a:r>
            <a:endParaRPr lang="en-US" sz="2400" dirty="0"/>
          </a:p>
          <a:p>
            <a:pPr>
              <a:lnSpc>
                <a:spcPct val="100000"/>
              </a:lnSpc>
            </a:pPr>
            <a:r>
              <a:rPr lang="en-US" sz="2400" dirty="0"/>
              <a:t>One of the major advantage of having monolithic kernel is that it provides CPU scheduling, memory management, file management and other operating system functions through system calls.</a:t>
            </a:r>
          </a:p>
          <a:p>
            <a:pPr>
              <a:lnSpc>
                <a:spcPct val="100000"/>
              </a:lnSpc>
            </a:pPr>
            <a:r>
              <a:rPr lang="en-US" sz="2400" dirty="0"/>
              <a:t>The other one is that it is a single large process running entirely in a single address space.</a:t>
            </a:r>
          </a:p>
          <a:p>
            <a:pPr>
              <a:lnSpc>
                <a:spcPct val="100000"/>
              </a:lnSpc>
            </a:pPr>
            <a:r>
              <a:rPr lang="en-US" sz="2400" dirty="0"/>
              <a:t>It is a single static binary file. Example of some Monolithic Kernel based OSs are: Unix, Linux, Open VMS, XTS-400, z/TPF.</a:t>
            </a:r>
          </a:p>
          <a:p>
            <a:pPr>
              <a:lnSpc>
                <a:spcPct val="100000"/>
              </a:lnSpc>
              <a:buFontTx/>
              <a:buNone/>
            </a:pPr>
            <a:r>
              <a:rPr lang="en-US" sz="2400" b="1" dirty="0"/>
              <a:t>Disadvantages of Monolithic Kernel –</a:t>
            </a:r>
            <a:endParaRPr lang="en-US" sz="2400" dirty="0"/>
          </a:p>
          <a:p>
            <a:pPr>
              <a:lnSpc>
                <a:spcPct val="100000"/>
              </a:lnSpc>
            </a:pPr>
            <a:r>
              <a:rPr lang="en-US" sz="2400" dirty="0"/>
              <a:t>One of the major disadvantage of monolithic kernel is that, if anyone service fails it leads to entire system failure.</a:t>
            </a:r>
          </a:p>
          <a:p>
            <a:pPr>
              <a:lnSpc>
                <a:spcPct val="100000"/>
              </a:lnSpc>
            </a:pPr>
            <a:r>
              <a:rPr lang="en-US" sz="2400" dirty="0"/>
              <a:t>If user has to add any new service. User needs to modify entire operating system</a:t>
            </a:r>
          </a:p>
          <a:p>
            <a:pPr>
              <a:lnSpc>
                <a:spcPct val="100000"/>
              </a:lnSpc>
            </a:pP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p:cNvSpPr>
            <a:spLocks noGrp="1"/>
          </p:cNvSpPr>
          <p:nvPr>
            <p:ph idx="1"/>
          </p:nvPr>
        </p:nvSpPr>
        <p:spPr>
          <a:xfrm>
            <a:off x="285720" y="142875"/>
            <a:ext cx="8480455" cy="5953125"/>
          </a:xfrm>
        </p:spPr>
        <p:txBody>
          <a:bodyPr/>
          <a:lstStyle/>
          <a:p>
            <a:pPr>
              <a:buFontTx/>
              <a:buNone/>
            </a:pPr>
            <a:r>
              <a:rPr lang="en-US" sz="1800" b="1" dirty="0">
                <a:solidFill>
                  <a:schemeClr val="bg1"/>
                </a:solidFill>
              </a:rPr>
              <a:t>Advantages of Microkernel</a:t>
            </a:r>
          </a:p>
          <a:p>
            <a:pPr>
              <a:lnSpc>
                <a:spcPct val="100000"/>
              </a:lnSpc>
            </a:pPr>
            <a:endParaRPr lang="en-US" sz="1800" dirty="0"/>
          </a:p>
          <a:p>
            <a:pPr>
              <a:lnSpc>
                <a:spcPct val="100000"/>
              </a:lnSpc>
            </a:pPr>
            <a:endParaRPr lang="en-US" sz="1800" dirty="0"/>
          </a:p>
          <a:p>
            <a:pPr>
              <a:lnSpc>
                <a:spcPct val="100000"/>
              </a:lnSpc>
            </a:pPr>
            <a:r>
              <a:rPr lang="en-US" sz="1800" dirty="0"/>
              <a:t>Microkernel architecture is small and isolated therefore it can function better.</a:t>
            </a:r>
          </a:p>
          <a:p>
            <a:pPr>
              <a:lnSpc>
                <a:spcPct val="100000"/>
              </a:lnSpc>
            </a:pPr>
            <a:r>
              <a:rPr lang="en-US" sz="1800" dirty="0" err="1"/>
              <a:t>Microkernels</a:t>
            </a:r>
            <a:r>
              <a:rPr lang="en-US" sz="1800" dirty="0"/>
              <a:t> are secure because only those components are included that disrupt the functionality of the system otherwise.</a:t>
            </a:r>
          </a:p>
          <a:p>
            <a:pPr>
              <a:lnSpc>
                <a:spcPct val="100000"/>
              </a:lnSpc>
            </a:pPr>
            <a:r>
              <a:rPr lang="en-US" sz="1800" dirty="0"/>
              <a:t>The expansion of the system is more accessible, so it can be added to the system application without disturbing the Kernel.</a:t>
            </a:r>
          </a:p>
          <a:p>
            <a:pPr>
              <a:lnSpc>
                <a:spcPct val="100000"/>
              </a:lnSpc>
            </a:pPr>
            <a:r>
              <a:rPr lang="en-US" sz="1800" dirty="0" err="1"/>
              <a:t>Microkernels</a:t>
            </a:r>
            <a:r>
              <a:rPr lang="en-US" sz="1800" dirty="0"/>
              <a:t> are modular, and the different modules can be replaced, reloaded, modified without even touching the Kernel.</a:t>
            </a:r>
          </a:p>
          <a:p>
            <a:pPr>
              <a:lnSpc>
                <a:spcPct val="100000"/>
              </a:lnSpc>
            </a:pPr>
            <a:r>
              <a:rPr lang="en-US" sz="1800" dirty="0"/>
              <a:t>Fewer system crashes when compared with monolithic systems.</a:t>
            </a:r>
          </a:p>
          <a:p>
            <a:pPr>
              <a:lnSpc>
                <a:spcPct val="100000"/>
              </a:lnSpc>
            </a:pPr>
            <a:r>
              <a:rPr lang="en-US" sz="1800" dirty="0"/>
              <a:t>Without recompiling, add new features</a:t>
            </a:r>
          </a:p>
          <a:p>
            <a:pPr>
              <a:lnSpc>
                <a:spcPct val="100000"/>
              </a:lnSpc>
            </a:pPr>
            <a:r>
              <a:rPr lang="en-US" sz="1800" dirty="0"/>
              <a:t>Server malfunction is also isolated as any other user program's malfunction.</a:t>
            </a:r>
          </a:p>
          <a:p>
            <a:pPr>
              <a:lnSpc>
                <a:spcPct val="100000"/>
              </a:lnSpc>
            </a:pPr>
            <a:r>
              <a:rPr lang="en-US" sz="1800" dirty="0"/>
              <a:t>Microkernel system is flexible, so different strategies and APIs, implemented by different servers, which can coexist in the system.</a:t>
            </a:r>
          </a:p>
          <a:p>
            <a:pPr>
              <a:lnSpc>
                <a:spcPct val="100000"/>
              </a:lnSpc>
            </a:pPr>
            <a:r>
              <a:rPr lang="en-US" sz="1800" dirty="0"/>
              <a:t>Increased security and stability will result in a decreased amount of code which runs on kernel mode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100000"/>
              </a:lnSpc>
            </a:pPr>
            <a:r>
              <a:rPr lang="en-US" dirty="0"/>
              <a:t>Providing services in a microkernel system are expensive compared to the normal monolithic system.</a:t>
            </a:r>
          </a:p>
          <a:p>
            <a:pPr>
              <a:lnSpc>
                <a:spcPct val="100000"/>
              </a:lnSpc>
            </a:pPr>
            <a:r>
              <a:rPr lang="en-US" dirty="0"/>
              <a:t>Context switch or a function call needed when the drivers are implemented as procedures or processes, respectively.</a:t>
            </a:r>
          </a:p>
          <a:p>
            <a:pPr>
              <a:lnSpc>
                <a:spcPct val="100000"/>
              </a:lnSpc>
            </a:pPr>
            <a:r>
              <a:rPr lang="en-US" dirty="0"/>
              <a:t>The performance of a microkernel system can be indifferent and may lead to some problem</a:t>
            </a:r>
          </a:p>
          <a:p>
            <a:pPr>
              <a:lnSpc>
                <a:spcPct val="100000"/>
              </a:lnSpc>
            </a:pPr>
            <a:endParaRPr lang="en-US" dirty="0"/>
          </a:p>
          <a:p>
            <a:endParaRPr lang="en-US" dirty="0"/>
          </a:p>
        </p:txBody>
      </p:sp>
      <p:sp>
        <p:nvSpPr>
          <p:cNvPr id="4" name="Rectangle 3"/>
          <p:cNvSpPr/>
          <p:nvPr/>
        </p:nvSpPr>
        <p:spPr>
          <a:xfrm>
            <a:off x="142844" y="357166"/>
            <a:ext cx="6092432" cy="369332"/>
          </a:xfrm>
          <a:prstGeom prst="rect">
            <a:avLst/>
          </a:prstGeom>
        </p:spPr>
        <p:txBody>
          <a:bodyPr wrap="square">
            <a:spAutoFit/>
          </a:bodyPr>
          <a:lstStyle/>
          <a:p>
            <a:pPr>
              <a:lnSpc>
                <a:spcPct val="100000"/>
              </a:lnSpc>
            </a:pPr>
            <a:r>
              <a:rPr lang="en-US" b="1" dirty="0">
                <a:solidFill>
                  <a:schemeClr val="bg1"/>
                </a:solidFill>
              </a:rPr>
              <a:t>Disadvantage of Microkernel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ctrTitle"/>
          </p:nvPr>
        </p:nvSpPr>
        <p:spPr>
          <a:xfrm>
            <a:off x="2339975" y="1557338"/>
            <a:ext cx="6188075" cy="2303462"/>
          </a:xfrm>
        </p:spPr>
        <p:txBody>
          <a:bodyPr/>
          <a:lstStyle/>
          <a:p>
            <a:pPr eaLnBrk="1" hangingPunct="1"/>
            <a:r>
              <a:rPr lang="fr-FR" sz="2400" b="1" i="1">
                <a:latin typeface="Times New Roman" pitchFamily="18" charset="0"/>
                <a:cs typeface="Times New Roman" pitchFamily="18" charset="0"/>
              </a:rPr>
              <a:t/>
            </a:r>
            <a:br>
              <a:rPr lang="fr-FR" sz="2400" b="1" i="1">
                <a:latin typeface="Times New Roman" pitchFamily="18" charset="0"/>
                <a:cs typeface="Times New Roman" pitchFamily="18" charset="0"/>
              </a:rPr>
            </a:br>
            <a:r>
              <a:rPr lang="fr-FR" sz="2400" b="1" i="1">
                <a:latin typeface="Times New Roman" pitchFamily="18" charset="0"/>
                <a:cs typeface="Times New Roman" pitchFamily="18" charset="0"/>
              </a:rPr>
              <a:t/>
            </a:r>
            <a:br>
              <a:rPr lang="fr-FR" sz="2400" b="1" i="1">
                <a:latin typeface="Times New Roman" pitchFamily="18" charset="0"/>
                <a:cs typeface="Times New Roman" pitchFamily="18" charset="0"/>
              </a:rPr>
            </a:br>
            <a:r>
              <a:rPr lang="fr-FR" sz="2400" b="1" i="1">
                <a:latin typeface="Times New Roman" pitchFamily="18" charset="0"/>
                <a:cs typeface="Times New Roman" pitchFamily="18" charset="0"/>
              </a:rPr>
              <a:t/>
            </a:r>
            <a:br>
              <a:rPr lang="fr-FR" sz="2400" b="1" i="1">
                <a:latin typeface="Times New Roman" pitchFamily="18" charset="0"/>
                <a:cs typeface="Times New Roman" pitchFamily="18" charset="0"/>
              </a:rPr>
            </a:br>
            <a:endParaRPr lang="fr-FR" sz="2400" b="1" i="1">
              <a:latin typeface="Times New Roman" pitchFamily="18" charset="0"/>
              <a:cs typeface="Times New Roman" pitchFamily="18" charset="0"/>
            </a:endParaRPr>
          </a:p>
        </p:txBody>
      </p:sp>
      <p:pic>
        <p:nvPicPr>
          <p:cNvPr id="200707" name="Picture 6" descr="logoHome.png"/>
          <p:cNvPicPr>
            <a:picLocks noChangeAspect="1"/>
          </p:cNvPicPr>
          <p:nvPr/>
        </p:nvPicPr>
        <p:blipFill>
          <a:blip r:embed="rId2"/>
          <a:srcRect/>
          <a:stretch>
            <a:fillRect/>
          </a:stretch>
        </p:blipFill>
        <p:spPr bwMode="auto">
          <a:xfrm>
            <a:off x="0" y="0"/>
            <a:ext cx="2051050" cy="6858000"/>
          </a:xfrm>
          <a:prstGeom prst="rect">
            <a:avLst/>
          </a:prstGeom>
          <a:noFill/>
          <a:ln w="9525">
            <a:noFill/>
            <a:miter lim="800000"/>
            <a:headEnd/>
            <a:tailEnd/>
          </a:ln>
        </p:spPr>
      </p:pic>
      <p:sp>
        <p:nvSpPr>
          <p:cNvPr id="200708" name="Subtitle 7"/>
          <p:cNvSpPr>
            <a:spLocks noGrp="1"/>
          </p:cNvSpPr>
          <p:nvPr>
            <p:ph type="subTitle" idx="1"/>
          </p:nvPr>
        </p:nvSpPr>
        <p:spPr>
          <a:xfrm>
            <a:off x="2195513" y="2708275"/>
            <a:ext cx="6400800" cy="1752600"/>
          </a:xfrm>
        </p:spPr>
        <p:txBody>
          <a:bodyPr/>
          <a:lstStyle/>
          <a:p>
            <a:pPr eaLnBrk="1" hangingPunct="1"/>
            <a:r>
              <a:rPr lang="en-US" sz="4000" dirty="0">
                <a:solidFill>
                  <a:srgbClr val="FF0000"/>
                </a:solidFill>
              </a:rPr>
              <a:t>Thank You!!</a:t>
            </a:r>
            <a:endParaRPr lang="en-IN" sz="4000" dirty="0">
              <a:solidFill>
                <a:srgbClr val="FF0000"/>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WI" val="8"/>
  <p:tag name="BSN" val="8"/>
  <p:tag name="SVT" val="FALSE"/>
  <p:tag name="NBP" val="1"/>
  <p:tag name="CVB" val="8"/>
  <p:tag name="SPT" val="FALSE"/>
  <p:tag name="CII" val="8"/>
</p:tagLst>
</file>

<file path=ppt/tags/tag2.xml><?xml version="1.0" encoding="utf-8"?>
<p:tagLst xmlns:a="http://schemas.openxmlformats.org/drawingml/2006/main" xmlns:r="http://schemas.openxmlformats.org/officeDocument/2006/relationships" xmlns:p="http://schemas.openxmlformats.org/presentationml/2006/main">
  <p:tag name="SWI" val="9"/>
  <p:tag name="BSN" val="9"/>
  <p:tag name="SVT" val="FALSE"/>
  <p:tag name="NBP" val="1"/>
  <p:tag name="CVB" val="9"/>
  <p:tag name="SPT" val="FALSE"/>
  <p:tag name="CII" val="9"/>
</p:tagLst>
</file>

<file path=ppt/tags/tag3.xml><?xml version="1.0" encoding="utf-8"?>
<p:tagLst xmlns:a="http://schemas.openxmlformats.org/drawingml/2006/main" xmlns:r="http://schemas.openxmlformats.org/officeDocument/2006/relationships" xmlns:p="http://schemas.openxmlformats.org/presentationml/2006/main">
  <p:tag name="SWI" val="2"/>
  <p:tag name="BSN" val="2"/>
  <p:tag name="SVT" val="FALSE"/>
  <p:tag name="NBP" val="1"/>
  <p:tag name="CVB" val="2"/>
  <p:tag name="SPT" val="FALSE"/>
  <p:tag name="CII" val="2"/>
</p:tagLst>
</file>

<file path=ppt/tags/tag4.xml><?xml version="1.0" encoding="utf-8"?>
<p:tagLst xmlns:a="http://schemas.openxmlformats.org/drawingml/2006/main" xmlns:r="http://schemas.openxmlformats.org/officeDocument/2006/relationships" xmlns:p="http://schemas.openxmlformats.org/presentationml/2006/main">
  <p:tag name="SWI" val="3"/>
  <p:tag name="BSN" val="3"/>
  <p:tag name="SVT" val="FALSE"/>
  <p:tag name="NBP" val="1"/>
  <p:tag name="CVB" val="3"/>
  <p:tag name="SPT" val="FALSE"/>
  <p:tag name="CII" val="3"/>
</p:tagLst>
</file>

<file path=ppt/tags/tag5.xml><?xml version="1.0" encoding="utf-8"?>
<p:tagLst xmlns:a="http://schemas.openxmlformats.org/drawingml/2006/main" xmlns:r="http://schemas.openxmlformats.org/officeDocument/2006/relationships" xmlns:p="http://schemas.openxmlformats.org/presentationml/2006/main">
  <p:tag name="SWI" val="5"/>
  <p:tag name="BSN" val="5"/>
  <p:tag name="SVT" val="FALSE"/>
  <p:tag name="NBP" val="1"/>
  <p:tag name="CVB" val="5"/>
  <p:tag name="SPT" val="FALSE"/>
  <p:tag name="CII" val="5"/>
</p:tagLst>
</file>

<file path=ppt/tags/tag6.xml><?xml version="1.0" encoding="utf-8"?>
<p:tagLst xmlns:a="http://schemas.openxmlformats.org/drawingml/2006/main" xmlns:r="http://schemas.openxmlformats.org/officeDocument/2006/relationships" xmlns:p="http://schemas.openxmlformats.org/presentationml/2006/main">
  <p:tag name="SWI" val="29"/>
  <p:tag name="BSN" val="29"/>
  <p:tag name="SVT" val="FALSE"/>
  <p:tag name="NBP" val="1"/>
  <p:tag name="CVB" val="29"/>
  <p:tag name="SPT" val="FALSE"/>
  <p:tag name="CII" val="2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4134</TotalTime>
  <Words>3610</Words>
  <Application>Microsoft Office PowerPoint</Application>
  <PresentationFormat>On-screen Show (4:3)</PresentationFormat>
  <Paragraphs>638</Paragraphs>
  <Slides>92</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92</vt:i4>
      </vt:variant>
    </vt:vector>
  </HeadingPairs>
  <TitlesOfParts>
    <vt:vector size="104" baseType="lpstr">
      <vt:lpstr>MS PGothic</vt:lpstr>
      <vt:lpstr>Arial</vt:lpstr>
      <vt:lpstr>Calibri</vt:lpstr>
      <vt:lpstr>Helvetica</vt:lpstr>
      <vt:lpstr>Monotype Sorts</vt:lpstr>
      <vt:lpstr>Symbol</vt:lpstr>
      <vt:lpstr>Tahoma</vt:lpstr>
      <vt:lpstr>Times New Roman</vt:lpstr>
      <vt:lpstr>Verdana</vt:lpstr>
      <vt:lpstr>Wingdings 2</vt:lpstr>
      <vt:lpstr>Wingdings 3</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Introduction</vt:lpstr>
      <vt:lpstr>1.1  Introduction</vt:lpstr>
      <vt:lpstr>1.2 What is an Operating System</vt:lpstr>
      <vt:lpstr>1.2 History of Operating Systems (1)</vt:lpstr>
      <vt:lpstr>History of Operating Systems (2)</vt:lpstr>
      <vt:lpstr>History of Operating Systems (4)</vt:lpstr>
      <vt:lpstr>Computer System Components</vt:lpstr>
      <vt:lpstr>Abstract View of System Components</vt:lpstr>
      <vt:lpstr>Operating System Definitions</vt:lpstr>
      <vt:lpstr>Functions of an operating System</vt:lpstr>
      <vt:lpstr>PowerPoint Presentation</vt:lpstr>
      <vt:lpstr>The Operating System Types</vt:lpstr>
      <vt:lpstr>1.4 Types of OS :Mainframe Systems</vt:lpstr>
      <vt:lpstr> 1.4 Types of OS : Simple Batch System</vt:lpstr>
      <vt:lpstr>1.4 Types of OS : Multiprogrammed Batch Systems</vt:lpstr>
      <vt:lpstr>OS Features Needed for Multiprogramming</vt:lpstr>
      <vt:lpstr>1.4 Types of OS : Time-Sharing Systems–Interactive Computing </vt:lpstr>
      <vt:lpstr>1.4 Types of OS :  Desktop Systems</vt:lpstr>
      <vt:lpstr>1.4 Types of OS : Network operating System </vt:lpstr>
      <vt:lpstr>1.4 Types of OS : Parallel Systems</vt:lpstr>
      <vt:lpstr>Parallel Systems (Cont.)</vt:lpstr>
      <vt:lpstr>Symmetric Multiprocessing Architecture</vt:lpstr>
      <vt:lpstr>1.4 Types of OS : Distributed Systems</vt:lpstr>
      <vt:lpstr>Distributed Systems (cont)</vt:lpstr>
      <vt:lpstr>General Structure of Client-Server</vt:lpstr>
      <vt:lpstr>1.4 Types of OS : Real-Time Systems</vt:lpstr>
      <vt:lpstr>Real-Time Systems (Cont.)</vt:lpstr>
      <vt:lpstr>1.4 Types of OS : Handheld Systems</vt:lpstr>
      <vt:lpstr>Migration of Operating-System Concepts and Features</vt:lpstr>
      <vt:lpstr>Examples of OS </vt:lpstr>
      <vt:lpstr>1.5 Computer Hardware Review (1)</vt:lpstr>
      <vt:lpstr>Computer Hardware Review (2)</vt:lpstr>
      <vt:lpstr>Computer Hardware Review (3)</vt:lpstr>
      <vt:lpstr>Computer Hardware Review (4)</vt:lpstr>
      <vt:lpstr>Computer Hardware Review (5)</vt:lpstr>
      <vt:lpstr>1.6 Operating System Concepts </vt:lpstr>
      <vt:lpstr>Operating System Concepts (2)</vt:lpstr>
      <vt:lpstr>Operating System Concepts (3)</vt:lpstr>
      <vt:lpstr>Operating System Concepts (4)</vt:lpstr>
      <vt:lpstr>Difference between Firmware and Operating System </vt:lpstr>
      <vt:lpstr>Difference between 32-Bit vs. 64 Bit Operating System </vt:lpstr>
      <vt:lpstr>1.7 System Call </vt:lpstr>
      <vt:lpstr>PowerPoint Presentation</vt:lpstr>
      <vt:lpstr>Some System Calls For Process Management</vt:lpstr>
      <vt:lpstr>Some System Calls For File Management</vt:lpstr>
      <vt:lpstr>Some System Calls For Directory Management</vt:lpstr>
      <vt:lpstr>Some System Calls For Miscellaneous Tasks</vt:lpstr>
      <vt:lpstr>System Calls (1)</vt:lpstr>
      <vt:lpstr>1.8 Operating System Structure- Layered structure</vt:lpstr>
      <vt:lpstr>An Operating System Layer</vt:lpstr>
      <vt:lpstr>PowerPoint Presentation</vt:lpstr>
      <vt:lpstr>Older Windows System Layers</vt:lpstr>
      <vt:lpstr>PowerPoint Presentation</vt:lpstr>
      <vt:lpstr>PowerPoint Presentation</vt:lpstr>
      <vt:lpstr>1.8 Operating System Structure (1)</vt:lpstr>
      <vt:lpstr>Operating System Structure (2)</vt:lpstr>
      <vt:lpstr>Operating System Structure (3)</vt:lpstr>
      <vt:lpstr>Operating System Structure (4)</vt:lpstr>
      <vt:lpstr>Operating System Structure (5)</vt:lpstr>
      <vt:lpstr>Operating Systems Structures</vt:lpstr>
      <vt:lpstr>Monolithic Operating System</vt:lpstr>
      <vt:lpstr>Monolithic OS – basic structure</vt:lpstr>
      <vt:lpstr>MS-DOS System Structure </vt:lpstr>
      <vt:lpstr>MS-DOS Layer Structure</vt:lpstr>
      <vt:lpstr>UNIX System Structure </vt:lpstr>
      <vt:lpstr>Traditional UNIX System Structure</vt:lpstr>
      <vt:lpstr>Traditional UNIX Kernel</vt:lpstr>
      <vt:lpstr>LINUX Kernel Components</vt:lpstr>
      <vt:lpstr>   2.0 Operating-System Services  </vt:lpstr>
      <vt:lpstr>PowerPoint Presentation</vt:lpstr>
      <vt:lpstr>PowerPoint Presentation</vt:lpstr>
      <vt:lpstr>2.1What is a Kernel</vt:lpstr>
      <vt:lpstr>Features of Kennel </vt:lpstr>
      <vt:lpstr>PowerPoint Presentation</vt:lpstr>
      <vt:lpstr>Types of Kernels </vt:lpstr>
      <vt:lpstr>Differences between kernel and OS are</vt:lpstr>
      <vt:lpstr>PowerPoint Presentation</vt:lpstr>
      <vt:lpstr>PowerPoint Presentation</vt:lpstr>
      <vt:lpstr>PowerPoint Presentation</vt:lpstr>
      <vt:lpstr>Difference Between Microkernel and Monolithic Kernel </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Rakesh Bhaskar</dc:creator>
  <cp:lastModifiedBy>Divya Kaushik</cp:lastModifiedBy>
  <cp:revision>359</cp:revision>
  <cp:lastPrinted>2013-10-07T09:34:34Z</cp:lastPrinted>
  <dcterms:created xsi:type="dcterms:W3CDTF">2012-12-04T10:32:16Z</dcterms:created>
  <dcterms:modified xsi:type="dcterms:W3CDTF">2025-11-12T07:17:00Z</dcterms:modified>
</cp:coreProperties>
</file>